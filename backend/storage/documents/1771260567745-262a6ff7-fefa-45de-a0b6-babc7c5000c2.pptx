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7" r:id="rId1"/>
  </p:sldMasterIdLst>
  <p:notesMasterIdLst>
    <p:notesMasterId r:id="rId20"/>
  </p:notesMasterIdLst>
  <p:sldIdLst>
    <p:sldId id="256" r:id="rId2"/>
    <p:sldId id="274" r:id="rId3"/>
    <p:sldId id="258" r:id="rId4"/>
    <p:sldId id="259" r:id="rId5"/>
    <p:sldId id="260" r:id="rId6"/>
    <p:sldId id="268" r:id="rId7"/>
    <p:sldId id="264" r:id="rId8"/>
    <p:sldId id="262" r:id="rId9"/>
    <p:sldId id="270" r:id="rId10"/>
    <p:sldId id="271" r:id="rId11"/>
    <p:sldId id="263" r:id="rId12"/>
    <p:sldId id="265" r:id="rId13"/>
    <p:sldId id="272" r:id="rId14"/>
    <p:sldId id="273" r:id="rId15"/>
    <p:sldId id="275" r:id="rId16"/>
    <p:sldId id="276" r:id="rId17"/>
    <p:sldId id="277" r:id="rId18"/>
    <p:sldId id="267" r:id="rId1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44"/>
    <p:restoredTop sz="94610"/>
  </p:normalViewPr>
  <p:slideViewPr>
    <p:cSldViewPr snapToGrid="0" snapToObjects="1">
      <p:cViewPr>
        <p:scale>
          <a:sx n="59" d="100"/>
          <a:sy n="59" d="100"/>
        </p:scale>
        <p:origin x="2464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772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0978-A49B-2D84-6836-A547EFCC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0FB2E-C370-6D4A-EB0F-DE5818EE5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45E0B-D5FE-EC1F-D900-8B9DA3CF6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46F5E-46A5-7B18-4240-8F88B8EDE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0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5E3A-507E-C59E-226F-5E1106BC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F5929-5F70-B5E1-BCAF-B0B5986CD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96CEB-404D-480D-2AFF-7826E8EA3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62E86-0861-563D-1CDB-77DC7512E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12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B0CC-9499-A765-8C5D-CE91115D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39495-2837-482B-1EB7-35C78C7A4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FAA2E-5891-E4C1-9178-B1ED115DE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95E55-A9B2-17BD-5A18-395FB4098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28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304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778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64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5649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148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1401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1771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5" y="4677156"/>
            <a:ext cx="3875627" cy="24003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6229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6392" y="4677156"/>
            <a:ext cx="3827797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385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399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3540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3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3352" y="723519"/>
            <a:ext cx="5797296" cy="89154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88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673352" y="3255373"/>
            <a:ext cx="5797296" cy="891540"/>
          </a:xfrm>
          <a:prstGeom prst="rect">
            <a:avLst/>
          </a:prstGeom>
        </p:spPr>
        <p:txBody>
          <a:bodyPr vert="horz" lIns="182880" tIns="182880" rIns="182880" bIns="182880" rtlCol="0" anchor="ctr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cap="all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Violência Doméstica 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cap="all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 </a:t>
            </a:r>
            <a:r>
              <a:rPr lang="en-US" sz="2800" cap="all" spc="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Suporte</a:t>
            </a:r>
            <a:r>
              <a:rPr lang="en-US" sz="2800" cap="all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entre Pares</a:t>
            </a:r>
          </a:p>
        </p:txBody>
      </p:sp>
      <p:pic>
        <p:nvPicPr>
          <p:cNvPr id="12" name="Image 0" descr="/home/claude/logo-banner.jpg">
            <a:extLst>
              <a:ext uri="{FF2B5EF4-FFF2-40B4-BE49-F238E27FC236}">
                <a16:creationId xmlns:a16="http://schemas.microsoft.com/office/drawing/2014/main" id="{D112E85A-2F45-06BE-C3A7-01BB5571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18" r="-3" b="-3"/>
          <a:stretch>
            <a:fillRect/>
          </a:stretch>
        </p:blipFill>
        <p:spPr>
          <a:xfrm>
            <a:off x="0" y="0"/>
            <a:ext cx="9144000" cy="22631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AD4625-8BFD-0CBE-D5A2-5881C99BE5A7}"/>
              </a:ext>
            </a:extLst>
          </p:cNvPr>
          <p:cNvSpPr/>
          <p:nvPr/>
        </p:nvSpPr>
        <p:spPr>
          <a:xfrm>
            <a:off x="381000" y="266700"/>
            <a:ext cx="636365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Este Encontro é Importante</a:t>
            </a:r>
            <a:endParaRPr lang="en-US" sz="2850" dirty="0"/>
          </a:p>
        </p:txBody>
      </p:sp>
      <p:pic>
        <p:nvPicPr>
          <p:cNvPr id="3" name="Image 0" descr="/tmp/rasterized-gradient-380efd60.png">
            <a:extLst>
              <a:ext uri="{FF2B5EF4-FFF2-40B4-BE49-F238E27FC236}">
                <a16:creationId xmlns:a16="http://schemas.microsoft.com/office/drawing/2014/main" id="{3985531C-A6EB-AECB-04C3-188B54302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08956"/>
            <a:ext cx="8382000" cy="173146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8D13F349-D756-2C59-B382-26A6CDC4D255}"/>
              </a:ext>
            </a:extLst>
          </p:cNvPr>
          <p:cNvSpPr/>
          <p:nvPr/>
        </p:nvSpPr>
        <p:spPr>
          <a:xfrm>
            <a:off x="381000" y="3330922"/>
            <a:ext cx="2705100" cy="1260872"/>
          </a:xfrm>
          <a:prstGeom prst="roundRect">
            <a:avLst>
              <a:gd name="adj" fmla="val 60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DD1DF0C-A474-CE1A-675B-A31578CF7948}"/>
              </a:ext>
            </a:extLst>
          </p:cNvPr>
          <p:cNvSpPr/>
          <p:nvPr/>
        </p:nvSpPr>
        <p:spPr>
          <a:xfrm>
            <a:off x="381000" y="3349972"/>
            <a:ext cx="2705100" cy="0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012174CC-E6D0-3644-1985-553E6F878F86}"/>
              </a:ext>
            </a:extLst>
          </p:cNvPr>
          <p:cNvSpPr/>
          <p:nvPr/>
        </p:nvSpPr>
        <p:spPr>
          <a:xfrm>
            <a:off x="381000" y="4782294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675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6575619-4376-1B23-D917-79014198FAD9}"/>
              </a:ext>
            </a:extLst>
          </p:cNvPr>
          <p:cNvSpPr/>
          <p:nvPr/>
        </p:nvSpPr>
        <p:spPr>
          <a:xfrm>
            <a:off x="528828" y="3540472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em 3</a:t>
            </a:r>
            <a:endParaRPr lang="en-US" sz="3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3914567-533C-B658-E261-5E38EE97A49E}"/>
              </a:ext>
            </a:extLst>
          </p:cNvPr>
          <p:cNvSpPr/>
          <p:nvPr/>
        </p:nvSpPr>
        <p:spPr>
          <a:xfrm>
            <a:off x="528828" y="4073872"/>
            <a:ext cx="240944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sofre violência doméstica no Brasil</a:t>
            </a:r>
            <a:endParaRPr lang="en-US" sz="975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4B7622C-735C-4AB8-301A-0D8840EF27A0}"/>
              </a:ext>
            </a:extLst>
          </p:cNvPr>
          <p:cNvSpPr/>
          <p:nvPr/>
        </p:nvSpPr>
        <p:spPr>
          <a:xfrm>
            <a:off x="3194729" y="3330922"/>
            <a:ext cx="2705100" cy="1260872"/>
          </a:xfrm>
          <a:prstGeom prst="roundRect">
            <a:avLst>
              <a:gd name="adj" fmla="val 60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C3337B58-A72B-A7A6-341C-59BF384485D5}"/>
              </a:ext>
            </a:extLst>
          </p:cNvPr>
          <p:cNvSpPr/>
          <p:nvPr/>
        </p:nvSpPr>
        <p:spPr>
          <a:xfrm>
            <a:off x="3194729" y="3355562"/>
            <a:ext cx="2705100" cy="0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928469F-3CC6-FF0C-A0E2-EA3A858BCCDB}"/>
              </a:ext>
            </a:extLst>
          </p:cNvPr>
          <p:cNvSpPr/>
          <p:nvPr/>
        </p:nvSpPr>
        <p:spPr>
          <a:xfrm>
            <a:off x="3367278" y="4073872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agressões ocorrem em casa</a:t>
            </a:r>
            <a:endParaRPr lang="en-US" sz="975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08C52E5-23BB-541E-BFC3-522BA0DF0415}"/>
              </a:ext>
            </a:extLst>
          </p:cNvPr>
          <p:cNvSpPr/>
          <p:nvPr/>
        </p:nvSpPr>
        <p:spPr>
          <a:xfrm>
            <a:off x="3367278" y="3540472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0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08F851C-ACEC-B2E0-99B3-587CC02542CA}"/>
              </a:ext>
            </a:extLst>
          </p:cNvPr>
          <p:cNvSpPr/>
          <p:nvPr/>
        </p:nvSpPr>
        <p:spPr>
          <a:xfrm>
            <a:off x="647700" y="1675656"/>
            <a:ext cx="8005572" cy="119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350" dirty="0"/>
          </a:p>
          <a:p>
            <a:pPr>
              <a:lnSpc>
                <a:spcPts val="2550"/>
              </a:lnSpc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b="1" dirty="0">
                <a:solidFill>
                  <a:schemeClr val="bg1"/>
                </a:solidFill>
              </a:rPr>
              <a:t>A</a:t>
            </a:r>
            <a:r>
              <a:rPr lang="pt-BR" b="1" dirty="0"/>
              <a:t> </a:t>
            </a:r>
            <a:r>
              <a:rPr lang="pt-BR" b="1" dirty="0">
                <a:solidFill>
                  <a:schemeClr val="bg1"/>
                </a:solidFill>
              </a:rPr>
              <a:t>violência doméstica</a:t>
            </a:r>
            <a:r>
              <a:rPr lang="pt-BR" dirty="0">
                <a:solidFill>
                  <a:schemeClr val="bg1"/>
                </a:solidFill>
              </a:rPr>
              <a:t> é um fenômeno que não distingue </a:t>
            </a:r>
            <a:r>
              <a:rPr lang="pt-BR" b="1" dirty="0">
                <a:solidFill>
                  <a:schemeClr val="bg1"/>
                </a:solidFill>
              </a:rPr>
              <a:t>classe</a:t>
            </a:r>
            <a:r>
              <a:rPr lang="pt-BR" dirty="0">
                <a:solidFill>
                  <a:schemeClr val="bg1"/>
                </a:solidFill>
              </a:rPr>
              <a:t> social, </a:t>
            </a:r>
            <a:r>
              <a:rPr lang="pt-BR" b="1" dirty="0">
                <a:solidFill>
                  <a:schemeClr val="bg1"/>
                </a:solidFill>
              </a:rPr>
              <a:t>raça</a:t>
            </a:r>
            <a:r>
              <a:rPr lang="pt-BR" dirty="0">
                <a:solidFill>
                  <a:schemeClr val="bg1"/>
                </a:solidFill>
              </a:rPr>
              <a:t>, etnia, religião, orientação sexual, idade e grau de escolaridade.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753ECBF-78DE-501F-B945-84E63360ACE3}"/>
              </a:ext>
            </a:extLst>
          </p:cNvPr>
          <p:cNvSpPr/>
          <p:nvPr/>
        </p:nvSpPr>
        <p:spPr>
          <a:xfrm>
            <a:off x="6033179" y="3337683"/>
            <a:ext cx="2705100" cy="1260872"/>
          </a:xfrm>
          <a:prstGeom prst="roundRect">
            <a:avLst>
              <a:gd name="adj" fmla="val 60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15D9DA94-83CA-9C04-ED87-938B33626863}"/>
              </a:ext>
            </a:extLst>
          </p:cNvPr>
          <p:cNvSpPr/>
          <p:nvPr/>
        </p:nvSpPr>
        <p:spPr>
          <a:xfrm>
            <a:off x="6057900" y="3349972"/>
            <a:ext cx="2705100" cy="0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2F6E575-F17A-FEE7-E180-A85DD38E9DFA}"/>
              </a:ext>
            </a:extLst>
          </p:cNvPr>
          <p:cNvSpPr/>
          <p:nvPr/>
        </p:nvSpPr>
        <p:spPr>
          <a:xfrm>
            <a:off x="6205728" y="3540472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3000" b="1" dirty="0" err="1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</a:t>
            </a:r>
            <a:endParaRPr lang="en-US" sz="3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BB96A8A1-02D8-4F4B-0CF6-DC9621DB147A}"/>
              </a:ext>
            </a:extLst>
          </p:cNvPr>
          <p:cNvSpPr/>
          <p:nvPr/>
        </p:nvSpPr>
        <p:spPr>
          <a:xfrm>
            <a:off x="6205728" y="4073872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quatro </a:t>
            </a:r>
            <a:r>
              <a:rPr lang="en-US" sz="975" dirty="0" err="1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</a:t>
            </a: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uma mulher sofre violência no Brasil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77001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27551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Violência Doméstica?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642318"/>
            <a:ext cx="8382000" cy="868561"/>
          </a:xfrm>
          <a:prstGeom prst="roundRect">
            <a:avLst>
              <a:gd name="adj" fmla="val 8773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642318"/>
            <a:ext cx="0" cy="868561"/>
          </a:xfrm>
          <a:prstGeom prst="line">
            <a:avLst/>
          </a:prstGeom>
          <a:noFill/>
          <a:ln w="47625">
            <a:solidFill>
              <a:srgbClr val="2E5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7225" y="1832818"/>
            <a:ext cx="803471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ação ou omissão que cause morte, lesão, sofrimento físico, sexual, psicológico ou patrimonial à mulher no âmbito da unidade doméstica ou familiar.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682329"/>
            <a:ext cx="4133850" cy="780901"/>
          </a:xfrm>
          <a:prstGeom prst="roundRect">
            <a:avLst>
              <a:gd name="adj" fmla="val 9758"/>
            </a:avLst>
          </a:prstGeom>
          <a:solidFill>
            <a:srgbClr val="FFFFFF"/>
          </a:solidFill>
          <a:ln w="19050">
            <a:solidFill>
              <a:srgbClr val="C8484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853779"/>
            <a:ext cx="386676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 Física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313179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Empurrões, tapas, socos, chutes, estrangulamento, queimaduras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29150" y="2682329"/>
            <a:ext cx="4133850" cy="780901"/>
          </a:xfrm>
          <a:prstGeom prst="roundRect">
            <a:avLst>
              <a:gd name="adj" fmla="val 9758"/>
            </a:avLst>
          </a:prstGeom>
          <a:solidFill>
            <a:srgbClr val="FFFFFF"/>
          </a:solidFill>
          <a:ln w="19050">
            <a:solidFill>
              <a:srgbClr val="C8484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2853779"/>
            <a:ext cx="386676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Psicológica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313179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Humilhação, isolamento, controle, ameaças, chantagem emocional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577530"/>
            <a:ext cx="4133850" cy="780901"/>
          </a:xfrm>
          <a:prstGeom prst="roundRect">
            <a:avLst>
              <a:gd name="adj" fmla="val 9758"/>
            </a:avLst>
          </a:prstGeom>
          <a:solidFill>
            <a:srgbClr val="FFFFFF"/>
          </a:solidFill>
          <a:ln w="19050">
            <a:solidFill>
              <a:srgbClr val="C8484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450" y="3748980"/>
            <a:ext cx="386676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Sexual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2450" y="402699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Forçar relações, impedir uso de contraceptivos, práticas não consentidas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3577530"/>
            <a:ext cx="4133850" cy="780901"/>
          </a:xfrm>
          <a:prstGeom prst="roundRect">
            <a:avLst>
              <a:gd name="adj" fmla="val 9758"/>
            </a:avLst>
          </a:prstGeom>
          <a:solidFill>
            <a:srgbClr val="FFFFFF"/>
          </a:solidFill>
          <a:ln w="19050">
            <a:solidFill>
              <a:srgbClr val="C8484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0600" y="3748980"/>
            <a:ext cx="386676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Patrimonial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402699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dinheiro, reter documentos, destruir pertences, impedir trabalho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da Violência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1190625" y="1681311"/>
            <a:ext cx="857250" cy="857250"/>
          </a:xfrm>
          <a:prstGeom prst="roundRect">
            <a:avLst>
              <a:gd name="adj" fmla="val 106667"/>
            </a:avLst>
          </a:prstGeom>
          <a:solidFill>
            <a:srgbClr val="FFA7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6235" y="2671911"/>
            <a:ext cx="25260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Tensão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6235" y="2972842"/>
            <a:ext cx="2526030" cy="346472"/>
          </a:xfrm>
          <a:prstGeom prst="rect">
            <a:avLst/>
          </a:prstGeom>
          <a:noFill/>
          <a:ln/>
        </p:spPr>
        <p:txBody>
          <a:bodyPr wrap="square" lIns="95250" tIns="0" rIns="9525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Irritação, ameaças, humilhações crescentes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43375" y="1767929"/>
            <a:ext cx="857250" cy="857250"/>
          </a:xfrm>
          <a:prstGeom prst="roundRect">
            <a:avLst>
              <a:gd name="adj" fmla="val 106667"/>
            </a:avLst>
          </a:prstGeom>
          <a:solidFill>
            <a:srgbClr val="C848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08985" y="2758529"/>
            <a:ext cx="25260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Explosão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08985" y="3059460"/>
            <a:ext cx="2526030" cy="173236"/>
          </a:xfrm>
          <a:prstGeom prst="rect">
            <a:avLst/>
          </a:prstGeom>
          <a:noFill/>
          <a:ln/>
        </p:spPr>
        <p:txBody>
          <a:bodyPr wrap="square" lIns="95250" tIns="0" rIns="9525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Agressão física, psicológica ou sexual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096125" y="1767929"/>
            <a:ext cx="857250" cy="857250"/>
          </a:xfrm>
          <a:prstGeom prst="roundRect">
            <a:avLst>
              <a:gd name="adj" fmla="val 106667"/>
            </a:avLst>
          </a:prstGeom>
          <a:solidFill>
            <a:srgbClr val="66BB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61735" y="2758529"/>
            <a:ext cx="25260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350" b="1" dirty="0" err="1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Perdão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1735" y="3059460"/>
            <a:ext cx="2526030" cy="173236"/>
          </a:xfrm>
          <a:prstGeom prst="rect">
            <a:avLst/>
          </a:prstGeom>
          <a:noFill/>
          <a:ln/>
        </p:spPr>
        <p:txBody>
          <a:bodyPr wrap="square" lIns="95250" tIns="0" rIns="9525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Desculpas, promessas, presentes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547914"/>
            <a:ext cx="8382000" cy="771525"/>
          </a:xfrm>
          <a:prstGeom prst="roundRect">
            <a:avLst>
              <a:gd name="adj" fmla="val 9877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3547914"/>
            <a:ext cx="0" cy="771525"/>
          </a:xfrm>
          <a:prstGeom prst="line">
            <a:avLst/>
          </a:prstGeom>
          <a:noFill/>
          <a:ln w="47625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8175" y="3719364"/>
            <a:ext cx="80735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</a:t>
            </a:r>
            <a:r>
              <a:rPr lang="en-US" sz="112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o tempo, os ciclos ficam mais curtos e a violência aumenta. A </a:t>
            </a:r>
            <a:r>
              <a:rPr lang="en-US" sz="1125" dirty="0" err="1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</a:t>
            </a:r>
            <a:r>
              <a:rPr lang="en-US" sz="112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en-US" sz="1125" dirty="0" err="1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arrependimento</a:t>
            </a:r>
            <a:r>
              <a:rPr lang="en-US" sz="112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pode </a:t>
            </a:r>
            <a:r>
              <a:rPr lang="en-US" sz="1125" dirty="0" err="1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desaperecer</a:t>
            </a:r>
            <a:r>
              <a:rPr lang="en-US" sz="112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completamente</a:t>
            </a:r>
            <a:r>
              <a:rPr lang="en-US" sz="112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17836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de Alerta - Reconheça!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752749"/>
            <a:ext cx="4124325" cy="742801"/>
          </a:xfrm>
          <a:prstGeom prst="roundRect">
            <a:avLst>
              <a:gd name="adj" fmla="val 10258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752749"/>
            <a:ext cx="0" cy="742801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71500" y="1905149"/>
            <a:ext cx="385705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Controle Excessivo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2183160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onde você vai, com quem fala, o que veste, redes sociais, celular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38675" y="1752749"/>
            <a:ext cx="4124325" cy="742801"/>
          </a:xfrm>
          <a:prstGeom prst="roundRect">
            <a:avLst>
              <a:gd name="adj" fmla="val 10258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57725" y="1752749"/>
            <a:ext cx="0" cy="742801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29175" y="1905149"/>
            <a:ext cx="385705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Isolamento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9175" y="2183160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Afasta você de família, amigos, colegas de trabalho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2628900"/>
            <a:ext cx="4124325" cy="742801"/>
          </a:xfrm>
          <a:prstGeom prst="roundRect">
            <a:avLst>
              <a:gd name="adj" fmla="val 10258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628900"/>
            <a:ext cx="0" cy="742801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71500" y="2781300"/>
            <a:ext cx="385705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Ciúmes Possessivos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" y="3059311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Ciúme exagerado, acusações infundadas, desconfiança constante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8675" y="2628900"/>
            <a:ext cx="4124325" cy="742801"/>
          </a:xfrm>
          <a:prstGeom prst="roundRect">
            <a:avLst>
              <a:gd name="adj" fmla="val 10258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7725" y="2628900"/>
            <a:ext cx="0" cy="742801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29175" y="2781300"/>
            <a:ext cx="385705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Desvalorização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9175" y="3059311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Criticas constantes, humilhação, desqualifica suas conquistas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000" y="3505051"/>
            <a:ext cx="4124325" cy="742801"/>
          </a:xfrm>
          <a:prstGeom prst="roundRect">
            <a:avLst>
              <a:gd name="adj" fmla="val 10258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3505051"/>
            <a:ext cx="0" cy="742801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71500" y="3657451"/>
            <a:ext cx="385705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Explosões de Raiva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" y="3935462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Acessos de fúria por coisas pequenas, quebra objetos, intimida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8675" y="3505051"/>
            <a:ext cx="4124325" cy="742801"/>
          </a:xfrm>
          <a:prstGeom prst="roundRect">
            <a:avLst>
              <a:gd name="adj" fmla="val 10258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7725" y="3505051"/>
            <a:ext cx="0" cy="742801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29175" y="3657451"/>
            <a:ext cx="385705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Culpabilização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9175" y="3935462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Culpa você por tudo, inclusive pela violência dele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97F22-F952-5485-7D4D-BF3BFEDF4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0" y="949171"/>
            <a:ext cx="6743700" cy="2075327"/>
          </a:xfrm>
        </p:spPr>
        <p:txBody>
          <a:bodyPr>
            <a:normAutofit/>
          </a:bodyPr>
          <a:lstStyle/>
          <a:p>
            <a:r>
              <a:rPr lang="en-US" b="1"/>
              <a:t>Suporte Entre Pares: </a:t>
            </a:r>
            <a:br>
              <a:rPr lang="en-US" b="1"/>
            </a:br>
            <a:r>
              <a:rPr lang="en-US" b="1"/>
              <a:t>A Força da Irmandade Militar</a:t>
            </a:r>
            <a:br>
              <a:rPr lang="pt-BR" b="1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3A3898-FC98-603F-8AD4-39710AB3D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150" y="3242637"/>
            <a:ext cx="6743700" cy="131847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b="1"/>
              <a:t>A violência doméstica prospera no silêncio.</a:t>
            </a:r>
            <a:r>
              <a:rPr lang="en-US"/>
              <a:t> Muitas mulheres sentem vergonha e medo. Quando uma colega se aproxima com empatia e sem julgamento, pode ser o primeiro passo para quebrar esse silêncio.</a:t>
            </a:r>
            <a:endParaRPr lang="pt-BR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36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>
            <a:alpha val="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67385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Ajudar Uma Companheira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33425" y="2245965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2E5A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7284" y="3027015"/>
            <a:ext cx="1399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67284" y="3274665"/>
            <a:ext cx="1399032" cy="479971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de comportamento, isolamento, marcas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86025" y="2325886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4A7DB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19884" y="3106936"/>
            <a:ext cx="1399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4A7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Aproxime-se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2119884" y="3354586"/>
            <a:ext cx="1399032" cy="31998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momento privado e seguro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38625" y="2325886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66BB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72484" y="3106936"/>
            <a:ext cx="1399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872484" y="3354586"/>
            <a:ext cx="1399032" cy="31998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"Está tudo bem? Estou preocupada"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91225" y="2325886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FFA7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25084" y="3106936"/>
            <a:ext cx="1399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625084" y="3354586"/>
            <a:ext cx="1399032" cy="31998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interromper, sem julgar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43825" y="2325886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C848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77684" y="3106936"/>
            <a:ext cx="1399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377684" y="3354586"/>
            <a:ext cx="1399032" cy="31998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Ofereça recursos, esteja disponível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841362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entre Pares: Juntas Somos Mais Fortes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362521"/>
            <a:ext cx="8382000" cy="937022"/>
          </a:xfrm>
          <a:prstGeom prst="roundRect">
            <a:avLst>
              <a:gd name="adj" fmla="val 10165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362521"/>
            <a:ext cx="0" cy="937022"/>
          </a:xfrm>
          <a:prstGeom prst="line">
            <a:avLst/>
          </a:prstGeom>
          <a:noFill/>
          <a:ln w="47625">
            <a:solidFill>
              <a:srgbClr val="2E5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76275" y="1572071"/>
            <a:ext cx="7995857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mulheres militares, temos um vínculo especial. Podemos ser a diferença na vida de uma companheira que está sofrendo.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81000" y="2470993"/>
            <a:ext cx="4124325" cy="1016943"/>
          </a:xfrm>
          <a:prstGeom prst="roundRect">
            <a:avLst>
              <a:gd name="adj" fmla="val 7493"/>
            </a:avLst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4223" y="2821335"/>
            <a:ext cx="381819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dirty="0"/>
              <a:t>Eu </a:t>
            </a:r>
            <a:r>
              <a:rPr lang="en-US" dirty="0" err="1"/>
              <a:t>acredito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você</a:t>
            </a:r>
            <a:r>
              <a:rPr lang="en-US" dirty="0"/>
              <a:t>.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passando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real.”</a:t>
            </a:r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4638675" y="2470993"/>
            <a:ext cx="4124325" cy="1016943"/>
          </a:xfrm>
          <a:prstGeom prst="roundRect">
            <a:avLst>
              <a:gd name="adj" fmla="val 7493"/>
            </a:avLst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1741" y="2763649"/>
            <a:ext cx="3818192" cy="49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exagerando</a:t>
            </a:r>
            <a:r>
              <a:rPr lang="en-US" dirty="0"/>
              <a:t>.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acontecendo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violência.”</a:t>
            </a:r>
            <a:endParaRPr lang="pt-BR" dirty="0"/>
          </a:p>
          <a:p>
            <a:pPr marL="0" indent="0" algn="l">
              <a:lnSpc>
                <a:spcPts val="1365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621286"/>
            <a:ext cx="4124325" cy="1016943"/>
          </a:xfrm>
          <a:prstGeom prst="roundRect">
            <a:avLst>
              <a:gd name="adj" fmla="val 7493"/>
            </a:avLst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811786"/>
            <a:ext cx="381819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0"/>
              </a:lnSpc>
              <a:spcAft>
                <a:spcPts val="750"/>
              </a:spcAft>
            </a:pPr>
            <a:r>
              <a:rPr lang="en-US" b="1" dirty="0"/>
              <a:t>Ser </a:t>
            </a:r>
            <a:r>
              <a:rPr lang="en-US" b="1" dirty="0" err="1"/>
              <a:t>apoiada</a:t>
            </a:r>
            <a:r>
              <a:rPr lang="en-US" dirty="0"/>
              <a:t> 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571500" y="4101257"/>
            <a:ext cx="381819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5"/>
              </a:lnSpc>
            </a:pP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sozinha</a:t>
            </a:r>
            <a:r>
              <a:rPr lang="en-US" dirty="0"/>
              <a:t>. </a:t>
            </a:r>
            <a:r>
              <a:rPr lang="en-US" dirty="0" err="1"/>
              <a:t>Estou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para </a:t>
            </a:r>
            <a:r>
              <a:rPr lang="en-US" dirty="0" err="1"/>
              <a:t>você</a:t>
            </a:r>
            <a:r>
              <a:rPr lang="en-US" dirty="0"/>
              <a:t>.”</a:t>
            </a:r>
            <a:endParaRPr lang="pt-BR" dirty="0"/>
          </a:p>
          <a:p>
            <a:pPr marL="0" indent="0" algn="l">
              <a:lnSpc>
                <a:spcPts val="1365"/>
              </a:lnSpc>
              <a:buNone/>
            </a:pP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38675" y="3621286"/>
            <a:ext cx="4124325" cy="1016943"/>
          </a:xfrm>
          <a:prstGeom prst="roundRect">
            <a:avLst>
              <a:gd name="adj" fmla="val 7493"/>
            </a:avLst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9175" y="3811786"/>
            <a:ext cx="381819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0"/>
              </a:lnSpc>
              <a:spcAft>
                <a:spcPts val="750"/>
              </a:spcAft>
            </a:pPr>
            <a:r>
              <a:rPr lang="en-US" b="1" dirty="0"/>
              <a:t>Ser </a:t>
            </a:r>
            <a:r>
              <a:rPr lang="en-US" b="1" dirty="0" err="1"/>
              <a:t>respeitada</a:t>
            </a:r>
            <a:r>
              <a:rPr lang="en-US" dirty="0"/>
              <a:t> 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4739967" y="4101257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5"/>
              </a:lnSpc>
            </a:pPr>
            <a:r>
              <a:rPr lang="en-US" dirty="0" err="1"/>
              <a:t>Você</a:t>
            </a:r>
            <a:r>
              <a:rPr lang="en-US" dirty="0"/>
              <a:t> decide </a:t>
            </a:r>
            <a:r>
              <a:rPr lang="en-US" dirty="0" err="1"/>
              <a:t>quando</a:t>
            </a:r>
            <a:r>
              <a:rPr lang="en-US" dirty="0"/>
              <a:t> 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agir</a:t>
            </a:r>
            <a:r>
              <a:rPr lang="en-US" dirty="0"/>
              <a:t>. Eu </a:t>
            </a:r>
            <a:r>
              <a:rPr lang="en-US" dirty="0" err="1"/>
              <a:t>respeito</a:t>
            </a:r>
            <a:r>
              <a:rPr lang="en-US" dirty="0"/>
              <a:t>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escolhas</a:t>
            </a:r>
            <a:r>
              <a:rPr lang="en-US" dirty="0"/>
              <a:t>.”</a:t>
            </a:r>
            <a:endParaRPr lang="pt-BR" dirty="0"/>
          </a:p>
          <a:p>
            <a:pPr marL="0" indent="0" algn="l">
              <a:lnSpc>
                <a:spcPts val="1365"/>
              </a:lnSpc>
              <a:buNone/>
            </a:pPr>
            <a:endParaRPr lang="en-US" sz="975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EB4B831-61D0-B03C-7CD1-93B39F5DE6B1}"/>
              </a:ext>
            </a:extLst>
          </p:cNvPr>
          <p:cNvSpPr txBox="1"/>
          <p:nvPr/>
        </p:nvSpPr>
        <p:spPr>
          <a:xfrm>
            <a:off x="412606" y="24937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acreditada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CF56E2-FE3F-61D5-2D12-D2F9C6855246}"/>
              </a:ext>
            </a:extLst>
          </p:cNvPr>
          <p:cNvSpPr txBox="1"/>
          <p:nvPr/>
        </p:nvSpPr>
        <p:spPr>
          <a:xfrm>
            <a:off x="4638675" y="2406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validada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67C5B-917F-A322-81D9-66EB9752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280A57-8866-DE4D-98BE-A123684EC178}"/>
              </a:ext>
            </a:extLst>
          </p:cNvPr>
          <p:cNvSpPr/>
          <p:nvPr/>
        </p:nvSpPr>
        <p:spPr>
          <a:xfrm>
            <a:off x="381000" y="551180"/>
            <a:ext cx="841362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3200" dirty="0"/>
              <a:t>Fique </a:t>
            </a:r>
            <a:r>
              <a:rPr lang="en-US" sz="3200" dirty="0" err="1"/>
              <a:t>atenta</a:t>
            </a:r>
            <a:r>
              <a:rPr lang="en-US" sz="3200" dirty="0"/>
              <a:t> a </a:t>
            </a:r>
            <a:r>
              <a:rPr lang="en-US" sz="3200" dirty="0" err="1"/>
              <a:t>mudanças</a:t>
            </a:r>
            <a:r>
              <a:rPr lang="en-US" sz="3200" dirty="0"/>
              <a:t> de </a:t>
            </a:r>
            <a:r>
              <a:rPr lang="en-US" sz="3200" dirty="0" err="1">
                <a:solidFill>
                  <a:srgbClr val="002060"/>
                </a:solidFill>
              </a:rPr>
              <a:t>comportamento</a:t>
            </a:r>
            <a:endParaRPr lang="en-US" sz="285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4FC777-4030-2D45-EB77-D536254E8C5E}"/>
              </a:ext>
            </a:extLst>
          </p:cNvPr>
          <p:cNvSpPr/>
          <p:nvPr/>
        </p:nvSpPr>
        <p:spPr>
          <a:xfrm>
            <a:off x="404813" y="1362521"/>
            <a:ext cx="8358186" cy="1670892"/>
          </a:xfrm>
          <a:prstGeom prst="roundRect">
            <a:avLst>
              <a:gd name="adj" fmla="val 10165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61F997-9843-1EDA-A647-91F51637A8FB}"/>
              </a:ext>
            </a:extLst>
          </p:cNvPr>
          <p:cNvSpPr/>
          <p:nvPr/>
        </p:nvSpPr>
        <p:spPr>
          <a:xfrm flipH="1">
            <a:off x="381000" y="1362520"/>
            <a:ext cx="23813" cy="1670893"/>
          </a:xfrm>
          <a:prstGeom prst="line">
            <a:avLst/>
          </a:prstGeom>
          <a:noFill/>
          <a:ln w="47625">
            <a:solidFill>
              <a:srgbClr val="2E5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95CF56-05E0-017E-BBB1-23C1E8A38A76}"/>
              </a:ext>
            </a:extLst>
          </p:cNvPr>
          <p:cNvSpPr/>
          <p:nvPr/>
        </p:nvSpPr>
        <p:spPr>
          <a:xfrm>
            <a:off x="642334" y="1525410"/>
            <a:ext cx="7859331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 err="1"/>
              <a:t>Isolamento</a:t>
            </a:r>
            <a:r>
              <a:rPr lang="en-US" sz="2000" dirty="0"/>
              <a:t> social </a:t>
            </a:r>
            <a:r>
              <a:rPr lang="en-US" sz="2000" dirty="0" err="1"/>
              <a:t>repentino</a:t>
            </a:r>
            <a:r>
              <a:rPr lang="en-US" sz="2000" dirty="0"/>
              <a:t> - Faltas </a:t>
            </a:r>
            <a:r>
              <a:rPr lang="en-US" sz="2000" dirty="0" err="1"/>
              <a:t>frequentes</a:t>
            </a:r>
            <a:r>
              <a:rPr lang="en-US" sz="2000" dirty="0"/>
              <a:t> ao </a:t>
            </a:r>
            <a:r>
              <a:rPr lang="en-US" sz="2000" dirty="0" err="1"/>
              <a:t>trabalho</a:t>
            </a:r>
            <a:r>
              <a:rPr lang="en-US" sz="2000" dirty="0"/>
              <a:t> - </a:t>
            </a:r>
            <a:r>
              <a:rPr lang="en-US" sz="2000" dirty="0" err="1"/>
              <a:t>Mudanças</a:t>
            </a:r>
            <a:r>
              <a:rPr lang="en-US" sz="2000" dirty="0"/>
              <a:t> de humor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ansiedade</a:t>
            </a:r>
            <a:r>
              <a:rPr lang="en-US" sz="2000" dirty="0"/>
              <a:t> </a:t>
            </a:r>
            <a:r>
              <a:rPr lang="en-US" sz="2000" dirty="0" err="1"/>
              <a:t>aumentada</a:t>
            </a:r>
            <a:r>
              <a:rPr lang="en-US" sz="2000" dirty="0"/>
              <a:t> - Uso de </a:t>
            </a:r>
            <a:r>
              <a:rPr lang="en-US" sz="2000" dirty="0" err="1"/>
              <a:t>roupas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escondem</a:t>
            </a:r>
            <a:r>
              <a:rPr lang="en-US" sz="2000" dirty="0"/>
              <a:t> o </a:t>
            </a:r>
            <a:r>
              <a:rPr lang="en-US" sz="2000" dirty="0" err="1"/>
              <a:t>corpo</a:t>
            </a:r>
            <a:r>
              <a:rPr lang="en-US" sz="2000" dirty="0"/>
              <a:t> (</a:t>
            </a:r>
            <a:r>
              <a:rPr lang="en-US" sz="2000" dirty="0" err="1"/>
              <a:t>mesmo</a:t>
            </a:r>
            <a:r>
              <a:rPr lang="en-US" sz="2000" dirty="0"/>
              <a:t> no </a:t>
            </a:r>
            <a:r>
              <a:rPr lang="en-US" sz="2000" dirty="0" err="1"/>
              <a:t>calor</a:t>
            </a:r>
            <a:r>
              <a:rPr lang="en-US" sz="2000" dirty="0"/>
              <a:t>) - </a:t>
            </a:r>
            <a:r>
              <a:rPr lang="en-US" sz="2000" dirty="0" err="1"/>
              <a:t>Desculpas</a:t>
            </a:r>
            <a:r>
              <a:rPr lang="en-US" sz="2000" dirty="0"/>
              <a:t> </a:t>
            </a:r>
            <a:r>
              <a:rPr lang="en-US" sz="2000" dirty="0" err="1"/>
              <a:t>frequentes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“</a:t>
            </a:r>
            <a:r>
              <a:rPr lang="en-US" sz="2000" dirty="0" err="1"/>
              <a:t>acidentes</a:t>
            </a:r>
            <a:r>
              <a:rPr lang="en-US" sz="2000" dirty="0"/>
              <a:t>”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machucados</a:t>
            </a:r>
            <a:r>
              <a:rPr lang="en-US" sz="2000" dirty="0"/>
              <a:t> - Controle </a:t>
            </a:r>
            <a:r>
              <a:rPr lang="en-US" sz="2000" dirty="0" err="1"/>
              <a:t>excessivo</a:t>
            </a:r>
            <a:r>
              <a:rPr lang="en-US" sz="2000" dirty="0"/>
              <a:t> do </a:t>
            </a:r>
            <a:r>
              <a:rPr lang="en-US" sz="2000" dirty="0" err="1"/>
              <a:t>parceiro</a:t>
            </a:r>
            <a:r>
              <a:rPr lang="en-US" sz="2000" dirty="0"/>
              <a:t> (</a:t>
            </a:r>
            <a:r>
              <a:rPr lang="en-US" sz="2000" dirty="0" err="1"/>
              <a:t>ligações</a:t>
            </a:r>
            <a:r>
              <a:rPr lang="en-US" sz="2000" dirty="0"/>
              <a:t> </a:t>
            </a:r>
            <a:r>
              <a:rPr lang="en-US" sz="2000" dirty="0" err="1"/>
              <a:t>constantes</a:t>
            </a:r>
            <a:r>
              <a:rPr lang="en-US" sz="2000" dirty="0"/>
              <a:t>, </a:t>
            </a:r>
            <a:r>
              <a:rPr lang="en-US" sz="2000" dirty="0" err="1"/>
              <a:t>proibições</a:t>
            </a:r>
            <a:r>
              <a:rPr lang="en-US" sz="2000" dirty="0"/>
              <a:t>)</a:t>
            </a:r>
            <a:endParaRPr lang="pt-BR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525A52B-63C5-DF73-DAEF-AA388DA96ED1}"/>
              </a:ext>
            </a:extLst>
          </p:cNvPr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92954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66C82-C6E8-6471-617E-9C1A2AC2E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E5D6FE-D676-11F1-E4AF-070BF308D31A}"/>
              </a:ext>
            </a:extLst>
          </p:cNvPr>
          <p:cNvSpPr/>
          <p:nvPr/>
        </p:nvSpPr>
        <p:spPr>
          <a:xfrm>
            <a:off x="404811" y="552895"/>
            <a:ext cx="841362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3200" b="1" dirty="0" err="1">
                <a:solidFill>
                  <a:srgbClr val="002060"/>
                </a:solidFill>
              </a:rPr>
              <a:t>Cuidando</a:t>
            </a:r>
            <a:r>
              <a:rPr lang="en-US" sz="3200" b="1" dirty="0">
                <a:solidFill>
                  <a:srgbClr val="002060"/>
                </a:solidFill>
              </a:rPr>
              <a:t> de quem </a:t>
            </a:r>
            <a:r>
              <a:rPr lang="en-US" sz="3200" b="1" dirty="0" err="1">
                <a:solidFill>
                  <a:srgbClr val="002060"/>
                </a:solidFill>
              </a:rPr>
              <a:t>cuida</a:t>
            </a:r>
            <a:endParaRPr lang="pt-BR" sz="3200" b="1" dirty="0">
              <a:solidFill>
                <a:srgbClr val="002060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BC2332-50E7-D9EA-EDDD-E02266A5748D}"/>
              </a:ext>
            </a:extLst>
          </p:cNvPr>
          <p:cNvSpPr/>
          <p:nvPr/>
        </p:nvSpPr>
        <p:spPr>
          <a:xfrm>
            <a:off x="404813" y="1362520"/>
            <a:ext cx="8358186" cy="2784725"/>
          </a:xfrm>
          <a:prstGeom prst="roundRect">
            <a:avLst>
              <a:gd name="adj" fmla="val 10165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6EEBCC-51FD-C98F-0C68-3E0AE23B5F18}"/>
              </a:ext>
            </a:extLst>
          </p:cNvPr>
          <p:cNvSpPr/>
          <p:nvPr/>
        </p:nvSpPr>
        <p:spPr>
          <a:xfrm flipH="1">
            <a:off x="380999" y="1362520"/>
            <a:ext cx="23812" cy="2784725"/>
          </a:xfrm>
          <a:prstGeom prst="line">
            <a:avLst/>
          </a:prstGeom>
          <a:noFill/>
          <a:ln w="47625">
            <a:solidFill>
              <a:srgbClr val="2E5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74A017-A567-706C-4D54-60176E7D5998}"/>
              </a:ext>
            </a:extLst>
          </p:cNvPr>
          <p:cNvSpPr/>
          <p:nvPr/>
        </p:nvSpPr>
        <p:spPr>
          <a:xfrm>
            <a:off x="726154" y="1389502"/>
            <a:ext cx="7859331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 err="1"/>
              <a:t>Apoiar</a:t>
            </a:r>
            <a:r>
              <a:rPr lang="en-US" dirty="0"/>
              <a:t> uma </a:t>
            </a:r>
            <a:r>
              <a:rPr lang="en-US" dirty="0" err="1"/>
              <a:t>companheira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situação</a:t>
            </a:r>
            <a:r>
              <a:rPr lang="en-US" dirty="0"/>
              <a:t> de violência pode ser </a:t>
            </a:r>
            <a:r>
              <a:rPr lang="en-US" dirty="0" err="1"/>
              <a:t>emocionalmente</a:t>
            </a:r>
            <a:r>
              <a:rPr lang="en-US" dirty="0"/>
              <a:t> </a:t>
            </a:r>
            <a:r>
              <a:rPr lang="en-US" dirty="0" err="1"/>
              <a:t>desgastante</a:t>
            </a:r>
            <a:r>
              <a:rPr lang="en-US" dirty="0"/>
              <a:t>. </a:t>
            </a:r>
            <a:r>
              <a:rPr lang="en-US" dirty="0" err="1"/>
              <a:t>É</a:t>
            </a:r>
            <a:r>
              <a:rPr lang="en-US" dirty="0"/>
              <a:t> fundamental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cuide</a:t>
            </a:r>
            <a:r>
              <a:rPr lang="en-US" dirty="0"/>
              <a:t> de </a:t>
            </a:r>
            <a:r>
              <a:rPr lang="en-US" dirty="0" err="1"/>
              <a:t>si</a:t>
            </a:r>
            <a:r>
              <a:rPr lang="en-US" dirty="0"/>
              <a:t>:</a:t>
            </a:r>
          </a:p>
          <a:p>
            <a:endParaRPr lang="pt-BR" dirty="0"/>
          </a:p>
          <a:p>
            <a:pPr lvl="0"/>
            <a:r>
              <a:rPr lang="en-US" b="1" dirty="0" err="1"/>
              <a:t>Estabeleça</a:t>
            </a:r>
            <a:r>
              <a:rPr lang="en-US" b="1" dirty="0"/>
              <a:t> </a:t>
            </a:r>
            <a:r>
              <a:rPr lang="en-US" b="1" dirty="0" err="1"/>
              <a:t>limites</a:t>
            </a:r>
            <a:r>
              <a:rPr lang="en-US" b="1" dirty="0"/>
              <a:t> </a:t>
            </a:r>
            <a:r>
              <a:rPr lang="en-US" b="1" dirty="0" err="1"/>
              <a:t>saudáveis</a:t>
            </a:r>
            <a:r>
              <a:rPr lang="en-US" dirty="0"/>
              <a:t> -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pode resolver </a:t>
            </a:r>
            <a:r>
              <a:rPr lang="en-US" dirty="0" err="1"/>
              <a:t>tudo</a:t>
            </a:r>
            <a:r>
              <a:rPr lang="en-US" dirty="0"/>
              <a:t> </a:t>
            </a:r>
            <a:r>
              <a:rPr lang="en-US" dirty="0" err="1"/>
              <a:t>sozinha</a:t>
            </a:r>
            <a:endParaRPr lang="pt-BR" dirty="0"/>
          </a:p>
          <a:p>
            <a:pPr lvl="0"/>
            <a:r>
              <a:rPr lang="en-US" b="1" dirty="0"/>
              <a:t>Busque </a:t>
            </a:r>
            <a:r>
              <a:rPr lang="en-US" b="1" dirty="0" err="1"/>
              <a:t>apoio</a:t>
            </a:r>
            <a:r>
              <a:rPr lang="en-US" dirty="0"/>
              <a:t> - Converse com </a:t>
            </a:r>
            <a:r>
              <a:rPr lang="en-US" dirty="0" err="1"/>
              <a:t>psicólogos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profissionais</a:t>
            </a:r>
            <a:r>
              <a:rPr lang="en-US" dirty="0"/>
              <a:t> de </a:t>
            </a:r>
            <a:r>
              <a:rPr lang="en-US" dirty="0" err="1"/>
              <a:t>saúde</a:t>
            </a:r>
            <a:endParaRPr lang="pt-BR" dirty="0"/>
          </a:p>
          <a:p>
            <a:pPr lvl="0"/>
            <a:r>
              <a:rPr lang="en-US" b="1" dirty="0" err="1"/>
              <a:t>Não</a:t>
            </a:r>
            <a:r>
              <a:rPr lang="en-US" b="1" dirty="0"/>
              <a:t> se </a:t>
            </a:r>
            <a:r>
              <a:rPr lang="en-US" b="1" dirty="0" err="1"/>
              <a:t>culpe</a:t>
            </a:r>
            <a:r>
              <a:rPr lang="en-US" dirty="0"/>
              <a:t> -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responsável</a:t>
            </a:r>
            <a:r>
              <a:rPr lang="en-US" dirty="0"/>
              <a:t> </a:t>
            </a:r>
            <a:r>
              <a:rPr lang="en-US" dirty="0" err="1"/>
              <a:t>pelas</a:t>
            </a:r>
            <a:r>
              <a:rPr lang="en-US" dirty="0"/>
              <a:t> </a:t>
            </a:r>
            <a:r>
              <a:rPr lang="en-US" dirty="0" err="1"/>
              <a:t>escolhas</a:t>
            </a:r>
            <a:r>
              <a:rPr lang="en-US" dirty="0"/>
              <a:t> dela</a:t>
            </a:r>
            <a:endParaRPr lang="pt-BR" dirty="0"/>
          </a:p>
          <a:p>
            <a:pPr lvl="0"/>
            <a:r>
              <a:rPr lang="en-US" b="1" dirty="0" err="1"/>
              <a:t>Reconheça</a:t>
            </a:r>
            <a:r>
              <a:rPr lang="en-US" b="1" dirty="0"/>
              <a:t> </a:t>
            </a:r>
            <a:r>
              <a:rPr lang="en-US" b="1" dirty="0" err="1"/>
              <a:t>seus</a:t>
            </a:r>
            <a:r>
              <a:rPr lang="en-US" b="1" dirty="0"/>
              <a:t> </a:t>
            </a:r>
            <a:r>
              <a:rPr lang="en-US" b="1" dirty="0" err="1"/>
              <a:t>limites</a:t>
            </a:r>
            <a:r>
              <a:rPr lang="en-US" dirty="0"/>
              <a:t> - </a:t>
            </a:r>
            <a:r>
              <a:rPr lang="en-US" dirty="0" err="1"/>
              <a:t>Saiba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encaminhar</a:t>
            </a:r>
            <a:r>
              <a:rPr lang="en-US" dirty="0"/>
              <a:t> para </a:t>
            </a:r>
            <a:r>
              <a:rPr lang="en-US" dirty="0" err="1"/>
              <a:t>profissionais</a:t>
            </a:r>
            <a:r>
              <a:rPr lang="en-US" dirty="0"/>
              <a:t> </a:t>
            </a:r>
            <a:r>
              <a:rPr lang="en-US" dirty="0" err="1"/>
              <a:t>especializados</a:t>
            </a:r>
            <a:endParaRPr lang="pt-BR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0C393D-6BAB-8B16-1654-8A4BFB892EF1}"/>
              </a:ext>
            </a:extLst>
          </p:cNvPr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36230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sz="2850" b="1" dirty="0" err="1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50" b="1" dirty="0" err="1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50" b="1" dirty="0" err="1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50" b="1" dirty="0" err="1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589187"/>
            <a:ext cx="4124325" cy="967383"/>
          </a:xfrm>
          <a:prstGeom prst="roundRect">
            <a:avLst>
              <a:gd name="adj" fmla="val 7877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589187"/>
            <a:ext cx="0" cy="967383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0550" y="1760637"/>
            <a:ext cx="3818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"Por que você não sai?"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0550" y="2038648"/>
            <a:ext cx="381819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complexo. Há medo, dependência, filhos, vergonha, esperança de mudança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38675" y="1589187"/>
            <a:ext cx="4124325" cy="967383"/>
          </a:xfrm>
          <a:prstGeom prst="roundRect">
            <a:avLst>
              <a:gd name="adj" fmla="val 7877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57725" y="1589187"/>
            <a:ext cx="0" cy="967383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48225" y="1760637"/>
            <a:ext cx="3818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"Você provocou"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8225" y="2038648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culpe a vítima. A responsabilidade é sempre do agressor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2689920"/>
            <a:ext cx="4124325" cy="794147"/>
          </a:xfrm>
          <a:prstGeom prst="roundRect">
            <a:avLst>
              <a:gd name="adj" fmla="val 9595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689920"/>
            <a:ext cx="0" cy="794147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0550" y="2861370"/>
            <a:ext cx="3818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Tomar decisões por ela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0550" y="3139380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precisa retomar controle da vida. Apoie as decisões dela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38675" y="2689920"/>
            <a:ext cx="4124325" cy="794147"/>
          </a:xfrm>
          <a:prstGeom prst="roundRect">
            <a:avLst>
              <a:gd name="adj" fmla="val 9595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7725" y="2689920"/>
            <a:ext cx="0" cy="794147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48225" y="2861370"/>
            <a:ext cx="3818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Confrontar o agressor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8225" y="3139380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aumentar o risco. Encaminhe para profissionais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81000" y="3617416"/>
            <a:ext cx="4124325" cy="794147"/>
          </a:xfrm>
          <a:prstGeom prst="roundRect">
            <a:avLst>
              <a:gd name="adj" fmla="val 9595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3617416"/>
            <a:ext cx="0" cy="794147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0550" y="3788866"/>
            <a:ext cx="3818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Desistir dela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0550" y="4066877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disponível. Ela pode precisar de várias tentativas para sair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638675" y="3617416"/>
            <a:ext cx="4124325" cy="794147"/>
          </a:xfrm>
          <a:prstGeom prst="roundRect">
            <a:avLst>
              <a:gd name="adj" fmla="val 9595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7725" y="3617416"/>
            <a:ext cx="0" cy="794147"/>
          </a:xfrm>
          <a:prstGeom prst="line">
            <a:avLst/>
          </a:prstGeom>
          <a:noFill/>
          <a:ln w="38100">
            <a:solidFill>
              <a:srgbClr val="C848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48225" y="3788866"/>
            <a:ext cx="3818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Espalhar a situação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8225" y="4066877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Respeite a privacidade. Não é fofoca, é violência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9549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e Canais de Ajuda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933483" y="1490960"/>
            <a:ext cx="5818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220815"/>
            <a:ext cx="8382000" cy="807541"/>
          </a:xfrm>
          <a:prstGeom prst="roundRect">
            <a:avLst>
              <a:gd name="adj" fmla="val 11795"/>
            </a:avLst>
          </a:prstGeom>
          <a:solidFill>
            <a:srgbClr val="C848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8650" y="1377256"/>
            <a:ext cx="188845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180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8650" y="1630562"/>
            <a:ext cx="18884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da Mulher - 24h - Gratuito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93788" y="1417142"/>
            <a:ext cx="42156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81000" y="2118123"/>
            <a:ext cx="8382000" cy="807541"/>
          </a:xfrm>
          <a:prstGeom prst="roundRect">
            <a:avLst>
              <a:gd name="adj" fmla="val 11795"/>
            </a:avLst>
          </a:prstGeom>
          <a:solidFill>
            <a:srgbClr val="4A7DB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" y="2308623"/>
            <a:ext cx="160032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Disque 190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8650" y="2561928"/>
            <a:ext cx="16003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Polícia Militar - Emergências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93788" y="2348508"/>
            <a:ext cx="42156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81000" y="3005946"/>
            <a:ext cx="8382000" cy="845641"/>
          </a:xfrm>
          <a:prstGeom prst="roundRect">
            <a:avLst>
              <a:gd name="adj" fmla="val 11264"/>
            </a:avLst>
          </a:prstGeom>
          <a:solidFill>
            <a:srgbClr val="F5F7FA"/>
          </a:solidFill>
          <a:ln w="19050">
            <a:solidFill>
              <a:srgbClr val="D0D8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699" y="3173101"/>
            <a:ext cx="221194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 - </a:t>
            </a:r>
            <a:r>
              <a:rPr lang="en-US" sz="1350" b="1" dirty="0" err="1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</a:t>
            </a:r>
            <a:r>
              <a:rPr lang="en-US" sz="13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50" b="1" dirty="0" err="1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699" y="3428766"/>
            <a:ext cx="274864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 err="1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</a:t>
            </a: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75" dirty="0" err="1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psicólogos</a:t>
            </a:r>
            <a:r>
              <a:rPr lang="en-US" sz="975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assistentes sociais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81000" y="4920172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675" dirty="0"/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222E650E-B61B-A821-449F-4E2DB1071082}"/>
              </a:ext>
            </a:extLst>
          </p:cNvPr>
          <p:cNvSpPr/>
          <p:nvPr/>
        </p:nvSpPr>
        <p:spPr>
          <a:xfrm>
            <a:off x="381000" y="3922685"/>
            <a:ext cx="8382000" cy="845641"/>
          </a:xfrm>
          <a:prstGeom prst="roundRect">
            <a:avLst>
              <a:gd name="adj" fmla="val 11264"/>
            </a:avLst>
          </a:prstGeom>
          <a:solidFill>
            <a:srgbClr val="F5F7FA"/>
          </a:solidFill>
          <a:ln w="19050">
            <a:solidFill>
              <a:srgbClr val="D0D8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6263D459-BCB3-7BEE-F3C6-E6894AF31396}"/>
              </a:ext>
            </a:extLst>
          </p:cNvPr>
          <p:cNvSpPr/>
          <p:nvPr/>
        </p:nvSpPr>
        <p:spPr>
          <a:xfrm>
            <a:off x="628650" y="4077360"/>
            <a:ext cx="221194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2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DEAM e CREAS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546D6-185B-6EE1-0E57-375897BE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08F138-68D7-039A-B6D6-C6324AF9D740}"/>
              </a:ext>
            </a:extLst>
          </p:cNvPr>
          <p:cNvSpPr/>
          <p:nvPr/>
        </p:nvSpPr>
        <p:spPr>
          <a:xfrm>
            <a:off x="477233" y="371920"/>
            <a:ext cx="841362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3200" b="1" dirty="0" err="1">
                <a:solidFill>
                  <a:srgbClr val="002060"/>
                </a:solidFill>
              </a:rPr>
              <a:t>Cuidando</a:t>
            </a:r>
            <a:r>
              <a:rPr lang="en-US" sz="3200" b="1" dirty="0">
                <a:solidFill>
                  <a:srgbClr val="002060"/>
                </a:solidFill>
              </a:rPr>
              <a:t> de quem </a:t>
            </a:r>
            <a:r>
              <a:rPr lang="en-US" sz="3200" b="1" dirty="0" err="1">
                <a:solidFill>
                  <a:srgbClr val="002060"/>
                </a:solidFill>
              </a:rPr>
              <a:t>cuida</a:t>
            </a:r>
            <a:endParaRPr lang="pt-BR" sz="3200" b="1" dirty="0">
              <a:solidFill>
                <a:srgbClr val="002060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BF200F-22C9-5F30-74F4-AE9742E8134C}"/>
              </a:ext>
            </a:extLst>
          </p:cNvPr>
          <p:cNvSpPr/>
          <p:nvPr/>
        </p:nvSpPr>
        <p:spPr>
          <a:xfrm>
            <a:off x="349376" y="1362520"/>
            <a:ext cx="8413623" cy="2784725"/>
          </a:xfrm>
          <a:prstGeom prst="roundRect">
            <a:avLst>
              <a:gd name="adj" fmla="val 10165"/>
            </a:avLst>
          </a:prstGeom>
          <a:solidFill>
            <a:srgbClr val="E8F1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B40A2C-17F9-D3A0-CDB1-74CB348508D7}"/>
              </a:ext>
            </a:extLst>
          </p:cNvPr>
          <p:cNvSpPr/>
          <p:nvPr/>
        </p:nvSpPr>
        <p:spPr>
          <a:xfrm>
            <a:off x="726154" y="1592702"/>
            <a:ext cx="7859331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400" b="1" dirty="0" err="1"/>
              <a:t>Criar</a:t>
            </a:r>
            <a:r>
              <a:rPr lang="en-US" sz="2400" b="1" dirty="0"/>
              <a:t> uma </a:t>
            </a:r>
            <a:r>
              <a:rPr lang="en-US" sz="2400" b="1" dirty="0" err="1"/>
              <a:t>cultura</a:t>
            </a:r>
            <a:r>
              <a:rPr lang="en-US" sz="2400" b="1" dirty="0"/>
              <a:t> de </a:t>
            </a:r>
            <a:r>
              <a:rPr lang="en-US" sz="2400" b="1" dirty="0" err="1"/>
              <a:t>apoio</a:t>
            </a:r>
            <a:r>
              <a:rPr lang="en-US" sz="2400" b="1" dirty="0"/>
              <a:t> </a:t>
            </a:r>
            <a:r>
              <a:rPr lang="en-US" sz="2400" b="1" dirty="0" err="1"/>
              <a:t>mútuo</a:t>
            </a:r>
            <a:r>
              <a:rPr lang="en-US" sz="2400" dirty="0"/>
              <a:t> </a:t>
            </a:r>
            <a:r>
              <a:rPr lang="en-US" sz="2400" dirty="0" err="1"/>
              <a:t>dentro</a:t>
            </a:r>
            <a:r>
              <a:rPr lang="en-US" sz="2400" dirty="0"/>
              <a:t> da </a:t>
            </a:r>
            <a:r>
              <a:rPr lang="en-US" sz="2400" dirty="0" err="1"/>
              <a:t>instituição</a:t>
            </a:r>
            <a:r>
              <a:rPr lang="en-US" sz="2400" dirty="0"/>
              <a:t> </a:t>
            </a:r>
            <a:r>
              <a:rPr lang="en-US" sz="2400" dirty="0" err="1"/>
              <a:t>militar</a:t>
            </a:r>
            <a:r>
              <a:rPr lang="en-US" sz="2400" dirty="0"/>
              <a:t> </a:t>
            </a:r>
            <a:r>
              <a:rPr lang="en-US" sz="2400" dirty="0" err="1"/>
              <a:t>não</a:t>
            </a:r>
            <a:r>
              <a:rPr lang="en-US" sz="2400" dirty="0"/>
              <a:t> </a:t>
            </a:r>
            <a:r>
              <a:rPr lang="en-US" sz="2400" dirty="0" err="1"/>
              <a:t>é</a:t>
            </a:r>
            <a:r>
              <a:rPr lang="en-US" sz="2400" dirty="0"/>
              <a:t> </a:t>
            </a:r>
            <a:r>
              <a:rPr lang="en-US" sz="2400" dirty="0" err="1"/>
              <a:t>apenas</a:t>
            </a:r>
            <a:r>
              <a:rPr lang="en-US" sz="2400" dirty="0"/>
              <a:t> um </a:t>
            </a:r>
            <a:r>
              <a:rPr lang="en-US" sz="2400" dirty="0" err="1"/>
              <a:t>ato</a:t>
            </a:r>
            <a:r>
              <a:rPr lang="en-US" sz="2400" dirty="0"/>
              <a:t> de </a:t>
            </a:r>
            <a:r>
              <a:rPr lang="en-US" sz="2400" dirty="0" err="1"/>
              <a:t>solidariedade</a:t>
            </a:r>
            <a:r>
              <a:rPr lang="en-US" sz="2400" dirty="0"/>
              <a:t> </a:t>
            </a:r>
            <a:r>
              <a:rPr lang="en-US" sz="2400" dirty="0" err="1"/>
              <a:t>feminina</a:t>
            </a:r>
            <a:r>
              <a:rPr lang="en-US" sz="2400" dirty="0"/>
              <a:t>, </a:t>
            </a:r>
            <a:r>
              <a:rPr lang="en-US" sz="2400" dirty="0" err="1"/>
              <a:t>é</a:t>
            </a:r>
            <a:r>
              <a:rPr lang="en-US" sz="2400" dirty="0"/>
              <a:t> um </a:t>
            </a:r>
            <a:r>
              <a:rPr lang="en-US" sz="2400" dirty="0" err="1"/>
              <a:t>dever</a:t>
            </a:r>
            <a:r>
              <a:rPr lang="en-US" sz="2400" dirty="0"/>
              <a:t> moral e um </a:t>
            </a:r>
            <a:r>
              <a:rPr lang="en-US" sz="2400" dirty="0" err="1"/>
              <a:t>compromisso</a:t>
            </a:r>
            <a:r>
              <a:rPr lang="en-US" sz="2400" dirty="0"/>
              <a:t> com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defendemos</a:t>
            </a:r>
            <a:r>
              <a:rPr lang="en-US" sz="2400" dirty="0"/>
              <a:t>: </a:t>
            </a:r>
            <a:r>
              <a:rPr lang="en-US" sz="2400" dirty="0" err="1"/>
              <a:t>honra</a:t>
            </a:r>
            <a:r>
              <a:rPr lang="en-US" sz="2400" dirty="0"/>
              <a:t>, </a:t>
            </a:r>
            <a:r>
              <a:rPr lang="en-US" sz="2400" dirty="0" err="1"/>
              <a:t>lealdade</a:t>
            </a:r>
            <a:r>
              <a:rPr lang="en-US" sz="2400" dirty="0"/>
              <a:t> e </a:t>
            </a:r>
            <a:r>
              <a:rPr lang="en-US" sz="2400" dirty="0" err="1"/>
              <a:t>proteção</a:t>
            </a:r>
            <a:r>
              <a:rPr lang="en-US" sz="2400" dirty="0"/>
              <a:t> </a:t>
            </a:r>
            <a:r>
              <a:rPr lang="en-US" sz="2400" dirty="0" err="1"/>
              <a:t>aos</a:t>
            </a:r>
            <a:r>
              <a:rPr lang="en-US" sz="2400" dirty="0"/>
              <a:t> </a:t>
            </a:r>
            <a:r>
              <a:rPr lang="en-US" sz="2400" dirty="0" err="1"/>
              <a:t>mais</a:t>
            </a:r>
            <a:r>
              <a:rPr lang="en-US" sz="2400" dirty="0"/>
              <a:t> </a:t>
            </a:r>
            <a:r>
              <a:rPr lang="en-US" sz="2400" dirty="0" err="1"/>
              <a:t>vulneráveis</a:t>
            </a:r>
            <a:r>
              <a:rPr lang="en-US" sz="2400" dirty="0"/>
              <a:t>.</a:t>
            </a:r>
            <a:endParaRPr lang="pt-BR" sz="2400" dirty="0"/>
          </a:p>
          <a:p>
            <a:endParaRPr lang="pt-BR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4F4F25A-02DF-1B9B-4C49-DE6BBBF50314}"/>
              </a:ext>
            </a:extLst>
          </p:cNvPr>
          <p:cNvSpPr/>
          <p:nvPr/>
        </p:nvSpPr>
        <p:spPr>
          <a:xfrm>
            <a:off x="381000" y="477589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Militares | Violência Doméstica e Suporte entre Pares | Força Aérea Brasileira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1648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491CEB6-48FE-149E-4DBF-FCA6A38F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35" y="1177187"/>
            <a:ext cx="4786930" cy="396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6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0C24-F968-93AB-B587-3A242B82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00DB852-4C1A-3994-B22B-919CD9B5A687}"/>
              </a:ext>
            </a:extLst>
          </p:cNvPr>
          <p:cNvSpPr txBox="1"/>
          <p:nvPr/>
        </p:nvSpPr>
        <p:spPr>
          <a:xfrm>
            <a:off x="2166730" y="42025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1800" b="1" i="0" u="none" strike="noStrike" dirty="0">
                <a:solidFill>
                  <a:srgbClr val="004AAD"/>
                </a:solidFill>
                <a:effectLst/>
                <a:latin typeface="Questrial" pitchFamily="2" charset="77"/>
              </a:rPr>
              <a:t>Esclarecimentos da Pesquisa</a:t>
            </a:r>
            <a:endParaRPr lang="pt-BR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9" name="Imagem 8" descr="Linha do tempo&#10;&#10;O conteúdo gerado por IA pode estar incorreto.">
            <a:extLst>
              <a:ext uri="{FF2B5EF4-FFF2-40B4-BE49-F238E27FC236}">
                <a16:creationId xmlns:a16="http://schemas.microsoft.com/office/drawing/2014/main" id="{8AEED899-8F95-1948-8350-162AA7194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2115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6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ódigo QR&#10;&#10;O conteúdo gerado por IA pode estar incorreto.">
            <a:extLst>
              <a:ext uri="{FF2B5EF4-FFF2-40B4-BE49-F238E27FC236}">
                <a16:creationId xmlns:a16="http://schemas.microsoft.com/office/drawing/2014/main" id="{0BBDEE61-1C65-39D8-F44B-D85EC744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" y="0"/>
            <a:ext cx="9118191" cy="515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95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ódigo QR&#10;&#10;O conteúdo gerado por IA pode estar incorreto.">
            <a:extLst>
              <a:ext uri="{FF2B5EF4-FFF2-40B4-BE49-F238E27FC236}">
                <a16:creationId xmlns:a16="http://schemas.microsoft.com/office/drawing/2014/main" id="{55E78471-2934-0FD3-48A7-669CE47EA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4" y="0"/>
            <a:ext cx="9124545" cy="515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00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-ic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331143"/>
            <a:ext cx="1238250" cy="7355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7601" y="1561951"/>
            <a:ext cx="699008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095"/>
              </a:lnSpc>
              <a:spcAft>
                <a:spcPts val="1800"/>
              </a:spcAft>
            </a:pPr>
            <a:r>
              <a:rPr lang="en-US" sz="3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um </a:t>
            </a:r>
            <a:r>
              <a:rPr lang="en-US" sz="3600" dirty="0" err="1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r>
              <a:rPr lang="en-US" sz="3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3600" dirty="0" err="1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</a:t>
            </a:r>
            <a:r>
              <a:rPr lang="en-US" sz="3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dirty="0" err="1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Respeitoso</a:t>
            </a:r>
            <a:r>
              <a:rPr lang="en-US" sz="3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Seguro</a:t>
            </a:r>
          </a:p>
          <a:p>
            <a:pPr algn="ctr">
              <a:lnSpc>
                <a:spcPts val="4095"/>
              </a:lnSpc>
              <a:spcAft>
                <a:spcPts val="1800"/>
              </a:spcAft>
            </a:pPr>
            <a:endParaRPr lang="en-US" sz="3600" dirty="0">
              <a:solidFill>
                <a:srgbClr val="FAFAFA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4095"/>
              </a:lnSpc>
              <a:spcAft>
                <a:spcPts val="1800"/>
              </a:spcAft>
            </a:pPr>
            <a:r>
              <a:rPr lang="en-US" sz="3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r>
              <a:rPr lang="en-US" sz="3600" dirty="0" err="1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cipavd.comgep@fab.mil.br</a:t>
            </a:r>
            <a:endParaRPr lang="en-US" sz="3600" dirty="0"/>
          </a:p>
          <a:p>
            <a:pPr algn="ctr">
              <a:lnSpc>
                <a:spcPts val="4095"/>
              </a:lnSpc>
              <a:spcAft>
                <a:spcPts val="1800"/>
              </a:spcAft>
            </a:pP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97</TotalTime>
  <Words>930</Words>
  <Application>Microsoft Macintosh PowerPoint</Application>
  <PresentationFormat>Apresentação na tela (16:9)</PresentationFormat>
  <Paragraphs>127</Paragraphs>
  <Slides>18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Cambria</vt:lpstr>
      <vt:lpstr>Gill Sans MT</vt:lpstr>
      <vt:lpstr>Questrial</vt:lpstr>
      <vt:lpstr>Pacote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Suporte Entre Pares:  A Força da Irmandade Militar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Nívea Moura</cp:lastModifiedBy>
  <cp:revision>8</cp:revision>
  <dcterms:created xsi:type="dcterms:W3CDTF">2025-11-21T12:40:50Z</dcterms:created>
  <dcterms:modified xsi:type="dcterms:W3CDTF">2025-11-24T00:53:57Z</dcterms:modified>
</cp:coreProperties>
</file>