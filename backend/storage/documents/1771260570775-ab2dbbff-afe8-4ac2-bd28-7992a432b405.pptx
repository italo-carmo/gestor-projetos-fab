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72" r:id="rId2"/>
    <p:sldId id="266" r:id="rId3"/>
    <p:sldId id="264" r:id="rId4"/>
    <p:sldId id="268" r:id="rId5"/>
    <p:sldId id="267" r:id="rId6"/>
    <p:sldId id="269" r:id="rId7"/>
    <p:sldId id="270" r:id="rId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7B54"/>
    <a:srgbClr val="6B72AA"/>
    <a:srgbClr val="EB6B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5" autoAdjust="0"/>
    <p:restoredTop sz="59176" autoAdjust="0"/>
  </p:normalViewPr>
  <p:slideViewPr>
    <p:cSldViewPr snapToGrid="0">
      <p:cViewPr varScale="1">
        <p:scale>
          <a:sx n="47" d="100"/>
          <a:sy n="47" d="100"/>
        </p:scale>
        <p:origin x="2222" y="58"/>
      </p:cViewPr>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Fabio\Desktop\Violencia_domesticas_estatisticas\B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Fabio\Desktop\Violencia_domesticas_estatisticas\B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Fabio\Desktop\Violencia_domesticas_estatisticas\B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Fabio\Desktop\Violencia_domesticas_estatisticas\B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Fabio\Desktop\Violencia_domesticas_estatisticas\BD.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6B72AA"/>
            </a:solidFill>
            <a:ln>
              <a:noFill/>
            </a:ln>
            <a:effectLst/>
          </c:spPr>
          <c:invertIfNegative val="0"/>
          <c:dPt>
            <c:idx val="0"/>
            <c:invertIfNegative val="0"/>
            <c:bubble3D val="0"/>
            <c:spPr>
              <a:solidFill>
                <a:srgbClr val="6B72AA"/>
              </a:solidFill>
              <a:ln>
                <a:noFill/>
              </a:ln>
              <a:effectLst/>
            </c:spPr>
            <c:extLst>
              <c:ext xmlns:c16="http://schemas.microsoft.com/office/drawing/2014/chart" uri="{C3380CC4-5D6E-409C-BE32-E72D297353CC}">
                <c16:uniqueId val="{00000001-0B2B-4060-B97C-92E699A9AB19}"/>
              </c:ext>
            </c:extLst>
          </c:dPt>
          <c:dPt>
            <c:idx val="1"/>
            <c:invertIfNegative val="0"/>
            <c:bubble3D val="0"/>
            <c:spPr>
              <a:solidFill>
                <a:srgbClr val="6B72AA"/>
              </a:solidFill>
              <a:ln>
                <a:noFill/>
              </a:ln>
              <a:effectLst/>
            </c:spPr>
            <c:extLst>
              <c:ext xmlns:c16="http://schemas.microsoft.com/office/drawing/2014/chart" uri="{C3380CC4-5D6E-409C-BE32-E72D297353CC}">
                <c16:uniqueId val="{00000003-0B2B-4060-B97C-92E699A9AB19}"/>
              </c:ext>
            </c:extLst>
          </c:dPt>
          <c:dPt>
            <c:idx val="2"/>
            <c:invertIfNegative val="0"/>
            <c:bubble3D val="0"/>
            <c:extLst>
              <c:ext xmlns:c16="http://schemas.microsoft.com/office/drawing/2014/chart" uri="{C3380CC4-5D6E-409C-BE32-E72D297353CC}">
                <c16:uniqueId val="{00000004-0B2B-4060-B97C-92E699A9AB19}"/>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TAB!$B$46:$B$49</c:f>
              <c:strCache>
                <c:ptCount val="4"/>
                <c:pt idx="0">
                  <c:v>COMGEP</c:v>
                </c:pt>
                <c:pt idx="1">
                  <c:v>CIAAR</c:v>
                </c:pt>
                <c:pt idx="2">
                  <c:v>AFA</c:v>
                </c:pt>
                <c:pt idx="3">
                  <c:v>EEAR</c:v>
                </c:pt>
              </c:strCache>
            </c:strRef>
          </c:cat>
          <c:val>
            <c:numRef>
              <c:f>TAB!$D$46:$D$49</c:f>
              <c:numCache>
                <c:formatCode>0.00</c:formatCode>
                <c:ptCount val="4"/>
                <c:pt idx="0">
                  <c:v>6.7944250871080136</c:v>
                </c:pt>
                <c:pt idx="1">
                  <c:v>9.5818815331010452</c:v>
                </c:pt>
                <c:pt idx="2">
                  <c:v>22.648083623693381</c:v>
                </c:pt>
                <c:pt idx="3">
                  <c:v>60.975609756097562</c:v>
                </c:pt>
              </c:numCache>
            </c:numRef>
          </c:val>
          <c:extLst>
            <c:ext xmlns:c16="http://schemas.microsoft.com/office/drawing/2014/chart" uri="{C3380CC4-5D6E-409C-BE32-E72D297353CC}">
              <c16:uniqueId val="{00000005-0B2B-4060-B97C-92E699A9AB19}"/>
            </c:ext>
          </c:extLst>
        </c:ser>
        <c:dLbls>
          <c:showLegendKey val="0"/>
          <c:showVal val="0"/>
          <c:showCatName val="0"/>
          <c:showSerName val="0"/>
          <c:showPercent val="0"/>
          <c:showBubbleSize val="0"/>
        </c:dLbls>
        <c:gapWidth val="99"/>
        <c:axId val="953856528"/>
        <c:axId val="953851728"/>
      </c:barChart>
      <c:catAx>
        <c:axId val="953856528"/>
        <c:scaling>
          <c:orientation val="minMax"/>
        </c:scaling>
        <c:delete val="0"/>
        <c:axPos val="l"/>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b="1"/>
                  <a:t>OE/OM</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1728"/>
        <c:crosses val="autoZero"/>
        <c:auto val="1"/>
        <c:lblAlgn val="ctr"/>
        <c:lblOffset val="100"/>
        <c:noMultiLvlLbl val="0"/>
      </c:catAx>
      <c:valAx>
        <c:axId val="953851728"/>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b="1"/>
                  <a:t>Percentual</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65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6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rgbClr val="6B72AA"/>
            </a:solidFill>
            <a:ln>
              <a:noFill/>
            </a:ln>
          </c:spPr>
          <c:dPt>
            <c:idx val="0"/>
            <c:bubble3D val="0"/>
            <c:spPr>
              <a:solidFill>
                <a:srgbClr val="6B72AA"/>
              </a:solidFill>
              <a:ln w="19050">
                <a:noFill/>
              </a:ln>
              <a:effectLst/>
            </c:spPr>
            <c:extLst>
              <c:ext xmlns:c16="http://schemas.microsoft.com/office/drawing/2014/chart" uri="{C3380CC4-5D6E-409C-BE32-E72D297353CC}">
                <c16:uniqueId val="{00000001-DF40-4186-B3B9-CB2B24D224B0}"/>
              </c:ext>
            </c:extLst>
          </c:dPt>
          <c:dPt>
            <c:idx val="1"/>
            <c:bubble3D val="0"/>
            <c:spPr>
              <a:solidFill>
                <a:srgbClr val="EB6B6A"/>
              </a:solidFill>
              <a:ln w="19050">
                <a:noFill/>
              </a:ln>
              <a:effectLst/>
            </c:spPr>
            <c:extLst>
              <c:ext xmlns:c16="http://schemas.microsoft.com/office/drawing/2014/chart" uri="{C3380CC4-5D6E-409C-BE32-E72D297353CC}">
                <c16:uniqueId val="{00000003-DF40-4186-B3B9-CB2B24D224B0}"/>
              </c:ext>
            </c:extLst>
          </c:dPt>
          <c:dLbls>
            <c:dLbl>
              <c:idx val="0"/>
              <c:layout>
                <c:manualLayout>
                  <c:x val="8.5323378070863515E-2"/>
                  <c:y val="2.6008487133990382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DF40-4186-B3B9-CB2B24D224B0}"/>
                </c:ext>
              </c:extLst>
            </c:dLbl>
            <c:dLbl>
              <c:idx val="1"/>
              <c:layout>
                <c:manualLayout>
                  <c:x val="-6.2828386562231678E-2"/>
                  <c:y val="-0.14965543656247773"/>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DF40-4186-B3B9-CB2B24D224B0}"/>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pt-BR"/>
              </a:p>
            </c:txPr>
            <c:showLegendKey val="0"/>
            <c:showVal val="1"/>
            <c:showCatName val="1"/>
            <c:showSerName val="0"/>
            <c:showPercent val="0"/>
            <c:showBubbleSize val="0"/>
            <c:separator>
</c:separator>
            <c:showLeaderLines val="0"/>
            <c:extLst>
              <c:ext xmlns:c15="http://schemas.microsoft.com/office/drawing/2012/chart" uri="{CE6537A1-D6FC-4f65-9D91-7224C49458BB}"/>
            </c:extLst>
          </c:dLbls>
          <c:cat>
            <c:strRef>
              <c:f>(TAB!$B$88,TAB!$B$89)</c:f>
              <c:strCache>
                <c:ptCount val="2"/>
                <c:pt idx="0">
                  <c:v>Discente</c:v>
                </c:pt>
                <c:pt idx="1">
                  <c:v>Graduada e Oficial</c:v>
                </c:pt>
              </c:strCache>
            </c:strRef>
          </c:cat>
          <c:val>
            <c:numRef>
              <c:f>(TAB!$G$88,TAB!$G$89)</c:f>
              <c:numCache>
                <c:formatCode>0.0%</c:formatCode>
                <c:ptCount val="2"/>
                <c:pt idx="0">
                  <c:v>0.66724738675958184</c:v>
                </c:pt>
                <c:pt idx="1">
                  <c:v>0.3327526132404181</c:v>
                </c:pt>
              </c:numCache>
            </c:numRef>
          </c:val>
          <c:extLst>
            <c:ext xmlns:c16="http://schemas.microsoft.com/office/drawing/2014/chart" uri="{C3380CC4-5D6E-409C-BE32-E72D297353CC}">
              <c16:uniqueId val="{00000004-DF40-4186-B3B9-CB2B24D224B0}"/>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ln>
              <a:noFill/>
            </a:ln>
          </c:spPr>
          <c:dPt>
            <c:idx val="0"/>
            <c:bubble3D val="0"/>
            <c:spPr>
              <a:solidFill>
                <a:srgbClr val="6B72AA"/>
              </a:solidFill>
              <a:ln w="19050">
                <a:noFill/>
              </a:ln>
              <a:effectLst/>
            </c:spPr>
            <c:extLst>
              <c:ext xmlns:c16="http://schemas.microsoft.com/office/drawing/2014/chart" uri="{C3380CC4-5D6E-409C-BE32-E72D297353CC}">
                <c16:uniqueId val="{00000001-A187-4825-AE0C-119FD21D8A11}"/>
              </c:ext>
            </c:extLst>
          </c:dPt>
          <c:dPt>
            <c:idx val="1"/>
            <c:bubble3D val="0"/>
            <c:spPr>
              <a:solidFill>
                <a:srgbClr val="EB6B6A"/>
              </a:solidFill>
              <a:ln w="19050">
                <a:noFill/>
              </a:ln>
              <a:effectLst/>
            </c:spPr>
            <c:extLst>
              <c:ext xmlns:c16="http://schemas.microsoft.com/office/drawing/2014/chart" uri="{C3380CC4-5D6E-409C-BE32-E72D297353CC}">
                <c16:uniqueId val="{00000003-A187-4825-AE0C-119FD21D8A11}"/>
              </c:ext>
            </c:extLst>
          </c:dPt>
          <c:dLbls>
            <c:dLbl>
              <c:idx val="0"/>
              <c:layout>
                <c:manualLayout>
                  <c:x val="-7.5517390600505871E-2"/>
                  <c:y val="-0.10082307467054444"/>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A187-4825-AE0C-119FD21D8A11}"/>
                </c:ext>
              </c:extLst>
            </c:dLbl>
            <c:dLbl>
              <c:idx val="1"/>
              <c:layout>
                <c:manualLayout>
                  <c:x val="3.2364595971645246E-2"/>
                  <c:y val="-0.17572021585437747"/>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A187-4825-AE0C-119FD21D8A11}"/>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pt-BR"/>
              </a:p>
            </c:txPr>
            <c:showLegendKey val="0"/>
            <c:showVal val="1"/>
            <c:showCatName val="1"/>
            <c:showSerName val="0"/>
            <c:showPercent val="0"/>
            <c:showBubbleSize val="0"/>
            <c:separator>
</c:separator>
            <c:showLeaderLines val="0"/>
            <c:extLst>
              <c:ext xmlns:c15="http://schemas.microsoft.com/office/drawing/2012/chart" uri="{CE6537A1-D6FC-4f65-9D91-7224C49458BB}"/>
            </c:extLst>
          </c:dLbls>
          <c:cat>
            <c:strRef>
              <c:f>(TAB!$B$100,TAB!$B$101)</c:f>
              <c:strCache>
                <c:ptCount val="2"/>
                <c:pt idx="0">
                  <c:v>Não</c:v>
                </c:pt>
                <c:pt idx="1">
                  <c:v>Sim</c:v>
                </c:pt>
              </c:strCache>
            </c:strRef>
          </c:cat>
          <c:val>
            <c:numRef>
              <c:f>(TAB!$D$100,TAB!$D$101)</c:f>
              <c:numCache>
                <c:formatCode>0.0%</c:formatCode>
                <c:ptCount val="2"/>
                <c:pt idx="0">
                  <c:v>0.42160278745644597</c:v>
                </c:pt>
                <c:pt idx="1">
                  <c:v>0.57839721254355403</c:v>
                </c:pt>
              </c:numCache>
            </c:numRef>
          </c:val>
          <c:extLst>
            <c:ext xmlns:c16="http://schemas.microsoft.com/office/drawing/2014/chart" uri="{C3380CC4-5D6E-409C-BE32-E72D297353CC}">
              <c16:uniqueId val="{00000004-A187-4825-AE0C-119FD21D8A11}"/>
            </c:ext>
          </c:extLst>
        </c:ser>
        <c:dLbls>
          <c:showLegendKey val="0"/>
          <c:showVal val="0"/>
          <c:showCatName val="0"/>
          <c:showSerName val="0"/>
          <c:showPercent val="0"/>
          <c:showBubbleSize val="0"/>
          <c:showLeaderLines val="0"/>
        </c:dLbls>
        <c:firstSliceAng val="172"/>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TABELAS!$B$11</c:f>
              <c:strCache>
                <c:ptCount val="1"/>
                <c:pt idx="0">
                  <c:v>Não</c:v>
                </c:pt>
              </c:strCache>
            </c:strRef>
          </c:tx>
          <c:spPr>
            <a:solidFill>
              <a:srgbClr val="6B72AA"/>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TABELAS!$C$9:$H$9</c:f>
              <c:strCache>
                <c:ptCount val="6"/>
                <c:pt idx="0">
                  <c:v>AFA Discente</c:v>
                </c:pt>
                <c:pt idx="1">
                  <c:v>AFA Efetivo</c:v>
                </c:pt>
                <c:pt idx="2">
                  <c:v>EEAR Discente</c:v>
                </c:pt>
                <c:pt idx="3">
                  <c:v>EEAR Efetivo</c:v>
                </c:pt>
                <c:pt idx="4">
                  <c:v>CIAAR Discente</c:v>
                </c:pt>
                <c:pt idx="5">
                  <c:v>COMGEP</c:v>
                </c:pt>
              </c:strCache>
            </c:strRef>
          </c:cat>
          <c:val>
            <c:numRef>
              <c:f>TABELAS!$C$11:$H$11</c:f>
              <c:numCache>
                <c:formatCode>0.00</c:formatCode>
                <c:ptCount val="6"/>
                <c:pt idx="0">
                  <c:v>45.054945054945058</c:v>
                </c:pt>
                <c:pt idx="1">
                  <c:v>28.205128205128204</c:v>
                </c:pt>
                <c:pt idx="2">
                  <c:v>52.742616033755276</c:v>
                </c:pt>
                <c:pt idx="3">
                  <c:v>41.592920353982301</c:v>
                </c:pt>
                <c:pt idx="4">
                  <c:v>18.181818181818183</c:v>
                </c:pt>
                <c:pt idx="5">
                  <c:v>20.512820512820511</c:v>
                </c:pt>
              </c:numCache>
            </c:numRef>
          </c:val>
          <c:extLst>
            <c:ext xmlns:c16="http://schemas.microsoft.com/office/drawing/2014/chart" uri="{C3380CC4-5D6E-409C-BE32-E72D297353CC}">
              <c16:uniqueId val="{00000000-ED05-4766-BFF5-7BFAEFA5C1ED}"/>
            </c:ext>
          </c:extLst>
        </c:ser>
        <c:ser>
          <c:idx val="1"/>
          <c:order val="1"/>
          <c:tx>
            <c:strRef>
              <c:f>TABELAS!$B$12</c:f>
              <c:strCache>
                <c:ptCount val="1"/>
                <c:pt idx="0">
                  <c:v>Sim</c:v>
                </c:pt>
              </c:strCache>
            </c:strRef>
          </c:tx>
          <c:spPr>
            <a:solidFill>
              <a:srgbClr val="EB6B6A"/>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TABELAS!$C$9:$H$9</c:f>
              <c:strCache>
                <c:ptCount val="6"/>
                <c:pt idx="0">
                  <c:v>AFA Discente</c:v>
                </c:pt>
                <c:pt idx="1">
                  <c:v>AFA Efetivo</c:v>
                </c:pt>
                <c:pt idx="2">
                  <c:v>EEAR Discente</c:v>
                </c:pt>
                <c:pt idx="3">
                  <c:v>EEAR Efetivo</c:v>
                </c:pt>
                <c:pt idx="4">
                  <c:v>CIAAR Discente</c:v>
                </c:pt>
                <c:pt idx="5">
                  <c:v>COMGEP</c:v>
                </c:pt>
              </c:strCache>
            </c:strRef>
          </c:cat>
          <c:val>
            <c:numRef>
              <c:f>TABELAS!$C$12:$H$12</c:f>
              <c:numCache>
                <c:formatCode>0.00</c:formatCode>
                <c:ptCount val="6"/>
                <c:pt idx="0">
                  <c:v>54.945054945054949</c:v>
                </c:pt>
                <c:pt idx="1">
                  <c:v>71.794871794871796</c:v>
                </c:pt>
                <c:pt idx="2">
                  <c:v>47.257383966244724</c:v>
                </c:pt>
                <c:pt idx="3">
                  <c:v>58.407079646017699</c:v>
                </c:pt>
                <c:pt idx="4">
                  <c:v>81.818181818181827</c:v>
                </c:pt>
                <c:pt idx="5">
                  <c:v>79.487179487179489</c:v>
                </c:pt>
              </c:numCache>
            </c:numRef>
          </c:val>
          <c:extLst>
            <c:ext xmlns:c16="http://schemas.microsoft.com/office/drawing/2014/chart" uri="{C3380CC4-5D6E-409C-BE32-E72D297353CC}">
              <c16:uniqueId val="{00000001-ED05-4766-BFF5-7BFAEFA5C1ED}"/>
            </c:ext>
          </c:extLst>
        </c:ser>
        <c:dLbls>
          <c:showLegendKey val="0"/>
          <c:showVal val="0"/>
          <c:showCatName val="0"/>
          <c:showSerName val="0"/>
          <c:showPercent val="0"/>
          <c:showBubbleSize val="0"/>
        </c:dLbls>
        <c:gapWidth val="99"/>
        <c:overlap val="100"/>
        <c:axId val="953856528"/>
        <c:axId val="953851728"/>
      </c:barChart>
      <c:catAx>
        <c:axId val="953856528"/>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b="1"/>
                  <a:t>OE/OM</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1728"/>
        <c:crosses val="autoZero"/>
        <c:auto val="1"/>
        <c:lblAlgn val="ctr"/>
        <c:lblOffset val="100"/>
        <c:noMultiLvlLbl val="0"/>
      </c:catAx>
      <c:valAx>
        <c:axId val="953851728"/>
        <c:scaling>
          <c:orientation val="minMax"/>
          <c:max val="100"/>
        </c:scaling>
        <c:delete val="0"/>
        <c:axPos val="l"/>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b="1"/>
                  <a:t>Percentual</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6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600"/>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rgbClr val="EB6B6A"/>
            </a:solidFill>
            <a:ln>
              <a:noFill/>
            </a:ln>
            <a:effectLst/>
          </c:spPr>
          <c:invertIfNegative val="0"/>
          <c:dPt>
            <c:idx val="0"/>
            <c:invertIfNegative val="0"/>
            <c:bubble3D val="0"/>
            <c:spPr>
              <a:solidFill>
                <a:srgbClr val="EB6B6A"/>
              </a:solidFill>
              <a:ln>
                <a:noFill/>
              </a:ln>
              <a:effectLst/>
            </c:spPr>
            <c:extLst>
              <c:ext xmlns:c16="http://schemas.microsoft.com/office/drawing/2014/chart" uri="{C3380CC4-5D6E-409C-BE32-E72D297353CC}">
                <c16:uniqueId val="{00000001-5AFE-4585-B146-0E230B63BA89}"/>
              </c:ext>
            </c:extLst>
          </c:dPt>
          <c:dPt>
            <c:idx val="1"/>
            <c:invertIfNegative val="0"/>
            <c:bubble3D val="0"/>
            <c:spPr>
              <a:solidFill>
                <a:srgbClr val="EB6B6A"/>
              </a:solidFill>
              <a:ln>
                <a:noFill/>
              </a:ln>
              <a:effectLst/>
            </c:spPr>
            <c:extLst>
              <c:ext xmlns:c16="http://schemas.microsoft.com/office/drawing/2014/chart" uri="{C3380CC4-5D6E-409C-BE32-E72D297353CC}">
                <c16:uniqueId val="{00000003-5AFE-4585-B146-0E230B63BA89}"/>
              </c:ext>
            </c:extLst>
          </c:dPt>
          <c:dPt>
            <c:idx val="2"/>
            <c:invertIfNegative val="0"/>
            <c:bubble3D val="0"/>
            <c:extLst>
              <c:ext xmlns:c16="http://schemas.microsoft.com/office/drawing/2014/chart" uri="{C3380CC4-5D6E-409C-BE32-E72D297353CC}">
                <c16:uniqueId val="{00000004-5AFE-4585-B146-0E230B63BA89}"/>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VIOLENCIAS!$N$11:$N$15</c:f>
              <c:strCache>
                <c:ptCount val="5"/>
                <c:pt idx="0">
                  <c:v>Violência Patrimonial</c:v>
                </c:pt>
                <c:pt idx="1">
                  <c:v>Violência Física</c:v>
                </c:pt>
                <c:pt idx="2">
                  <c:v>Violência Sexual</c:v>
                </c:pt>
                <c:pt idx="3">
                  <c:v>Violência Moral</c:v>
                </c:pt>
                <c:pt idx="4">
                  <c:v>Violência Psicológica</c:v>
                </c:pt>
              </c:strCache>
            </c:strRef>
          </c:cat>
          <c:val>
            <c:numRef>
              <c:f>VIOLENCIAS!$V$11:$V$15</c:f>
              <c:numCache>
                <c:formatCode>0.0</c:formatCode>
                <c:ptCount val="5"/>
                <c:pt idx="0">
                  <c:v>6.1764705882352944</c:v>
                </c:pt>
                <c:pt idx="1">
                  <c:v>11.029411764705882</c:v>
                </c:pt>
                <c:pt idx="2">
                  <c:v>16.029411764705884</c:v>
                </c:pt>
                <c:pt idx="3">
                  <c:v>26.764705882352942</c:v>
                </c:pt>
                <c:pt idx="4">
                  <c:v>40</c:v>
                </c:pt>
              </c:numCache>
            </c:numRef>
          </c:val>
          <c:extLst>
            <c:ext xmlns:c16="http://schemas.microsoft.com/office/drawing/2014/chart" uri="{C3380CC4-5D6E-409C-BE32-E72D297353CC}">
              <c16:uniqueId val="{00000005-5AFE-4585-B146-0E230B63BA89}"/>
            </c:ext>
          </c:extLst>
        </c:ser>
        <c:dLbls>
          <c:showLegendKey val="0"/>
          <c:showVal val="0"/>
          <c:showCatName val="0"/>
          <c:showSerName val="0"/>
          <c:showPercent val="0"/>
          <c:showBubbleSize val="0"/>
        </c:dLbls>
        <c:gapWidth val="99"/>
        <c:axId val="953856528"/>
        <c:axId val="953851728"/>
      </c:barChart>
      <c:catAx>
        <c:axId val="953856528"/>
        <c:scaling>
          <c:orientation val="minMax"/>
        </c:scaling>
        <c:delete val="0"/>
        <c:axPos val="l"/>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a:t>Violência</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1728"/>
        <c:crosses val="autoZero"/>
        <c:auto val="1"/>
        <c:lblAlgn val="ctr"/>
        <c:lblOffset val="100"/>
        <c:noMultiLvlLbl val="0"/>
      </c:catAx>
      <c:valAx>
        <c:axId val="953851728"/>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pt-BR"/>
                  <a:t>Percentual</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pt-BR"/>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pt-BR"/>
          </a:p>
        </c:txPr>
        <c:crossAx val="95385652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sz="1600"/>
      </a:pPr>
      <a:endParaRPr lang="pt-B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VIOLENCIAS!$N$44</c:f>
              <c:strCache>
                <c:ptCount val="1"/>
                <c:pt idx="0">
                  <c:v>Violência Patrimonial</c:v>
                </c:pt>
              </c:strCache>
            </c:strRef>
          </c:tx>
          <c:spPr>
            <a:solidFill>
              <a:schemeClr val="bg2">
                <a:lumMod val="75000"/>
              </a:schemeClr>
            </a:solidFill>
            <a:ln>
              <a:noFill/>
            </a:ln>
            <a:effectLst/>
          </c:spPr>
          <c:invertIfNegative val="0"/>
          <c:dLbls>
            <c:dLbl>
              <c:idx val="0"/>
              <c:layout>
                <c:manualLayout>
                  <c:x val="-1.0298041455920878E-17"/>
                  <c:y val="4.118055399187347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29-4FAE-BD08-C5CF29E43FF4}"/>
                </c:ext>
              </c:extLst>
            </c:dLbl>
            <c:dLbl>
              <c:idx val="5"/>
              <c:layout>
                <c:manualLayout>
                  <c:x val="0"/>
                  <c:y val="9.55420337951631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29-4FAE-BD08-C5CF29E43FF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VIOLENCIAS!$O$42:$T$43</c:f>
              <c:strCache>
                <c:ptCount val="6"/>
                <c:pt idx="0">
                  <c:v>AFA Discente</c:v>
                </c:pt>
                <c:pt idx="1">
                  <c:v>AFA Efetivo</c:v>
                </c:pt>
                <c:pt idx="2">
                  <c:v>EEAR Discente</c:v>
                </c:pt>
                <c:pt idx="3">
                  <c:v>EEAR Efetivo</c:v>
                </c:pt>
                <c:pt idx="4">
                  <c:v>CIAAR Discente</c:v>
                </c:pt>
                <c:pt idx="5">
                  <c:v>COMGEP</c:v>
                </c:pt>
              </c:strCache>
            </c:strRef>
          </c:cat>
          <c:val>
            <c:numRef>
              <c:f>VIOLENCIAS!$O$44:$T$44</c:f>
              <c:numCache>
                <c:formatCode>0.0</c:formatCode>
                <c:ptCount val="6"/>
                <c:pt idx="0">
                  <c:v>2.4096385542168677</c:v>
                </c:pt>
                <c:pt idx="1">
                  <c:v>7.3529411764705879</c:v>
                </c:pt>
                <c:pt idx="2">
                  <c:v>3.4146341463414638</c:v>
                </c:pt>
                <c:pt idx="3">
                  <c:v>4.7244094488188972</c:v>
                </c:pt>
                <c:pt idx="4">
                  <c:v>11.363636363636363</c:v>
                </c:pt>
                <c:pt idx="5">
                  <c:v>10.769230769230768</c:v>
                </c:pt>
              </c:numCache>
            </c:numRef>
          </c:val>
          <c:extLst>
            <c:ext xmlns:c16="http://schemas.microsoft.com/office/drawing/2014/chart" uri="{C3380CC4-5D6E-409C-BE32-E72D297353CC}">
              <c16:uniqueId val="{00000002-FD29-4FAE-BD08-C5CF29E43FF4}"/>
            </c:ext>
          </c:extLst>
        </c:ser>
        <c:ser>
          <c:idx val="1"/>
          <c:order val="1"/>
          <c:tx>
            <c:strRef>
              <c:f>VIOLENCIAS!$N$45</c:f>
              <c:strCache>
                <c:ptCount val="1"/>
                <c:pt idx="0">
                  <c:v>Violência Física</c:v>
                </c:pt>
              </c:strCache>
            </c:strRef>
          </c:tx>
          <c:spPr>
            <a:solidFill>
              <a:srgbClr val="DE7B54"/>
            </a:solidFill>
            <a:ln>
              <a:noFill/>
            </a:ln>
            <a:effectLst/>
          </c:spPr>
          <c:invertIfNegative val="0"/>
          <c:dLbls>
            <c:dLbl>
              <c:idx val="4"/>
              <c:layout>
                <c:manualLayout>
                  <c:x val="1.1234356821571406E-3"/>
                  <c:y val="0.1077628106940073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D29-4FAE-BD08-C5CF29E43FF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VIOLENCIAS!$O$42:$T$43</c:f>
              <c:strCache>
                <c:ptCount val="6"/>
                <c:pt idx="0">
                  <c:v>AFA Discente</c:v>
                </c:pt>
                <c:pt idx="1">
                  <c:v>AFA Efetivo</c:v>
                </c:pt>
                <c:pt idx="2">
                  <c:v>EEAR Discente</c:v>
                </c:pt>
                <c:pt idx="3">
                  <c:v>EEAR Efetivo</c:v>
                </c:pt>
                <c:pt idx="4">
                  <c:v>CIAAR Discente</c:v>
                </c:pt>
                <c:pt idx="5">
                  <c:v>COMGEP</c:v>
                </c:pt>
              </c:strCache>
            </c:strRef>
          </c:cat>
          <c:val>
            <c:numRef>
              <c:f>VIOLENCIAS!$O$45:$T$45</c:f>
              <c:numCache>
                <c:formatCode>0.0</c:formatCode>
                <c:ptCount val="6"/>
                <c:pt idx="0">
                  <c:v>6.024096385542169</c:v>
                </c:pt>
                <c:pt idx="1">
                  <c:v>8.8235294117647047</c:v>
                </c:pt>
                <c:pt idx="2">
                  <c:v>10.731707317073171</c:v>
                </c:pt>
                <c:pt idx="3">
                  <c:v>10.236220472440944</c:v>
                </c:pt>
                <c:pt idx="4">
                  <c:v>16.666666666666664</c:v>
                </c:pt>
                <c:pt idx="5">
                  <c:v>10.769230769230768</c:v>
                </c:pt>
              </c:numCache>
            </c:numRef>
          </c:val>
          <c:extLst>
            <c:ext xmlns:c16="http://schemas.microsoft.com/office/drawing/2014/chart" uri="{C3380CC4-5D6E-409C-BE32-E72D297353CC}">
              <c16:uniqueId val="{00000004-FD29-4FAE-BD08-C5CF29E43FF4}"/>
            </c:ext>
          </c:extLst>
        </c:ser>
        <c:ser>
          <c:idx val="2"/>
          <c:order val="2"/>
          <c:tx>
            <c:strRef>
              <c:f>VIOLENCIAS!$N$46</c:f>
              <c:strCache>
                <c:ptCount val="1"/>
                <c:pt idx="0">
                  <c:v>Violência Sexual</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VIOLENCIAS!$O$42:$T$43</c:f>
              <c:strCache>
                <c:ptCount val="6"/>
                <c:pt idx="0">
                  <c:v>AFA Discente</c:v>
                </c:pt>
                <c:pt idx="1">
                  <c:v>AFA Efetivo</c:v>
                </c:pt>
                <c:pt idx="2">
                  <c:v>EEAR Discente</c:v>
                </c:pt>
                <c:pt idx="3">
                  <c:v>EEAR Efetivo</c:v>
                </c:pt>
                <c:pt idx="4">
                  <c:v>CIAAR Discente</c:v>
                </c:pt>
                <c:pt idx="5">
                  <c:v>COMGEP</c:v>
                </c:pt>
              </c:strCache>
            </c:strRef>
          </c:cat>
          <c:val>
            <c:numRef>
              <c:f>VIOLENCIAS!$O$46:$T$46</c:f>
              <c:numCache>
                <c:formatCode>0.0</c:formatCode>
                <c:ptCount val="6"/>
                <c:pt idx="0">
                  <c:v>20.481927710843376</c:v>
                </c:pt>
                <c:pt idx="1">
                  <c:v>13.235294117647058</c:v>
                </c:pt>
                <c:pt idx="2">
                  <c:v>16.097560975609756</c:v>
                </c:pt>
                <c:pt idx="3">
                  <c:v>18.110236220472441</c:v>
                </c:pt>
                <c:pt idx="4">
                  <c:v>16.666666666666664</c:v>
                </c:pt>
                <c:pt idx="5">
                  <c:v>7.6923076923076916</c:v>
                </c:pt>
              </c:numCache>
            </c:numRef>
          </c:val>
          <c:extLst>
            <c:ext xmlns:c16="http://schemas.microsoft.com/office/drawing/2014/chart" uri="{C3380CC4-5D6E-409C-BE32-E72D297353CC}">
              <c16:uniqueId val="{00000005-FD29-4FAE-BD08-C5CF29E43FF4}"/>
            </c:ext>
          </c:extLst>
        </c:ser>
        <c:ser>
          <c:idx val="3"/>
          <c:order val="3"/>
          <c:tx>
            <c:strRef>
              <c:f>VIOLENCIAS!$N$47</c:f>
              <c:strCache>
                <c:ptCount val="1"/>
                <c:pt idx="0">
                  <c:v>Violência Moral</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mn-lt"/>
                    <a:ea typeface="+mn-ea"/>
                    <a:cs typeface="+mn-cs"/>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VIOLENCIAS!$O$42:$T$43</c:f>
              <c:strCache>
                <c:ptCount val="6"/>
                <c:pt idx="0">
                  <c:v>AFA Discente</c:v>
                </c:pt>
                <c:pt idx="1">
                  <c:v>AFA Efetivo</c:v>
                </c:pt>
                <c:pt idx="2">
                  <c:v>EEAR Discente</c:v>
                </c:pt>
                <c:pt idx="3">
                  <c:v>EEAR Efetivo</c:v>
                </c:pt>
                <c:pt idx="4">
                  <c:v>CIAAR Discente</c:v>
                </c:pt>
                <c:pt idx="5">
                  <c:v>COMGEP</c:v>
                </c:pt>
              </c:strCache>
            </c:strRef>
          </c:cat>
          <c:val>
            <c:numRef>
              <c:f>VIOLENCIAS!$O$47:$T$47</c:f>
              <c:numCache>
                <c:formatCode>0.0</c:formatCode>
                <c:ptCount val="6"/>
                <c:pt idx="0">
                  <c:v>32.53012048192771</c:v>
                </c:pt>
                <c:pt idx="1">
                  <c:v>33.823529411764703</c:v>
                </c:pt>
                <c:pt idx="2">
                  <c:v>25.853658536585368</c:v>
                </c:pt>
                <c:pt idx="3">
                  <c:v>25.196850393700785</c:v>
                </c:pt>
                <c:pt idx="4">
                  <c:v>23.484848484848484</c:v>
                </c:pt>
                <c:pt idx="5">
                  <c:v>24.615384615384613</c:v>
                </c:pt>
              </c:numCache>
            </c:numRef>
          </c:val>
          <c:extLst>
            <c:ext xmlns:c16="http://schemas.microsoft.com/office/drawing/2014/chart" uri="{C3380CC4-5D6E-409C-BE32-E72D297353CC}">
              <c16:uniqueId val="{00000006-FD29-4FAE-BD08-C5CF29E43FF4}"/>
            </c:ext>
          </c:extLst>
        </c:ser>
        <c:ser>
          <c:idx val="4"/>
          <c:order val="4"/>
          <c:tx>
            <c:strRef>
              <c:f>VIOLENCIAS!$N$48</c:f>
              <c:strCache>
                <c:ptCount val="1"/>
                <c:pt idx="0">
                  <c:v>Violência Psicológica</c:v>
                </c:pt>
              </c:strCache>
            </c:strRef>
          </c:tx>
          <c:spPr>
            <a:solidFill>
              <a:schemeClr val="accent2">
                <a:shade val="53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mn-lt"/>
                    <a:ea typeface="+mn-ea"/>
                    <a:cs typeface="+mn-cs"/>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VIOLENCIAS!$O$42:$T$43</c:f>
              <c:strCache>
                <c:ptCount val="6"/>
                <c:pt idx="0">
                  <c:v>AFA Discente</c:v>
                </c:pt>
                <c:pt idx="1">
                  <c:v>AFA Efetivo</c:v>
                </c:pt>
                <c:pt idx="2">
                  <c:v>EEAR Discente</c:v>
                </c:pt>
                <c:pt idx="3">
                  <c:v>EEAR Efetivo</c:v>
                </c:pt>
                <c:pt idx="4">
                  <c:v>CIAAR Discente</c:v>
                </c:pt>
                <c:pt idx="5">
                  <c:v>COMGEP</c:v>
                </c:pt>
              </c:strCache>
            </c:strRef>
          </c:cat>
          <c:val>
            <c:numRef>
              <c:f>VIOLENCIAS!$O$48:$T$48</c:f>
              <c:numCache>
                <c:formatCode>0.0</c:formatCode>
                <c:ptCount val="6"/>
                <c:pt idx="0">
                  <c:v>38.554216867469883</c:v>
                </c:pt>
                <c:pt idx="1">
                  <c:v>36.764705882352942</c:v>
                </c:pt>
                <c:pt idx="2">
                  <c:v>43.902439024390247</c:v>
                </c:pt>
                <c:pt idx="3">
                  <c:v>41.732283464566926</c:v>
                </c:pt>
                <c:pt idx="4">
                  <c:v>31.818181818181817</c:v>
                </c:pt>
                <c:pt idx="5">
                  <c:v>46.153846153846153</c:v>
                </c:pt>
              </c:numCache>
            </c:numRef>
          </c:val>
          <c:extLst>
            <c:ext xmlns:c16="http://schemas.microsoft.com/office/drawing/2014/chart" uri="{C3380CC4-5D6E-409C-BE32-E72D297353CC}">
              <c16:uniqueId val="{00000007-FD29-4FAE-BD08-C5CF29E43FF4}"/>
            </c:ext>
          </c:extLst>
        </c:ser>
        <c:dLbls>
          <c:showLegendKey val="0"/>
          <c:showVal val="0"/>
          <c:showCatName val="0"/>
          <c:showSerName val="0"/>
          <c:showPercent val="0"/>
          <c:showBubbleSize val="0"/>
        </c:dLbls>
        <c:gapWidth val="83"/>
        <c:axId val="1114124176"/>
        <c:axId val="1114126576"/>
      </c:barChart>
      <c:catAx>
        <c:axId val="1114124176"/>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pt-BR" b="1"/>
                  <a:t>OE/OM</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pt-B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pt-BR"/>
          </a:p>
        </c:txPr>
        <c:crossAx val="1114126576"/>
        <c:crosses val="autoZero"/>
        <c:auto val="1"/>
        <c:lblAlgn val="ctr"/>
        <c:lblOffset val="100"/>
        <c:noMultiLvlLbl val="0"/>
      </c:catAx>
      <c:valAx>
        <c:axId val="1114126576"/>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pt-BR" b="1"/>
                  <a:t>Percentual</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pt-BR"/>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pt-BR"/>
          </a:p>
        </c:txPr>
        <c:crossAx val="1114124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w="9525" cap="flat" cmpd="sng" algn="ctr">
      <a:noFill/>
      <a:round/>
    </a:ln>
    <a:effectLst/>
  </c:spPr>
  <c:txPr>
    <a:bodyPr/>
    <a:lstStyle/>
    <a:p>
      <a:pPr>
        <a:defRPr sz="1400"/>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99AAD4-F8C9-4AFF-BC42-3ADD08BC5233}" type="datetimeFigureOut">
              <a:rPr lang="pt-BR" smtClean="0"/>
              <a:t>22/11/2025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2520CB-9C8D-48D3-BB7B-3B4B9A7E9063}" type="slidenum">
              <a:rPr lang="pt-BR" smtClean="0"/>
              <a:t>‹nº›</a:t>
            </a:fld>
            <a:endParaRPr lang="pt-BR"/>
          </a:p>
        </p:txBody>
      </p:sp>
    </p:spTree>
    <p:extLst>
      <p:ext uri="{BB962C8B-B14F-4D97-AF65-F5344CB8AC3E}">
        <p14:creationId xmlns:p14="http://schemas.microsoft.com/office/powerpoint/2010/main" val="230076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582F-37AB-0D62-70D8-3435584686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7A4F993-9724-D69F-B3E4-83A77BD019A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073C26F-9039-3500-1DC0-F4639B79EDD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D1F87C22-1583-F7A2-F73B-5C82329EC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520CB-9C8D-48D3-BB7B-3B4B9A7E9063}"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1683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Observa-se que maioria das respondentes é da EEAR, com 60,98% (350 militares). Por conseguinte, tem-se AFA, com 22,65% (130 respondentes), CIAAR, com 9,58% (55 participantes) e o COMGEP, com 6,79% (39 participantes).  Percebe-se que mais de 90% das militares que participaram da pesquisa pertencem às escolas (AFA, EEAR, CIAAR). </a:t>
            </a:r>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2</a:t>
            </a:fld>
            <a:endParaRPr lang="pt-BR"/>
          </a:p>
        </p:txBody>
      </p:sp>
    </p:spTree>
    <p:extLst>
      <p:ext uri="{BB962C8B-B14F-4D97-AF65-F5344CB8AC3E}">
        <p14:creationId xmlns:p14="http://schemas.microsoft.com/office/powerpoint/2010/main" val="1518002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Posto/graduação </a:t>
            </a:r>
          </a:p>
          <a:p>
            <a:endParaRPr lang="pt-BR" b="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dirty="0"/>
              <a:t>A Pesquisa foi realizada com as discentes e efetivo do corpo feminino das OE e OM. </a:t>
            </a:r>
          </a:p>
          <a:p>
            <a:endParaRPr lang="pt-BR" b="0" dirty="0"/>
          </a:p>
          <a:p>
            <a:r>
              <a:rPr lang="pt-BR" b="0" dirty="0"/>
              <a:t>A maior parte dos respondentes é composta por discentes, que representam 66,7% do total (383 indivíduos), enquanto graduados e oficiais correspondem a 33,3% (191 participantes). </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3</a:t>
            </a:fld>
            <a:endParaRPr lang="pt-BR"/>
          </a:p>
        </p:txBody>
      </p:sp>
    </p:spTree>
    <p:extLst>
      <p:ext uri="{BB962C8B-B14F-4D97-AF65-F5344CB8AC3E}">
        <p14:creationId xmlns:p14="http://schemas.microsoft.com/office/powerpoint/2010/main" val="50805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Percebe-se que 57,8% das participantes relataram ter sofrido algum tipo de violência, ou seja mais da metade das mulheres respondentes vivenciaram situações de violência ao longo da vida, o que evidencia a magnitude do problema dentro deste grupo. Enquanto que 42,2% não relataram violência.</a:t>
            </a:r>
          </a:p>
          <a:p>
            <a:endParaRPr lang="pt-BR" b="0" dirty="0"/>
          </a:p>
          <a:p>
            <a:r>
              <a:rPr lang="pt-BR" b="0" dirty="0"/>
              <a:t>A alta prevalência de violência dentro do corpo feminino é relevante, trata-se de um grupo para o qual estudos nacionais e internacionais já apontam maior exposição a violências de diversas naturezas.</a:t>
            </a:r>
          </a:p>
          <a:p>
            <a:endParaRPr lang="pt-BR" dirty="0"/>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4</a:t>
            </a:fld>
            <a:endParaRPr lang="pt-BR"/>
          </a:p>
        </p:txBody>
      </p:sp>
    </p:spTree>
    <p:extLst>
      <p:ext uri="{BB962C8B-B14F-4D97-AF65-F5344CB8AC3E}">
        <p14:creationId xmlns:p14="http://schemas.microsoft.com/office/powerpoint/2010/main" val="2414804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Observa-se que a parcela de mulheres que afirmam ter sofrido violência é maior em todos os grupos de efetivo (graduadas e oficiais) quando comparados aos grupos de discentes. Na AFA, por exemplo, enquanto 54,95% das discentes relataram violência, esse percentual sobe para 71,79% entre o efetivo feminino. Na EEAR, o padrão se repete, onde 47,26% das alunas afirmaram ter sofrido violência e 58,41% militares do corpo efetivo feminino.</a:t>
            </a:r>
          </a:p>
          <a:p>
            <a:endParaRPr lang="pt-BR" dirty="0"/>
          </a:p>
          <a:p>
            <a:r>
              <a:rPr lang="pt-BR" b="0" dirty="0"/>
              <a:t>No CIAAR, onde todas as respondentes são discentes, o percentual de relatos é bastante elevado (81,82%), indicando que, mesmo dentro do público discente, há variações expressivas entre instituições. Já na COMGEP, formada exclusivamente por graduadas e oficiais, 79,49% relataram ter sofrido algum tipo de violência, valor também muito alto.</a:t>
            </a:r>
          </a:p>
          <a:p>
            <a:endParaRPr lang="pt-BR" dirty="0"/>
          </a:p>
          <a:p>
            <a:r>
              <a:rPr lang="pt-BR" dirty="0"/>
              <a:t>Destaca-se que, entre as discentes da AFA e da EEAR (jovens na faixa etária de 17 a 23 anos), uma proporção expressiva relata já ter sofrido algum tipo de violência ao longo da vida. O fato de 54,95% das alunas da AFA e 47,26% das alunas da EEAR afirmarem terem vivenciado episódios de violência indica um cenário de vulnerabilidade que pode ter ocorrido antes do ingresso nas instituições de ensino. Trata-se de um problema inserido em um contexto social mais amplo, o que evidencia que parte significativa das jovens que chegam às Escolas da Força Aérea pode apresentar histórico de exposição a situações adversas. Tal constatação reforça a necessidade de atenção institucional ao acolhimento, ao acompanhamento e às ações preventivas voltadas a esse público, considerando os possíveis impactos psicossociais decorrentes dessas vivências precoces e suas implicações nas atividades de ensino e aprendizagem, que podem influenciar inclusive o desempenho operacional.</a:t>
            </a:r>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5</a:t>
            </a:fld>
            <a:endParaRPr lang="pt-BR"/>
          </a:p>
        </p:txBody>
      </p:sp>
    </p:spTree>
    <p:extLst>
      <p:ext uri="{BB962C8B-B14F-4D97-AF65-F5344CB8AC3E}">
        <p14:creationId xmlns:p14="http://schemas.microsoft.com/office/powerpoint/2010/main" val="4167049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Observa-se que ocorrências não se concentram em uma única modalidade, mas abrangem diferentes formas de violência, com preponderância da violência psicológica (40,0% ; 272), seguida pela violência moral, com 26,8% (182 registros), e pela violência sexual, responsável por 16,0% (109 relatos).  Além disso, percebe-se que 11%  das violências relatadas são físicas (75 ocorrências), enquanto a violência patrimonial corresponde a 6,2% (42 registros). </a:t>
            </a:r>
          </a:p>
          <a:p>
            <a:endParaRPr lang="pt-BR" dirty="0"/>
          </a:p>
          <a:p>
            <a:r>
              <a:rPr lang="pt-BR" dirty="0"/>
              <a:t>Destaca-se que o total de registros de violências (680 ocorrências) é duas vezes maior ao número de militares vítimas de violência (334), pois cada participante pôde indicar mais de um tipo de violência no questionário. Isto reflete que grande parte das mulheres que afirmaram ter sofrido violência a vivenciaram de múltiplas formas, indicando sobreposição entre violências psicológicas, morais, sexuais, físicas e patrimoniais. </a:t>
            </a:r>
          </a:p>
          <a:p>
            <a:endParaRPr lang="pt-BR" dirty="0"/>
          </a:p>
          <a:p>
            <a:r>
              <a:rPr lang="pt-BR" dirty="0"/>
              <a:t>Este contexto é coerente com estudos de violência contra mulheres, os quais apontam que a violência contra mulheres frequentemente se manifesta de maneira combinada, intensificando seus efeitos psicossociais e ampliando a complexidade das situações vivenciadas.</a:t>
            </a:r>
          </a:p>
          <a:p>
            <a:endParaRPr lang="pt-BR" dirty="0"/>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6</a:t>
            </a:fld>
            <a:endParaRPr lang="pt-BR"/>
          </a:p>
        </p:txBody>
      </p:sp>
    </p:spTree>
    <p:extLst>
      <p:ext uri="{BB962C8B-B14F-4D97-AF65-F5344CB8AC3E}">
        <p14:creationId xmlns:p14="http://schemas.microsoft.com/office/powerpoint/2010/main" val="2393073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comportamento dos tipos de violência é bastante semelhante entre as discentes e o efetivo em todas as OE/OM. Nestes grupos, a maioria das violências são de ordem psicológica, seguida pela violência moral. Na sequência, surgem as violências sexual, física e, por último, a patrimonial. O padrão se mantém praticamente inalterado nas organizações, independentemente da militar ser aluna ou integrante do efetivo.</a:t>
            </a:r>
          </a:p>
          <a:p>
            <a:endParaRPr lang="pt-BR" dirty="0"/>
          </a:p>
          <a:p>
            <a:r>
              <a:rPr lang="pt-BR" dirty="0"/>
              <a:t>No entanto, a mesma configuração não se repete em todas as OE/OM pesquisadas. No CIAAR, embora a violência psicológica também seja a mais frequente, as violências sexual e física aparecem com a mesma proporção (16,7%), o que modifica ligeiramente a ordem observada nas outras Escolas.</a:t>
            </a:r>
          </a:p>
          <a:p>
            <a:endParaRPr lang="pt-BR" dirty="0"/>
          </a:p>
          <a:p>
            <a:r>
              <a:rPr lang="pt-BR" dirty="0"/>
              <a:t>No COMGEP, o cenário muda de forma mais evidente. A violência sexual (7,7%) passa a ser o tipo menos relatado, enquanto a violência psicológica permanece como a mais frequente entre as militares.</a:t>
            </a:r>
          </a:p>
        </p:txBody>
      </p:sp>
      <p:sp>
        <p:nvSpPr>
          <p:cNvPr id="4" name="Espaço Reservado para Número de Slide 3"/>
          <p:cNvSpPr>
            <a:spLocks noGrp="1"/>
          </p:cNvSpPr>
          <p:nvPr>
            <p:ph type="sldNum" sz="quarter" idx="5"/>
          </p:nvPr>
        </p:nvSpPr>
        <p:spPr/>
        <p:txBody>
          <a:bodyPr/>
          <a:lstStyle/>
          <a:p>
            <a:fld id="{BB2520CB-9C8D-48D3-BB7B-3B4B9A7E9063}" type="slidenum">
              <a:rPr lang="pt-BR" smtClean="0"/>
              <a:t>7</a:t>
            </a:fld>
            <a:endParaRPr lang="pt-BR"/>
          </a:p>
        </p:txBody>
      </p:sp>
    </p:spTree>
    <p:extLst>
      <p:ext uri="{BB962C8B-B14F-4D97-AF65-F5344CB8AC3E}">
        <p14:creationId xmlns:p14="http://schemas.microsoft.com/office/powerpoint/2010/main" val="3959523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9050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747329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7404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454153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0064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13058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318462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885430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53307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9240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5962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11/22/2025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1412298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a:extLst>
            <a:ext uri="{FF2B5EF4-FFF2-40B4-BE49-F238E27FC236}">
              <a16:creationId xmlns:a16="http://schemas.microsoft.com/office/drawing/2014/main" id="{485E354E-D7C4-3F75-959D-D9962DA634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564FAB-FCA7-945B-E0F3-6E0610957729}"/>
              </a:ext>
            </a:extLst>
          </p:cNvPr>
          <p:cNvGrpSpPr/>
          <p:nvPr/>
        </p:nvGrpSpPr>
        <p:grpSpPr>
          <a:xfrm>
            <a:off x="0" y="0"/>
            <a:ext cx="12192000" cy="203116"/>
            <a:chOff x="0" y="0"/>
            <a:chExt cx="4816593" cy="80243"/>
          </a:xfrm>
        </p:grpSpPr>
        <p:sp>
          <p:nvSpPr>
            <p:cNvPr id="3" name="Freeform 3">
              <a:extLst>
                <a:ext uri="{FF2B5EF4-FFF2-40B4-BE49-F238E27FC236}">
                  <a16:creationId xmlns:a16="http://schemas.microsoft.com/office/drawing/2014/main" id="{B2F164D8-FF29-D828-48D5-B7096E4B6623}"/>
                </a:ext>
              </a:extLst>
            </p:cNvPr>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a:extLst>
                <a:ext uri="{FF2B5EF4-FFF2-40B4-BE49-F238E27FC236}">
                  <a16:creationId xmlns:a16="http://schemas.microsoft.com/office/drawing/2014/main" id="{9E4DD156-90D8-D956-8AC6-610DD8D13A77}"/>
                </a:ext>
              </a:extLst>
            </p:cNvPr>
            <p:cNvSpPr txBox="1"/>
            <p:nvPr/>
          </p:nvSpPr>
          <p:spPr>
            <a:xfrm>
              <a:off x="0" y="0"/>
              <a:ext cx="4816593" cy="80243"/>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C4E40E13-A162-9A63-9773-62BDF8DC3CDC}"/>
              </a:ext>
            </a:extLst>
          </p:cNvPr>
          <p:cNvGrpSpPr/>
          <p:nvPr/>
        </p:nvGrpSpPr>
        <p:grpSpPr>
          <a:xfrm>
            <a:off x="685800" y="685800"/>
            <a:ext cx="703715" cy="137244"/>
            <a:chOff x="0" y="0"/>
            <a:chExt cx="278011" cy="54220"/>
          </a:xfrm>
        </p:grpSpPr>
        <p:sp>
          <p:nvSpPr>
            <p:cNvPr id="6" name="Freeform 6">
              <a:extLst>
                <a:ext uri="{FF2B5EF4-FFF2-40B4-BE49-F238E27FC236}">
                  <a16:creationId xmlns:a16="http://schemas.microsoft.com/office/drawing/2014/main" id="{B2F1D370-BCBA-67E9-96EB-74252EC71226}"/>
                </a:ext>
              </a:extLst>
            </p:cNvPr>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a:extLst>
                <a:ext uri="{FF2B5EF4-FFF2-40B4-BE49-F238E27FC236}">
                  <a16:creationId xmlns:a16="http://schemas.microsoft.com/office/drawing/2014/main" id="{3A6298B7-5AA0-D966-6D06-122E58CF908D}"/>
                </a:ext>
              </a:extLst>
            </p:cNvPr>
            <p:cNvSpPr txBox="1"/>
            <p:nvPr/>
          </p:nvSpPr>
          <p:spPr>
            <a:xfrm>
              <a:off x="0" y="0"/>
              <a:ext cx="278011" cy="54220"/>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 name="TextBox 11">
            <a:extLst>
              <a:ext uri="{FF2B5EF4-FFF2-40B4-BE49-F238E27FC236}">
                <a16:creationId xmlns:a16="http://schemas.microsoft.com/office/drawing/2014/main" id="{949403EE-2C9C-42C8-C00F-F80BE96C7086}"/>
              </a:ext>
            </a:extLst>
          </p:cNvPr>
          <p:cNvSpPr txBox="1"/>
          <p:nvPr/>
        </p:nvSpPr>
        <p:spPr>
          <a:xfrm>
            <a:off x="516038" y="6210300"/>
            <a:ext cx="586491" cy="274178"/>
          </a:xfrm>
          <a:prstGeom prst="rect">
            <a:avLst/>
          </a:prstGeom>
        </p:spPr>
        <p:txBody>
          <a:bodyPr lIns="0" tIns="0" rIns="0" bIns="0" rtlCol="0" anchor="t">
            <a:spAutoFit/>
          </a:bodyPr>
          <a:lstStyle/>
          <a:p>
            <a:pPr marL="0" marR="0" lvl="0" indent="0" algn="l" defTabSz="609630" rtl="0" eaLnBrk="1" fontAlgn="auto" latinLnBrk="0" hangingPunct="1">
              <a:lnSpc>
                <a:spcPts val="2133"/>
              </a:lnSpc>
              <a:spcBef>
                <a:spcPts val="0"/>
              </a:spcBef>
              <a:spcAft>
                <a:spcPts val="0"/>
              </a:spcAft>
              <a:buClrTx/>
              <a:buSzTx/>
              <a:buFontTx/>
              <a:buNone/>
              <a:tabLst/>
              <a:defRPr/>
            </a:pPr>
            <a:r>
              <a:rPr kumimoji="0" lang="en-US" sz="2133" b="1" i="0" u="none" strike="noStrike" kern="1200" cap="none" spc="0" normalizeH="0" baseline="0" noProof="0">
                <a:ln>
                  <a:noFill/>
                </a:ln>
                <a:solidFill>
                  <a:srgbClr val="004AAD"/>
                </a:solidFill>
                <a:effectLst/>
                <a:uLnTx/>
                <a:uFillTx/>
                <a:latin typeface="Sondos Bold"/>
                <a:ea typeface="Sondos Bold"/>
                <a:cs typeface="Sondos Bold"/>
                <a:sym typeface="Sondos Bold"/>
              </a:rPr>
              <a:t>11</a:t>
            </a:r>
          </a:p>
        </p:txBody>
      </p:sp>
      <p:sp>
        <p:nvSpPr>
          <p:cNvPr id="16" name="TextBox 12">
            <a:extLst>
              <a:ext uri="{FF2B5EF4-FFF2-40B4-BE49-F238E27FC236}">
                <a16:creationId xmlns:a16="http://schemas.microsoft.com/office/drawing/2014/main" id="{5E0CEBF3-DE1B-AA41-23E0-CAD53800FAE0}"/>
              </a:ext>
            </a:extLst>
          </p:cNvPr>
          <p:cNvSpPr txBox="1"/>
          <p:nvPr/>
        </p:nvSpPr>
        <p:spPr>
          <a:xfrm>
            <a:off x="0" y="823044"/>
            <a:ext cx="12191996" cy="615553"/>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000" dirty="0">
                <a:solidFill>
                  <a:srgbClr val="004AAD"/>
                </a:solidFill>
                <a:latin typeface="Questrial"/>
                <a:ea typeface="Questrial"/>
                <a:cs typeface="Questrial"/>
                <a:sym typeface="Questrial"/>
              </a:rPr>
              <a:t>RESULTADOS DAS PESQUISAS</a:t>
            </a:r>
            <a:endParaRPr kumimoji="0" lang="en-US" sz="4000" b="0" i="0" u="none" strike="noStrike" kern="1200" cap="none" spc="0" normalizeH="0" baseline="0" noProof="0" dirty="0">
              <a:ln>
                <a:noFill/>
              </a:ln>
              <a:solidFill>
                <a:srgbClr val="004AAD"/>
              </a:solidFill>
              <a:effectLst/>
              <a:uLnTx/>
              <a:uFillTx/>
              <a:latin typeface="Questrial"/>
              <a:ea typeface="Questrial"/>
              <a:cs typeface="Questrial"/>
              <a:sym typeface="Questrial"/>
            </a:endParaRPr>
          </a:p>
        </p:txBody>
      </p:sp>
      <p:sp>
        <p:nvSpPr>
          <p:cNvPr id="8" name="TextBox 12">
            <a:extLst>
              <a:ext uri="{FF2B5EF4-FFF2-40B4-BE49-F238E27FC236}">
                <a16:creationId xmlns:a16="http://schemas.microsoft.com/office/drawing/2014/main" id="{BC7E20B3-AB9E-0536-F154-45B38312CBDC}"/>
              </a:ext>
            </a:extLst>
          </p:cNvPr>
          <p:cNvSpPr txBox="1"/>
          <p:nvPr/>
        </p:nvSpPr>
        <p:spPr>
          <a:xfrm>
            <a:off x="2465614" y="1797268"/>
            <a:ext cx="4082143" cy="2462213"/>
          </a:xfrm>
          <a:prstGeom prst="rect">
            <a:avLst/>
          </a:prstGeom>
        </p:spPr>
        <p:txBody>
          <a:bodyPr wrap="square" lIns="0" tIns="0" rIns="0" bIns="0" rtlCol="0" anchor="t">
            <a:spAutoFit/>
          </a:bodyPr>
          <a:lstStyle/>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lang="en-US" sz="4000" dirty="0">
                <a:solidFill>
                  <a:srgbClr val="004AAD"/>
                </a:solidFill>
                <a:latin typeface="Questrial"/>
                <a:ea typeface="Questrial"/>
                <a:cs typeface="Questrial"/>
                <a:sym typeface="Questrial"/>
              </a:rPr>
              <a:t>EEAR</a:t>
            </a: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kumimoji="0" lang="en-US" sz="4000" b="0" i="0" u="none" strike="noStrike" kern="1200" cap="none" spc="0" normalizeH="0" baseline="0" noProof="0" dirty="0">
                <a:ln>
                  <a:noFill/>
                </a:ln>
                <a:solidFill>
                  <a:srgbClr val="004AAD"/>
                </a:solidFill>
                <a:effectLst/>
                <a:uLnTx/>
                <a:uFillTx/>
                <a:latin typeface="Questrial"/>
                <a:ea typeface="Questrial"/>
                <a:cs typeface="Questrial"/>
                <a:sym typeface="Questrial"/>
              </a:rPr>
              <a:t>AFA</a:t>
            </a: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lang="en-US" sz="4000" dirty="0">
                <a:solidFill>
                  <a:srgbClr val="004AAD"/>
                </a:solidFill>
                <a:latin typeface="Questrial"/>
                <a:ea typeface="Questrial"/>
                <a:cs typeface="Questrial"/>
                <a:sym typeface="Questrial"/>
              </a:rPr>
              <a:t>CIAAR</a:t>
            </a:r>
          </a:p>
          <a:p>
            <a:pPr marL="742950" marR="0" lvl="0" indent="-742950" defTabSz="914400" rtl="0" eaLnBrk="1" fontAlgn="auto" latinLnBrk="0" hangingPunct="1">
              <a:lnSpc>
                <a:spcPct val="100000"/>
              </a:lnSpc>
              <a:spcBef>
                <a:spcPct val="0"/>
              </a:spcBef>
              <a:spcAft>
                <a:spcPts val="0"/>
              </a:spcAft>
              <a:buClrTx/>
              <a:buSzTx/>
              <a:buFont typeface="+mj-lt"/>
              <a:buAutoNum type="arabicPeriod"/>
              <a:tabLst/>
              <a:defRPr/>
            </a:pPr>
            <a:r>
              <a:rPr kumimoji="0" lang="en-US" sz="4000" b="0" i="0" u="none" strike="noStrike" kern="1200" cap="none" spc="0" normalizeH="0" baseline="0" noProof="0" dirty="0">
                <a:ln>
                  <a:noFill/>
                </a:ln>
                <a:solidFill>
                  <a:srgbClr val="004AAD"/>
                </a:solidFill>
                <a:effectLst/>
                <a:uLnTx/>
                <a:uFillTx/>
                <a:latin typeface="Questrial"/>
                <a:ea typeface="Questrial"/>
                <a:cs typeface="Questrial"/>
                <a:sym typeface="Questrial"/>
              </a:rPr>
              <a:t>COMGEP</a:t>
            </a:r>
          </a:p>
        </p:txBody>
      </p:sp>
    </p:spTree>
    <p:extLst>
      <p:ext uri="{BB962C8B-B14F-4D97-AF65-F5344CB8AC3E}">
        <p14:creationId xmlns:p14="http://schemas.microsoft.com/office/powerpoint/2010/main" val="51010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203116"/>
            <a:chOff x="0" y="0"/>
            <a:chExt cx="4816593" cy="80243"/>
          </a:xfrm>
        </p:grpSpPr>
        <p:sp>
          <p:nvSpPr>
            <p:cNvPr id="3" name="Freeform 3"/>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p:cNvSpPr txBox="1"/>
            <p:nvPr/>
          </p:nvSpPr>
          <p:spPr>
            <a:xfrm>
              <a:off x="0" y="0"/>
              <a:ext cx="4816593" cy="80243"/>
            </a:xfrm>
            <a:prstGeom prst="rect">
              <a:avLst/>
            </a:prstGeom>
          </p:spPr>
          <p:txBody>
            <a:bodyPr lIns="33867" tIns="33867" rIns="33867" bIns="33867" rtlCol="0" anchor="ctr"/>
            <a:lstStyle/>
            <a:p>
              <a:pPr algn="ctr" defTabSz="609630">
                <a:lnSpc>
                  <a:spcPts val="1440"/>
                </a:lnSpc>
              </a:pPr>
              <a:endParaRPr sz="1200">
                <a:solidFill>
                  <a:prstClr val="black"/>
                </a:solidFill>
                <a:latin typeface="Calibri"/>
              </a:endParaRPr>
            </a:p>
          </p:txBody>
        </p:sp>
      </p:grpSp>
      <p:grpSp>
        <p:nvGrpSpPr>
          <p:cNvPr id="5" name="Group 5"/>
          <p:cNvGrpSpPr/>
          <p:nvPr/>
        </p:nvGrpSpPr>
        <p:grpSpPr>
          <a:xfrm>
            <a:off x="685800" y="685800"/>
            <a:ext cx="703715" cy="137244"/>
            <a:chOff x="0" y="0"/>
            <a:chExt cx="278011" cy="54220"/>
          </a:xfrm>
        </p:grpSpPr>
        <p:sp>
          <p:nvSpPr>
            <p:cNvPr id="6" name="Freeform 6"/>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p:cNvSpPr txBox="1"/>
            <p:nvPr/>
          </p:nvSpPr>
          <p:spPr>
            <a:xfrm>
              <a:off x="0" y="0"/>
              <a:ext cx="278011" cy="54220"/>
            </a:xfrm>
            <a:prstGeom prst="rect">
              <a:avLst/>
            </a:prstGeom>
          </p:spPr>
          <p:txBody>
            <a:bodyPr lIns="33867" tIns="33867" rIns="33867" bIns="33867" rtlCol="0" anchor="ctr"/>
            <a:lstStyle/>
            <a:p>
              <a:pPr algn="ctr" defTabSz="609630">
                <a:lnSpc>
                  <a:spcPts val="1440"/>
                </a:lnSpc>
              </a:pPr>
              <a:endParaRPr sz="1200">
                <a:solidFill>
                  <a:prstClr val="black"/>
                </a:solidFill>
                <a:latin typeface="Calibri"/>
              </a:endParaRPr>
            </a:p>
          </p:txBody>
        </p:sp>
      </p:grpSp>
      <p:sp>
        <p:nvSpPr>
          <p:cNvPr id="11" name="TextBox 11"/>
          <p:cNvSpPr txBox="1"/>
          <p:nvPr/>
        </p:nvSpPr>
        <p:spPr>
          <a:xfrm>
            <a:off x="516038" y="6210300"/>
            <a:ext cx="586491" cy="274178"/>
          </a:xfrm>
          <a:prstGeom prst="rect">
            <a:avLst/>
          </a:prstGeom>
        </p:spPr>
        <p:txBody>
          <a:bodyPr lIns="0" tIns="0" rIns="0" bIns="0" rtlCol="0" anchor="t">
            <a:spAutoFit/>
          </a:bodyPr>
          <a:lstStyle/>
          <a:p>
            <a:pPr defTabSz="609630">
              <a:lnSpc>
                <a:spcPts val="2133"/>
              </a:lnSpc>
            </a:pPr>
            <a:r>
              <a:rPr lang="en-US" sz="2133" b="1">
                <a:solidFill>
                  <a:srgbClr val="004AAD"/>
                </a:solidFill>
                <a:latin typeface="Sondos Bold"/>
                <a:ea typeface="Sondos Bold"/>
                <a:cs typeface="Sondos Bold"/>
                <a:sym typeface="Sondos Bold"/>
              </a:rPr>
              <a:t>11</a:t>
            </a:r>
          </a:p>
        </p:txBody>
      </p:sp>
      <p:sp>
        <p:nvSpPr>
          <p:cNvPr id="16" name="TextBox 12">
            <a:extLst>
              <a:ext uri="{FF2B5EF4-FFF2-40B4-BE49-F238E27FC236}">
                <a16:creationId xmlns:a16="http://schemas.microsoft.com/office/drawing/2014/main" id="{C80E3846-60DB-8E84-F9B5-3223A2A98DEF}"/>
              </a:ext>
            </a:extLst>
          </p:cNvPr>
          <p:cNvSpPr txBox="1"/>
          <p:nvPr/>
        </p:nvSpPr>
        <p:spPr>
          <a:xfrm>
            <a:off x="0" y="823044"/>
            <a:ext cx="12191996" cy="615553"/>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PERFIL DAS RESPONDENTES | OE/OM</a:t>
            </a:r>
          </a:p>
        </p:txBody>
      </p:sp>
      <p:graphicFrame>
        <p:nvGraphicFramePr>
          <p:cNvPr id="18" name="Gráfico 17">
            <a:extLst>
              <a:ext uri="{FF2B5EF4-FFF2-40B4-BE49-F238E27FC236}">
                <a16:creationId xmlns:a16="http://schemas.microsoft.com/office/drawing/2014/main" id="{7AEDD6FF-014E-4C93-A0B0-CFEC53B26E46}"/>
              </a:ext>
            </a:extLst>
          </p:cNvPr>
          <p:cNvGraphicFramePr>
            <a:graphicFrameLocks/>
          </p:cNvGraphicFramePr>
          <p:nvPr>
            <p:extLst>
              <p:ext uri="{D42A27DB-BD31-4B8C-83A1-F6EECF244321}">
                <p14:modId xmlns:p14="http://schemas.microsoft.com/office/powerpoint/2010/main" val="2290967086"/>
              </p:ext>
            </p:extLst>
          </p:nvPr>
        </p:nvGraphicFramePr>
        <p:xfrm>
          <a:off x="1594755" y="1657087"/>
          <a:ext cx="9002485" cy="4920342"/>
        </p:xfrm>
        <a:graphic>
          <a:graphicData uri="http://schemas.openxmlformats.org/drawingml/2006/chart">
            <c:chart xmlns:c="http://schemas.openxmlformats.org/drawingml/2006/chart" xmlns:r="http://schemas.openxmlformats.org/officeDocument/2006/relationships" r:id="rId3"/>
          </a:graphicData>
        </a:graphic>
      </p:graphicFrame>
      <p:sp>
        <p:nvSpPr>
          <p:cNvPr id="19" name="Retângulo: Canto Dobrado 18">
            <a:extLst>
              <a:ext uri="{FF2B5EF4-FFF2-40B4-BE49-F238E27FC236}">
                <a16:creationId xmlns:a16="http://schemas.microsoft.com/office/drawing/2014/main" id="{D9B6C4FC-A795-9613-C911-B236711CC428}"/>
              </a:ext>
            </a:extLst>
          </p:cNvPr>
          <p:cNvSpPr/>
          <p:nvPr/>
        </p:nvSpPr>
        <p:spPr>
          <a:xfrm>
            <a:off x="10011105" y="4146259"/>
            <a:ext cx="1860328" cy="1113471"/>
          </a:xfrm>
          <a:prstGeom prst="foldedCorner">
            <a:avLst/>
          </a:prstGeom>
          <a:noFill/>
          <a:ln>
            <a:solidFill>
              <a:srgbClr val="6B72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solidFill>
                  <a:srgbClr val="6B72AA"/>
                </a:solidFill>
              </a:rPr>
              <a:t>574</a:t>
            </a:r>
          </a:p>
          <a:p>
            <a:pPr algn="ctr"/>
            <a:r>
              <a:rPr lang="pt-BR" b="1" dirty="0">
                <a:solidFill>
                  <a:srgbClr val="6B72AA"/>
                </a:solidFill>
              </a:rPr>
              <a:t>respondentes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203116"/>
            <a:chOff x="0" y="0"/>
            <a:chExt cx="4816593" cy="80243"/>
          </a:xfrm>
        </p:grpSpPr>
        <p:sp>
          <p:nvSpPr>
            <p:cNvPr id="3" name="Freeform 3"/>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p:cNvSpPr txBox="1"/>
            <p:nvPr/>
          </p:nvSpPr>
          <p:spPr>
            <a:xfrm>
              <a:off x="0" y="0"/>
              <a:ext cx="4816593" cy="80243"/>
            </a:xfrm>
            <a:prstGeom prst="rect">
              <a:avLst/>
            </a:prstGeom>
          </p:spPr>
          <p:txBody>
            <a:bodyPr lIns="33867" tIns="33867" rIns="33867" bIns="33867" rtlCol="0" anchor="ctr"/>
            <a:lstStyle/>
            <a:p>
              <a:pPr algn="ctr" defTabSz="609630">
                <a:lnSpc>
                  <a:spcPts val="1440"/>
                </a:lnSpc>
              </a:pPr>
              <a:endParaRPr sz="1200">
                <a:solidFill>
                  <a:prstClr val="black"/>
                </a:solidFill>
                <a:latin typeface="Calibri"/>
              </a:endParaRPr>
            </a:p>
          </p:txBody>
        </p:sp>
      </p:grpSp>
      <p:grpSp>
        <p:nvGrpSpPr>
          <p:cNvPr id="5" name="Group 5"/>
          <p:cNvGrpSpPr/>
          <p:nvPr/>
        </p:nvGrpSpPr>
        <p:grpSpPr>
          <a:xfrm>
            <a:off x="685800" y="685800"/>
            <a:ext cx="703715" cy="137244"/>
            <a:chOff x="0" y="0"/>
            <a:chExt cx="278011" cy="54220"/>
          </a:xfrm>
        </p:grpSpPr>
        <p:sp>
          <p:nvSpPr>
            <p:cNvPr id="6" name="Freeform 6"/>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p:cNvSpPr txBox="1"/>
            <p:nvPr/>
          </p:nvSpPr>
          <p:spPr>
            <a:xfrm>
              <a:off x="0" y="0"/>
              <a:ext cx="278011" cy="54220"/>
            </a:xfrm>
            <a:prstGeom prst="rect">
              <a:avLst/>
            </a:prstGeom>
          </p:spPr>
          <p:txBody>
            <a:bodyPr lIns="33867" tIns="33867" rIns="33867" bIns="33867" rtlCol="0" anchor="ctr"/>
            <a:lstStyle/>
            <a:p>
              <a:pPr algn="ctr" defTabSz="609630">
                <a:lnSpc>
                  <a:spcPts val="1440"/>
                </a:lnSpc>
              </a:pPr>
              <a:endParaRPr sz="1200">
                <a:solidFill>
                  <a:prstClr val="black"/>
                </a:solidFill>
                <a:latin typeface="Calibri"/>
              </a:endParaRPr>
            </a:p>
          </p:txBody>
        </p:sp>
      </p:grpSp>
      <p:sp>
        <p:nvSpPr>
          <p:cNvPr id="16" name="TextBox 16"/>
          <p:cNvSpPr txBox="1"/>
          <p:nvPr/>
        </p:nvSpPr>
        <p:spPr>
          <a:xfrm>
            <a:off x="516038" y="6210300"/>
            <a:ext cx="586491" cy="274178"/>
          </a:xfrm>
          <a:prstGeom prst="rect">
            <a:avLst/>
          </a:prstGeom>
        </p:spPr>
        <p:txBody>
          <a:bodyPr lIns="0" tIns="0" rIns="0" bIns="0" rtlCol="0" anchor="t">
            <a:spAutoFit/>
          </a:bodyPr>
          <a:lstStyle/>
          <a:p>
            <a:pPr defTabSz="609630">
              <a:lnSpc>
                <a:spcPts val="2133"/>
              </a:lnSpc>
            </a:pPr>
            <a:r>
              <a:rPr lang="en-US" sz="2133" b="1">
                <a:solidFill>
                  <a:srgbClr val="004AAD"/>
                </a:solidFill>
                <a:latin typeface="Sondos Bold"/>
                <a:ea typeface="Sondos Bold"/>
                <a:cs typeface="Sondos Bold"/>
                <a:sym typeface="Sondos Bold"/>
              </a:rPr>
              <a:t>09</a:t>
            </a:r>
          </a:p>
        </p:txBody>
      </p:sp>
      <p:graphicFrame>
        <p:nvGraphicFramePr>
          <p:cNvPr id="22" name="Gráfico 21">
            <a:extLst>
              <a:ext uri="{FF2B5EF4-FFF2-40B4-BE49-F238E27FC236}">
                <a16:creationId xmlns:a16="http://schemas.microsoft.com/office/drawing/2014/main" id="{7889816D-3CE5-261B-7D54-BC8CEB5FA1D1}"/>
              </a:ext>
            </a:extLst>
          </p:cNvPr>
          <p:cNvGraphicFramePr>
            <a:graphicFrameLocks/>
          </p:cNvGraphicFramePr>
          <p:nvPr>
            <p:extLst>
              <p:ext uri="{D42A27DB-BD31-4B8C-83A1-F6EECF244321}">
                <p14:modId xmlns:p14="http://schemas.microsoft.com/office/powerpoint/2010/main" val="626652163"/>
              </p:ext>
            </p:extLst>
          </p:nvPr>
        </p:nvGraphicFramePr>
        <p:xfrm>
          <a:off x="2422069" y="2363217"/>
          <a:ext cx="7347857" cy="3984172"/>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12">
            <a:extLst>
              <a:ext uri="{FF2B5EF4-FFF2-40B4-BE49-F238E27FC236}">
                <a16:creationId xmlns:a16="http://schemas.microsoft.com/office/drawing/2014/main" id="{3E7EAD8D-F208-00C3-46D5-523909CB66B6}"/>
              </a:ext>
            </a:extLst>
          </p:cNvPr>
          <p:cNvSpPr txBox="1"/>
          <p:nvPr/>
        </p:nvSpPr>
        <p:spPr>
          <a:xfrm>
            <a:off x="4" y="754422"/>
            <a:ext cx="12191996" cy="1231106"/>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PERFIL DAS RESPONDENTES | </a:t>
            </a:r>
          </a:p>
          <a:p>
            <a:pPr algn="ctr">
              <a:spcBef>
                <a:spcPct val="0"/>
              </a:spcBef>
            </a:pPr>
            <a:r>
              <a:rPr lang="en-US" sz="4000" dirty="0">
                <a:solidFill>
                  <a:srgbClr val="004AAD"/>
                </a:solidFill>
                <a:latin typeface="Questrial"/>
                <a:ea typeface="Questrial"/>
                <a:cs typeface="Questrial"/>
                <a:sym typeface="Questrial"/>
              </a:rPr>
              <a:t>POSTO E GRADUAÇÃO</a:t>
            </a:r>
          </a:p>
        </p:txBody>
      </p:sp>
      <p:sp>
        <p:nvSpPr>
          <p:cNvPr id="25" name="CaixaDeTexto 24">
            <a:extLst>
              <a:ext uri="{FF2B5EF4-FFF2-40B4-BE49-F238E27FC236}">
                <a16:creationId xmlns:a16="http://schemas.microsoft.com/office/drawing/2014/main" id="{5E95FAD8-A46B-8F5D-C17F-58CCE3B141C0}"/>
              </a:ext>
            </a:extLst>
          </p:cNvPr>
          <p:cNvSpPr txBox="1"/>
          <p:nvPr/>
        </p:nvSpPr>
        <p:spPr>
          <a:xfrm>
            <a:off x="5691078" y="4062915"/>
            <a:ext cx="809837" cy="584775"/>
          </a:xfrm>
          <a:prstGeom prst="rect">
            <a:avLst/>
          </a:prstGeom>
          <a:noFill/>
        </p:spPr>
        <p:txBody>
          <a:bodyPr wrap="none" rtlCol="0">
            <a:spAutoFit/>
          </a:bodyPr>
          <a:lstStyle/>
          <a:p>
            <a:r>
              <a:rPr lang="pt-BR" sz="3200" b="1" dirty="0"/>
              <a:t>574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a:extLst>
            <a:ext uri="{FF2B5EF4-FFF2-40B4-BE49-F238E27FC236}">
              <a16:creationId xmlns:a16="http://schemas.microsoft.com/office/drawing/2014/main" id="{E3B737C7-7AA2-8BAA-076A-8272AA6BC4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F7FB988-8F75-40A9-7285-EE258F5124EA}"/>
              </a:ext>
            </a:extLst>
          </p:cNvPr>
          <p:cNvGrpSpPr/>
          <p:nvPr/>
        </p:nvGrpSpPr>
        <p:grpSpPr>
          <a:xfrm>
            <a:off x="0" y="0"/>
            <a:ext cx="12192000" cy="203116"/>
            <a:chOff x="0" y="0"/>
            <a:chExt cx="4816593" cy="80243"/>
          </a:xfrm>
        </p:grpSpPr>
        <p:sp>
          <p:nvSpPr>
            <p:cNvPr id="3" name="Freeform 3">
              <a:extLst>
                <a:ext uri="{FF2B5EF4-FFF2-40B4-BE49-F238E27FC236}">
                  <a16:creationId xmlns:a16="http://schemas.microsoft.com/office/drawing/2014/main" id="{D46A8E56-02E2-4352-91FF-119811372305}"/>
                </a:ext>
              </a:extLst>
            </p:cNvPr>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a:extLst>
                <a:ext uri="{FF2B5EF4-FFF2-40B4-BE49-F238E27FC236}">
                  <a16:creationId xmlns:a16="http://schemas.microsoft.com/office/drawing/2014/main" id="{E83629ED-8017-4E54-BE00-7B7BB9C6F3C3}"/>
                </a:ext>
              </a:extLst>
            </p:cNvPr>
            <p:cNvSpPr txBox="1"/>
            <p:nvPr/>
          </p:nvSpPr>
          <p:spPr>
            <a:xfrm>
              <a:off x="0" y="0"/>
              <a:ext cx="4816593" cy="80243"/>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D9AE9A61-0A71-4B11-9645-9CFCB9D4AFDE}"/>
              </a:ext>
            </a:extLst>
          </p:cNvPr>
          <p:cNvGrpSpPr/>
          <p:nvPr/>
        </p:nvGrpSpPr>
        <p:grpSpPr>
          <a:xfrm>
            <a:off x="685800" y="685800"/>
            <a:ext cx="703715" cy="137244"/>
            <a:chOff x="0" y="0"/>
            <a:chExt cx="278011" cy="54220"/>
          </a:xfrm>
        </p:grpSpPr>
        <p:sp>
          <p:nvSpPr>
            <p:cNvPr id="6" name="Freeform 6">
              <a:extLst>
                <a:ext uri="{FF2B5EF4-FFF2-40B4-BE49-F238E27FC236}">
                  <a16:creationId xmlns:a16="http://schemas.microsoft.com/office/drawing/2014/main" id="{90375FC9-88F4-4754-604D-0DF0C6B67648}"/>
                </a:ext>
              </a:extLst>
            </p:cNvPr>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a:extLst>
                <a:ext uri="{FF2B5EF4-FFF2-40B4-BE49-F238E27FC236}">
                  <a16:creationId xmlns:a16="http://schemas.microsoft.com/office/drawing/2014/main" id="{585F4572-1E3B-A2CD-167B-453B37F86A31}"/>
                </a:ext>
              </a:extLst>
            </p:cNvPr>
            <p:cNvSpPr txBox="1"/>
            <p:nvPr/>
          </p:nvSpPr>
          <p:spPr>
            <a:xfrm>
              <a:off x="0" y="0"/>
              <a:ext cx="278011" cy="54220"/>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a:extLst>
              <a:ext uri="{FF2B5EF4-FFF2-40B4-BE49-F238E27FC236}">
                <a16:creationId xmlns:a16="http://schemas.microsoft.com/office/drawing/2014/main" id="{F2F086BA-8421-28CB-8A61-45436B8F3BCB}"/>
              </a:ext>
            </a:extLst>
          </p:cNvPr>
          <p:cNvSpPr txBox="1"/>
          <p:nvPr/>
        </p:nvSpPr>
        <p:spPr>
          <a:xfrm>
            <a:off x="516038" y="6210300"/>
            <a:ext cx="586491" cy="274178"/>
          </a:xfrm>
          <a:prstGeom prst="rect">
            <a:avLst/>
          </a:prstGeom>
        </p:spPr>
        <p:txBody>
          <a:bodyPr lIns="0" tIns="0" rIns="0" bIns="0" rtlCol="0" anchor="t">
            <a:spAutoFit/>
          </a:bodyPr>
          <a:lstStyle/>
          <a:p>
            <a:pPr marL="0" marR="0" lvl="0" indent="0" algn="l" defTabSz="609630" rtl="0" eaLnBrk="1" fontAlgn="auto" latinLnBrk="0" hangingPunct="1">
              <a:lnSpc>
                <a:spcPts val="2133"/>
              </a:lnSpc>
              <a:spcBef>
                <a:spcPts val="0"/>
              </a:spcBef>
              <a:spcAft>
                <a:spcPts val="0"/>
              </a:spcAft>
              <a:buClrTx/>
              <a:buSzTx/>
              <a:buFontTx/>
              <a:buNone/>
              <a:tabLst/>
              <a:defRPr/>
            </a:pPr>
            <a:r>
              <a:rPr kumimoji="0" lang="en-US" sz="2133" b="1" i="0" u="none" strike="noStrike" kern="1200" cap="none" spc="0" normalizeH="0" baseline="0" noProof="0">
                <a:ln>
                  <a:noFill/>
                </a:ln>
                <a:solidFill>
                  <a:srgbClr val="004AAD"/>
                </a:solidFill>
                <a:effectLst/>
                <a:uLnTx/>
                <a:uFillTx/>
                <a:latin typeface="Sondos Bold"/>
                <a:ea typeface="Sondos Bold"/>
                <a:cs typeface="Sondos Bold"/>
                <a:sym typeface="Sondos Bold"/>
              </a:rPr>
              <a:t>09</a:t>
            </a:r>
          </a:p>
        </p:txBody>
      </p:sp>
      <p:grpSp>
        <p:nvGrpSpPr>
          <p:cNvPr id="11" name="Agrupar 10">
            <a:extLst>
              <a:ext uri="{FF2B5EF4-FFF2-40B4-BE49-F238E27FC236}">
                <a16:creationId xmlns:a16="http://schemas.microsoft.com/office/drawing/2014/main" id="{E68C193C-C52D-4689-3EFA-8BC51C05F731}"/>
              </a:ext>
            </a:extLst>
          </p:cNvPr>
          <p:cNvGrpSpPr/>
          <p:nvPr/>
        </p:nvGrpSpPr>
        <p:grpSpPr>
          <a:xfrm>
            <a:off x="1704147" y="1628741"/>
            <a:ext cx="8240486" cy="4408713"/>
            <a:chOff x="1975757" y="1224643"/>
            <a:chExt cx="8240486" cy="4408713"/>
          </a:xfrm>
        </p:grpSpPr>
        <p:graphicFrame>
          <p:nvGraphicFramePr>
            <p:cNvPr id="9" name="Gráfico 8">
              <a:extLst>
                <a:ext uri="{FF2B5EF4-FFF2-40B4-BE49-F238E27FC236}">
                  <a16:creationId xmlns:a16="http://schemas.microsoft.com/office/drawing/2014/main" id="{2D2D1F4A-980C-6B9A-01B2-E861E68BAFD5}"/>
                </a:ext>
              </a:extLst>
            </p:cNvPr>
            <p:cNvGraphicFramePr>
              <a:graphicFrameLocks/>
            </p:cNvGraphicFramePr>
            <p:nvPr>
              <p:extLst>
                <p:ext uri="{D42A27DB-BD31-4B8C-83A1-F6EECF244321}">
                  <p14:modId xmlns:p14="http://schemas.microsoft.com/office/powerpoint/2010/main" val="3381939037"/>
                </p:ext>
              </p:extLst>
            </p:nvPr>
          </p:nvGraphicFramePr>
          <p:xfrm>
            <a:off x="1975757" y="1224643"/>
            <a:ext cx="8240486" cy="4408713"/>
          </p:xfrm>
          <a:graphic>
            <a:graphicData uri="http://schemas.openxmlformats.org/drawingml/2006/chart">
              <c:chart xmlns:c="http://schemas.openxmlformats.org/drawingml/2006/chart" xmlns:r="http://schemas.openxmlformats.org/officeDocument/2006/relationships" r:id="rId3"/>
            </a:graphicData>
          </a:graphic>
        </p:graphicFrame>
        <p:sp>
          <p:nvSpPr>
            <p:cNvPr id="10" name="CaixaDeTexto 9">
              <a:extLst>
                <a:ext uri="{FF2B5EF4-FFF2-40B4-BE49-F238E27FC236}">
                  <a16:creationId xmlns:a16="http://schemas.microsoft.com/office/drawing/2014/main" id="{EDAA1950-0FEF-DF46-406F-307C30DC1B6B}"/>
                </a:ext>
              </a:extLst>
            </p:cNvPr>
            <p:cNvSpPr txBox="1"/>
            <p:nvPr/>
          </p:nvSpPr>
          <p:spPr>
            <a:xfrm>
              <a:off x="5563640" y="3075056"/>
              <a:ext cx="1064715" cy="1015663"/>
            </a:xfrm>
            <a:prstGeom prst="rect">
              <a:avLst/>
            </a:prstGeom>
            <a:noFill/>
          </p:spPr>
          <p:txBody>
            <a:bodyPr wrap="none" rtlCol="0">
              <a:spAutoFit/>
            </a:bodyPr>
            <a:lstStyle/>
            <a:p>
              <a:pPr algn="ctr"/>
              <a:r>
                <a:rPr lang="pt-BR" sz="2000" b="1" dirty="0"/>
                <a:t>574</a:t>
              </a:r>
            </a:p>
            <a:p>
              <a:r>
                <a:rPr lang="pt-BR" sz="2000" b="1" dirty="0">
                  <a:solidFill>
                    <a:srgbClr val="EB6B6A"/>
                  </a:solidFill>
                </a:rPr>
                <a:t>329 SIM</a:t>
              </a:r>
            </a:p>
            <a:p>
              <a:r>
                <a:rPr lang="pt-BR" sz="2000" b="1" dirty="0">
                  <a:solidFill>
                    <a:srgbClr val="6B72AA"/>
                  </a:solidFill>
                </a:rPr>
                <a:t>245 Não</a:t>
              </a:r>
            </a:p>
          </p:txBody>
        </p:sp>
      </p:grpSp>
      <p:sp>
        <p:nvSpPr>
          <p:cNvPr id="12" name="TextBox 12">
            <a:extLst>
              <a:ext uri="{FF2B5EF4-FFF2-40B4-BE49-F238E27FC236}">
                <a16:creationId xmlns:a16="http://schemas.microsoft.com/office/drawing/2014/main" id="{E59F36C1-E043-3EB4-E3F8-DCC0A0F605DD}"/>
              </a:ext>
            </a:extLst>
          </p:cNvPr>
          <p:cNvSpPr txBox="1"/>
          <p:nvPr/>
        </p:nvSpPr>
        <p:spPr>
          <a:xfrm>
            <a:off x="3" y="820546"/>
            <a:ext cx="12191997" cy="615553"/>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VIOLÊNCIA SOFRIDA</a:t>
            </a:r>
          </a:p>
        </p:txBody>
      </p:sp>
    </p:spTree>
    <p:extLst>
      <p:ext uri="{BB962C8B-B14F-4D97-AF65-F5344CB8AC3E}">
        <p14:creationId xmlns:p14="http://schemas.microsoft.com/office/powerpoint/2010/main" val="3560354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a:extLst>
            <a:ext uri="{FF2B5EF4-FFF2-40B4-BE49-F238E27FC236}">
              <a16:creationId xmlns:a16="http://schemas.microsoft.com/office/drawing/2014/main" id="{14FFE5E0-133A-96CA-023B-BEB42EB1412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229227-1505-DA6C-D092-BD9827545B70}"/>
              </a:ext>
            </a:extLst>
          </p:cNvPr>
          <p:cNvGrpSpPr/>
          <p:nvPr/>
        </p:nvGrpSpPr>
        <p:grpSpPr>
          <a:xfrm>
            <a:off x="0" y="0"/>
            <a:ext cx="12192000" cy="203116"/>
            <a:chOff x="0" y="0"/>
            <a:chExt cx="4816593" cy="80243"/>
          </a:xfrm>
        </p:grpSpPr>
        <p:sp>
          <p:nvSpPr>
            <p:cNvPr id="3" name="Freeform 3">
              <a:extLst>
                <a:ext uri="{FF2B5EF4-FFF2-40B4-BE49-F238E27FC236}">
                  <a16:creationId xmlns:a16="http://schemas.microsoft.com/office/drawing/2014/main" id="{A1E9A4E5-CF4D-CD36-CCCF-2364F92F68DA}"/>
                </a:ext>
              </a:extLst>
            </p:cNvPr>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a:extLst>
                <a:ext uri="{FF2B5EF4-FFF2-40B4-BE49-F238E27FC236}">
                  <a16:creationId xmlns:a16="http://schemas.microsoft.com/office/drawing/2014/main" id="{7A743A30-C17F-20AE-6F93-38B84983B15A}"/>
                </a:ext>
              </a:extLst>
            </p:cNvPr>
            <p:cNvSpPr txBox="1"/>
            <p:nvPr/>
          </p:nvSpPr>
          <p:spPr>
            <a:xfrm>
              <a:off x="0" y="0"/>
              <a:ext cx="4816593" cy="80243"/>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ABAB2982-F21E-8197-BCBC-7162FB0642F9}"/>
              </a:ext>
            </a:extLst>
          </p:cNvPr>
          <p:cNvGrpSpPr/>
          <p:nvPr/>
        </p:nvGrpSpPr>
        <p:grpSpPr>
          <a:xfrm>
            <a:off x="685800" y="685800"/>
            <a:ext cx="703715" cy="137244"/>
            <a:chOff x="0" y="0"/>
            <a:chExt cx="278011" cy="54220"/>
          </a:xfrm>
        </p:grpSpPr>
        <p:sp>
          <p:nvSpPr>
            <p:cNvPr id="6" name="Freeform 6">
              <a:extLst>
                <a:ext uri="{FF2B5EF4-FFF2-40B4-BE49-F238E27FC236}">
                  <a16:creationId xmlns:a16="http://schemas.microsoft.com/office/drawing/2014/main" id="{69E95E29-3DB5-4171-6F72-A4A297565F51}"/>
                </a:ext>
              </a:extLst>
            </p:cNvPr>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a:extLst>
                <a:ext uri="{FF2B5EF4-FFF2-40B4-BE49-F238E27FC236}">
                  <a16:creationId xmlns:a16="http://schemas.microsoft.com/office/drawing/2014/main" id="{491D787A-9AAE-7383-45CD-04CD34C37A4A}"/>
                </a:ext>
              </a:extLst>
            </p:cNvPr>
            <p:cNvSpPr txBox="1"/>
            <p:nvPr/>
          </p:nvSpPr>
          <p:spPr>
            <a:xfrm>
              <a:off x="0" y="0"/>
              <a:ext cx="278011" cy="54220"/>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a:extLst>
              <a:ext uri="{FF2B5EF4-FFF2-40B4-BE49-F238E27FC236}">
                <a16:creationId xmlns:a16="http://schemas.microsoft.com/office/drawing/2014/main" id="{E108DBD2-1735-2F79-0B6B-CA0CE9FDA183}"/>
              </a:ext>
            </a:extLst>
          </p:cNvPr>
          <p:cNvSpPr txBox="1"/>
          <p:nvPr/>
        </p:nvSpPr>
        <p:spPr>
          <a:xfrm>
            <a:off x="516038" y="6210300"/>
            <a:ext cx="586491" cy="274178"/>
          </a:xfrm>
          <a:prstGeom prst="rect">
            <a:avLst/>
          </a:prstGeom>
        </p:spPr>
        <p:txBody>
          <a:bodyPr lIns="0" tIns="0" rIns="0" bIns="0" rtlCol="0" anchor="t">
            <a:spAutoFit/>
          </a:bodyPr>
          <a:lstStyle/>
          <a:p>
            <a:pPr marL="0" marR="0" lvl="0" indent="0" algn="l" defTabSz="609630" rtl="0" eaLnBrk="1" fontAlgn="auto" latinLnBrk="0" hangingPunct="1">
              <a:lnSpc>
                <a:spcPts val="2133"/>
              </a:lnSpc>
              <a:spcBef>
                <a:spcPts val="0"/>
              </a:spcBef>
              <a:spcAft>
                <a:spcPts val="0"/>
              </a:spcAft>
              <a:buClrTx/>
              <a:buSzTx/>
              <a:buFontTx/>
              <a:buNone/>
              <a:tabLst/>
              <a:defRPr/>
            </a:pPr>
            <a:r>
              <a:rPr kumimoji="0" lang="en-US" sz="2133" b="1" i="0" u="none" strike="noStrike" kern="1200" cap="none" spc="0" normalizeH="0" baseline="0" noProof="0">
                <a:ln>
                  <a:noFill/>
                </a:ln>
                <a:solidFill>
                  <a:srgbClr val="004AAD"/>
                </a:solidFill>
                <a:effectLst/>
                <a:uLnTx/>
                <a:uFillTx/>
                <a:latin typeface="Sondos Bold"/>
                <a:ea typeface="Sondos Bold"/>
                <a:cs typeface="Sondos Bold"/>
                <a:sym typeface="Sondos Bold"/>
              </a:rPr>
              <a:t>09</a:t>
            </a:r>
          </a:p>
        </p:txBody>
      </p:sp>
      <p:sp>
        <p:nvSpPr>
          <p:cNvPr id="12" name="TextBox 12">
            <a:extLst>
              <a:ext uri="{FF2B5EF4-FFF2-40B4-BE49-F238E27FC236}">
                <a16:creationId xmlns:a16="http://schemas.microsoft.com/office/drawing/2014/main" id="{08A5894E-5FA6-CE81-E71D-FB1195C070C1}"/>
              </a:ext>
            </a:extLst>
          </p:cNvPr>
          <p:cNvSpPr txBox="1"/>
          <p:nvPr/>
        </p:nvSpPr>
        <p:spPr>
          <a:xfrm>
            <a:off x="289560" y="823044"/>
            <a:ext cx="12191997" cy="1231106"/>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VIOLÊNCIA SOFRIDA  SEGUNDO A OE/OM, </a:t>
            </a:r>
          </a:p>
          <a:p>
            <a:pPr algn="ctr">
              <a:spcBef>
                <a:spcPct val="0"/>
              </a:spcBef>
            </a:pPr>
            <a:r>
              <a:rPr lang="en-US" sz="4000" dirty="0">
                <a:solidFill>
                  <a:srgbClr val="004AAD"/>
                </a:solidFill>
                <a:latin typeface="Questrial"/>
                <a:ea typeface="Questrial"/>
                <a:cs typeface="Questrial"/>
                <a:sym typeface="Questrial"/>
              </a:rPr>
              <a:t>POSTO OU GRADUAÇÃO</a:t>
            </a:r>
          </a:p>
        </p:txBody>
      </p:sp>
      <p:graphicFrame>
        <p:nvGraphicFramePr>
          <p:cNvPr id="15" name="Gráfico 14">
            <a:extLst>
              <a:ext uri="{FF2B5EF4-FFF2-40B4-BE49-F238E27FC236}">
                <a16:creationId xmlns:a16="http://schemas.microsoft.com/office/drawing/2014/main" id="{EC0BB8BF-7FA5-4886-8512-8FD6C0CBC8C3}"/>
              </a:ext>
            </a:extLst>
          </p:cNvPr>
          <p:cNvGraphicFramePr>
            <a:graphicFrameLocks/>
          </p:cNvGraphicFramePr>
          <p:nvPr>
            <p:extLst>
              <p:ext uri="{D42A27DB-BD31-4B8C-83A1-F6EECF244321}">
                <p14:modId xmlns:p14="http://schemas.microsoft.com/office/powerpoint/2010/main" val="1487853067"/>
              </p:ext>
            </p:extLst>
          </p:nvPr>
        </p:nvGraphicFramePr>
        <p:xfrm>
          <a:off x="1389515" y="2226756"/>
          <a:ext cx="9438822" cy="45085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71906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a:extLst>
            <a:ext uri="{FF2B5EF4-FFF2-40B4-BE49-F238E27FC236}">
              <a16:creationId xmlns:a16="http://schemas.microsoft.com/office/drawing/2014/main" id="{69B98F90-A6EA-1740-F96F-146EC9A4CD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8D8870-1343-3D65-E4D9-DBA93A0896B4}"/>
              </a:ext>
            </a:extLst>
          </p:cNvPr>
          <p:cNvGrpSpPr/>
          <p:nvPr/>
        </p:nvGrpSpPr>
        <p:grpSpPr>
          <a:xfrm>
            <a:off x="0" y="0"/>
            <a:ext cx="12192000" cy="203116"/>
            <a:chOff x="0" y="0"/>
            <a:chExt cx="4816593" cy="80243"/>
          </a:xfrm>
        </p:grpSpPr>
        <p:sp>
          <p:nvSpPr>
            <p:cNvPr id="3" name="Freeform 3">
              <a:extLst>
                <a:ext uri="{FF2B5EF4-FFF2-40B4-BE49-F238E27FC236}">
                  <a16:creationId xmlns:a16="http://schemas.microsoft.com/office/drawing/2014/main" id="{2F1D08DE-F0D0-5AF8-5E25-237EE4D7AB36}"/>
                </a:ext>
              </a:extLst>
            </p:cNvPr>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a:extLst>
                <a:ext uri="{FF2B5EF4-FFF2-40B4-BE49-F238E27FC236}">
                  <a16:creationId xmlns:a16="http://schemas.microsoft.com/office/drawing/2014/main" id="{BE1D9A18-A62F-5A16-0123-BDEFE10C5C7A}"/>
                </a:ext>
              </a:extLst>
            </p:cNvPr>
            <p:cNvSpPr txBox="1"/>
            <p:nvPr/>
          </p:nvSpPr>
          <p:spPr>
            <a:xfrm>
              <a:off x="0" y="0"/>
              <a:ext cx="4816593" cy="80243"/>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CEA58EAC-9797-EAC6-FEA2-FD11F3283344}"/>
              </a:ext>
            </a:extLst>
          </p:cNvPr>
          <p:cNvGrpSpPr/>
          <p:nvPr/>
        </p:nvGrpSpPr>
        <p:grpSpPr>
          <a:xfrm>
            <a:off x="685800" y="685800"/>
            <a:ext cx="703715" cy="137244"/>
            <a:chOff x="0" y="0"/>
            <a:chExt cx="278011" cy="54220"/>
          </a:xfrm>
        </p:grpSpPr>
        <p:sp>
          <p:nvSpPr>
            <p:cNvPr id="6" name="Freeform 6">
              <a:extLst>
                <a:ext uri="{FF2B5EF4-FFF2-40B4-BE49-F238E27FC236}">
                  <a16:creationId xmlns:a16="http://schemas.microsoft.com/office/drawing/2014/main" id="{B9C41AFE-4188-2437-06E5-64FC3A417ECA}"/>
                </a:ext>
              </a:extLst>
            </p:cNvPr>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a:extLst>
                <a:ext uri="{FF2B5EF4-FFF2-40B4-BE49-F238E27FC236}">
                  <a16:creationId xmlns:a16="http://schemas.microsoft.com/office/drawing/2014/main" id="{2C8A2FBF-F8D7-0462-B5FF-CD2DA7DD26B4}"/>
                </a:ext>
              </a:extLst>
            </p:cNvPr>
            <p:cNvSpPr txBox="1"/>
            <p:nvPr/>
          </p:nvSpPr>
          <p:spPr>
            <a:xfrm>
              <a:off x="0" y="0"/>
              <a:ext cx="278011" cy="54220"/>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a:extLst>
              <a:ext uri="{FF2B5EF4-FFF2-40B4-BE49-F238E27FC236}">
                <a16:creationId xmlns:a16="http://schemas.microsoft.com/office/drawing/2014/main" id="{71360236-AED0-0E24-D774-726228C4A134}"/>
              </a:ext>
            </a:extLst>
          </p:cNvPr>
          <p:cNvSpPr txBox="1"/>
          <p:nvPr/>
        </p:nvSpPr>
        <p:spPr>
          <a:xfrm>
            <a:off x="516038" y="6210300"/>
            <a:ext cx="586491" cy="274178"/>
          </a:xfrm>
          <a:prstGeom prst="rect">
            <a:avLst/>
          </a:prstGeom>
        </p:spPr>
        <p:txBody>
          <a:bodyPr lIns="0" tIns="0" rIns="0" bIns="0" rtlCol="0" anchor="t">
            <a:spAutoFit/>
          </a:bodyPr>
          <a:lstStyle/>
          <a:p>
            <a:pPr marL="0" marR="0" lvl="0" indent="0" algn="l" defTabSz="609630" rtl="0" eaLnBrk="1" fontAlgn="auto" latinLnBrk="0" hangingPunct="1">
              <a:lnSpc>
                <a:spcPts val="2133"/>
              </a:lnSpc>
              <a:spcBef>
                <a:spcPts val="0"/>
              </a:spcBef>
              <a:spcAft>
                <a:spcPts val="0"/>
              </a:spcAft>
              <a:buClrTx/>
              <a:buSzTx/>
              <a:buFontTx/>
              <a:buNone/>
              <a:tabLst/>
              <a:defRPr/>
            </a:pPr>
            <a:r>
              <a:rPr kumimoji="0" lang="en-US" sz="2133" b="1" i="0" u="none" strike="noStrike" kern="1200" cap="none" spc="0" normalizeH="0" baseline="0" noProof="0">
                <a:ln>
                  <a:noFill/>
                </a:ln>
                <a:solidFill>
                  <a:srgbClr val="004AAD"/>
                </a:solidFill>
                <a:effectLst/>
                <a:uLnTx/>
                <a:uFillTx/>
                <a:latin typeface="Sondos Bold"/>
                <a:ea typeface="Sondos Bold"/>
                <a:cs typeface="Sondos Bold"/>
                <a:sym typeface="Sondos Bold"/>
              </a:rPr>
              <a:t>09</a:t>
            </a:r>
          </a:p>
        </p:txBody>
      </p:sp>
      <p:graphicFrame>
        <p:nvGraphicFramePr>
          <p:cNvPr id="8" name="Gráfico 7">
            <a:extLst>
              <a:ext uri="{FF2B5EF4-FFF2-40B4-BE49-F238E27FC236}">
                <a16:creationId xmlns:a16="http://schemas.microsoft.com/office/drawing/2014/main" id="{D9984CDA-80FC-46F6-92FB-CB3041F4790A}"/>
              </a:ext>
            </a:extLst>
          </p:cNvPr>
          <p:cNvGraphicFramePr>
            <a:graphicFrameLocks/>
          </p:cNvGraphicFramePr>
          <p:nvPr>
            <p:extLst>
              <p:ext uri="{D42A27DB-BD31-4B8C-83A1-F6EECF244321}">
                <p14:modId xmlns:p14="http://schemas.microsoft.com/office/powerpoint/2010/main" val="1964096993"/>
              </p:ext>
            </p:extLst>
          </p:nvPr>
        </p:nvGraphicFramePr>
        <p:xfrm>
          <a:off x="2454903" y="1423016"/>
          <a:ext cx="8321251" cy="45773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12">
            <a:extLst>
              <a:ext uri="{FF2B5EF4-FFF2-40B4-BE49-F238E27FC236}">
                <a16:creationId xmlns:a16="http://schemas.microsoft.com/office/drawing/2014/main" id="{3F104546-D207-87DE-BDE7-1917CA260A80}"/>
              </a:ext>
            </a:extLst>
          </p:cNvPr>
          <p:cNvSpPr txBox="1"/>
          <p:nvPr/>
        </p:nvSpPr>
        <p:spPr>
          <a:xfrm>
            <a:off x="289560" y="823044"/>
            <a:ext cx="12191997" cy="615553"/>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MODALIDADE DA VIOLÊNCIA</a:t>
            </a:r>
          </a:p>
        </p:txBody>
      </p:sp>
    </p:spTree>
    <p:extLst>
      <p:ext uri="{BB962C8B-B14F-4D97-AF65-F5344CB8AC3E}">
        <p14:creationId xmlns:p14="http://schemas.microsoft.com/office/powerpoint/2010/main" val="3871004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0"/>
        </a:solidFill>
        <a:effectLst/>
      </p:bgPr>
    </p:bg>
    <p:spTree>
      <p:nvGrpSpPr>
        <p:cNvPr id="1" name="">
          <a:extLst>
            <a:ext uri="{FF2B5EF4-FFF2-40B4-BE49-F238E27FC236}">
              <a16:creationId xmlns:a16="http://schemas.microsoft.com/office/drawing/2014/main" id="{0EAF9E2C-051B-7754-B602-654827BA0B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561E111-1872-FD49-D5E6-DC43EAA7AE19}"/>
              </a:ext>
            </a:extLst>
          </p:cNvPr>
          <p:cNvGrpSpPr/>
          <p:nvPr/>
        </p:nvGrpSpPr>
        <p:grpSpPr>
          <a:xfrm>
            <a:off x="0" y="0"/>
            <a:ext cx="12192000" cy="203116"/>
            <a:chOff x="0" y="0"/>
            <a:chExt cx="4816593" cy="80243"/>
          </a:xfrm>
        </p:grpSpPr>
        <p:sp>
          <p:nvSpPr>
            <p:cNvPr id="3" name="Freeform 3">
              <a:extLst>
                <a:ext uri="{FF2B5EF4-FFF2-40B4-BE49-F238E27FC236}">
                  <a16:creationId xmlns:a16="http://schemas.microsoft.com/office/drawing/2014/main" id="{55811624-7627-9CA7-C9EE-3CF92371B412}"/>
                </a:ext>
              </a:extLst>
            </p:cNvPr>
            <p:cNvSpPr/>
            <p:nvPr/>
          </p:nvSpPr>
          <p:spPr>
            <a:xfrm>
              <a:off x="0" y="0"/>
              <a:ext cx="4816592" cy="80243"/>
            </a:xfrm>
            <a:custGeom>
              <a:avLst/>
              <a:gdLst/>
              <a:ahLst/>
              <a:cxnLst/>
              <a:rect l="l" t="t" r="r" b="b"/>
              <a:pathLst>
                <a:path w="4816592" h="80243">
                  <a:moveTo>
                    <a:pt x="0" y="0"/>
                  </a:moveTo>
                  <a:lnTo>
                    <a:pt x="4816592" y="0"/>
                  </a:lnTo>
                  <a:lnTo>
                    <a:pt x="4816592" y="80243"/>
                  </a:lnTo>
                  <a:lnTo>
                    <a:pt x="0" y="80243"/>
                  </a:lnTo>
                  <a:close/>
                </a:path>
              </a:pathLst>
            </a:custGeom>
            <a:solidFill>
              <a:srgbClr val="2F47AF"/>
            </a:solidFill>
          </p:spPr>
        </p:sp>
        <p:sp>
          <p:nvSpPr>
            <p:cNvPr id="4" name="TextBox 4">
              <a:extLst>
                <a:ext uri="{FF2B5EF4-FFF2-40B4-BE49-F238E27FC236}">
                  <a16:creationId xmlns:a16="http://schemas.microsoft.com/office/drawing/2014/main" id="{010D936C-2D49-CDF5-CCB1-F888B67FCC7A}"/>
                </a:ext>
              </a:extLst>
            </p:cNvPr>
            <p:cNvSpPr txBox="1"/>
            <p:nvPr/>
          </p:nvSpPr>
          <p:spPr>
            <a:xfrm>
              <a:off x="0" y="0"/>
              <a:ext cx="4816593" cy="80243"/>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97305023-0C16-FD7C-0EE5-3AB4B6E38C37}"/>
              </a:ext>
            </a:extLst>
          </p:cNvPr>
          <p:cNvGrpSpPr/>
          <p:nvPr/>
        </p:nvGrpSpPr>
        <p:grpSpPr>
          <a:xfrm>
            <a:off x="685800" y="685800"/>
            <a:ext cx="703715" cy="137244"/>
            <a:chOff x="0" y="0"/>
            <a:chExt cx="278011" cy="54220"/>
          </a:xfrm>
        </p:grpSpPr>
        <p:sp>
          <p:nvSpPr>
            <p:cNvPr id="6" name="Freeform 6">
              <a:extLst>
                <a:ext uri="{FF2B5EF4-FFF2-40B4-BE49-F238E27FC236}">
                  <a16:creationId xmlns:a16="http://schemas.microsoft.com/office/drawing/2014/main" id="{CAF6EA63-8D36-D220-8EF4-929EF60F96F2}"/>
                </a:ext>
              </a:extLst>
            </p:cNvPr>
            <p:cNvSpPr/>
            <p:nvPr/>
          </p:nvSpPr>
          <p:spPr>
            <a:xfrm>
              <a:off x="0" y="0"/>
              <a:ext cx="278011" cy="54220"/>
            </a:xfrm>
            <a:custGeom>
              <a:avLst/>
              <a:gdLst/>
              <a:ahLst/>
              <a:cxnLst/>
              <a:rect l="l" t="t" r="r" b="b"/>
              <a:pathLst>
                <a:path w="278011" h="54220">
                  <a:moveTo>
                    <a:pt x="0" y="0"/>
                  </a:moveTo>
                  <a:lnTo>
                    <a:pt x="278011" y="0"/>
                  </a:lnTo>
                  <a:lnTo>
                    <a:pt x="278011" y="54220"/>
                  </a:lnTo>
                  <a:lnTo>
                    <a:pt x="0" y="54220"/>
                  </a:lnTo>
                  <a:close/>
                </a:path>
              </a:pathLst>
            </a:custGeom>
            <a:solidFill>
              <a:srgbClr val="2F47AF"/>
            </a:solidFill>
          </p:spPr>
        </p:sp>
        <p:sp>
          <p:nvSpPr>
            <p:cNvPr id="7" name="TextBox 7">
              <a:extLst>
                <a:ext uri="{FF2B5EF4-FFF2-40B4-BE49-F238E27FC236}">
                  <a16:creationId xmlns:a16="http://schemas.microsoft.com/office/drawing/2014/main" id="{BD132310-6015-E187-46E3-D3329A9DB89F}"/>
                </a:ext>
              </a:extLst>
            </p:cNvPr>
            <p:cNvSpPr txBox="1"/>
            <p:nvPr/>
          </p:nvSpPr>
          <p:spPr>
            <a:xfrm>
              <a:off x="0" y="0"/>
              <a:ext cx="278011" cy="54220"/>
            </a:xfrm>
            <a:prstGeom prst="rect">
              <a:avLst/>
            </a:prstGeom>
          </p:spPr>
          <p:txBody>
            <a:bodyPr lIns="33867" tIns="33867" rIns="33867" bIns="33867" rtlCol="0" anchor="ctr"/>
            <a:lstStyle/>
            <a:p>
              <a:pPr marL="0" marR="0" lvl="0" indent="0" algn="ctr" defTabSz="609630" rtl="0" eaLnBrk="1" fontAlgn="auto" latinLnBrk="0" hangingPunct="1">
                <a:lnSpc>
                  <a:spcPts val="144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a:extLst>
              <a:ext uri="{FF2B5EF4-FFF2-40B4-BE49-F238E27FC236}">
                <a16:creationId xmlns:a16="http://schemas.microsoft.com/office/drawing/2014/main" id="{38AC12EC-CFF5-07AA-9598-3236FC11C220}"/>
              </a:ext>
            </a:extLst>
          </p:cNvPr>
          <p:cNvSpPr txBox="1"/>
          <p:nvPr/>
        </p:nvSpPr>
        <p:spPr>
          <a:xfrm>
            <a:off x="516038" y="6210300"/>
            <a:ext cx="586491" cy="274178"/>
          </a:xfrm>
          <a:prstGeom prst="rect">
            <a:avLst/>
          </a:prstGeom>
        </p:spPr>
        <p:txBody>
          <a:bodyPr lIns="0" tIns="0" rIns="0" bIns="0" rtlCol="0" anchor="t">
            <a:spAutoFit/>
          </a:bodyPr>
          <a:lstStyle/>
          <a:p>
            <a:pPr marL="0" marR="0" lvl="0" indent="0" algn="l" defTabSz="609630" rtl="0" eaLnBrk="1" fontAlgn="auto" latinLnBrk="0" hangingPunct="1">
              <a:lnSpc>
                <a:spcPts val="2133"/>
              </a:lnSpc>
              <a:spcBef>
                <a:spcPts val="0"/>
              </a:spcBef>
              <a:spcAft>
                <a:spcPts val="0"/>
              </a:spcAft>
              <a:buClrTx/>
              <a:buSzTx/>
              <a:buFontTx/>
              <a:buNone/>
              <a:tabLst/>
              <a:defRPr/>
            </a:pPr>
            <a:r>
              <a:rPr kumimoji="0" lang="en-US" sz="2133" b="1" i="0" u="none" strike="noStrike" kern="1200" cap="none" spc="0" normalizeH="0" baseline="0" noProof="0">
                <a:ln>
                  <a:noFill/>
                </a:ln>
                <a:solidFill>
                  <a:srgbClr val="004AAD"/>
                </a:solidFill>
                <a:effectLst/>
                <a:uLnTx/>
                <a:uFillTx/>
                <a:latin typeface="Sondos Bold"/>
                <a:ea typeface="Sondos Bold"/>
                <a:cs typeface="Sondos Bold"/>
                <a:sym typeface="Sondos Bold"/>
              </a:rPr>
              <a:t>09</a:t>
            </a:r>
          </a:p>
        </p:txBody>
      </p:sp>
      <p:graphicFrame>
        <p:nvGraphicFramePr>
          <p:cNvPr id="11" name="Gráfico 10">
            <a:extLst>
              <a:ext uri="{FF2B5EF4-FFF2-40B4-BE49-F238E27FC236}">
                <a16:creationId xmlns:a16="http://schemas.microsoft.com/office/drawing/2014/main" id="{9824D823-FF3D-4853-80DC-5E54D42D2808}"/>
              </a:ext>
            </a:extLst>
          </p:cNvPr>
          <p:cNvGraphicFramePr>
            <a:graphicFrameLocks/>
          </p:cNvGraphicFramePr>
          <p:nvPr>
            <p:extLst>
              <p:ext uri="{D42A27DB-BD31-4B8C-83A1-F6EECF244321}">
                <p14:modId xmlns:p14="http://schemas.microsoft.com/office/powerpoint/2010/main" val="3280661176"/>
              </p:ext>
            </p:extLst>
          </p:nvPr>
        </p:nvGraphicFramePr>
        <p:xfrm>
          <a:off x="0" y="1030570"/>
          <a:ext cx="11976100" cy="5653513"/>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2">
            <a:extLst>
              <a:ext uri="{FF2B5EF4-FFF2-40B4-BE49-F238E27FC236}">
                <a16:creationId xmlns:a16="http://schemas.microsoft.com/office/drawing/2014/main" id="{00F04C88-EB82-9A4E-271B-6774427EAA8A}"/>
              </a:ext>
            </a:extLst>
          </p:cNvPr>
          <p:cNvSpPr txBox="1"/>
          <p:nvPr/>
        </p:nvSpPr>
        <p:spPr>
          <a:xfrm>
            <a:off x="289560" y="823044"/>
            <a:ext cx="12191997" cy="615553"/>
          </a:xfrm>
          <a:prstGeom prst="rect">
            <a:avLst/>
          </a:prstGeom>
        </p:spPr>
        <p:txBody>
          <a:bodyPr wrap="square" lIns="0" tIns="0" rIns="0" bIns="0" rtlCol="0" anchor="t">
            <a:spAutoFit/>
          </a:bodyPr>
          <a:lstStyle/>
          <a:p>
            <a:pPr algn="ctr">
              <a:spcBef>
                <a:spcPct val="0"/>
              </a:spcBef>
            </a:pPr>
            <a:r>
              <a:rPr lang="en-US" sz="4000" dirty="0">
                <a:solidFill>
                  <a:srgbClr val="004AAD"/>
                </a:solidFill>
                <a:latin typeface="Questrial"/>
                <a:ea typeface="Questrial"/>
                <a:cs typeface="Questrial"/>
                <a:sym typeface="Questrial"/>
              </a:rPr>
              <a:t>MODALIDADE DA VIOLÊNCIA | OE/OM</a:t>
            </a:r>
          </a:p>
        </p:txBody>
      </p:sp>
    </p:spTree>
    <p:extLst>
      <p:ext uri="{BB962C8B-B14F-4D97-AF65-F5344CB8AC3E}">
        <p14:creationId xmlns:p14="http://schemas.microsoft.com/office/powerpoint/2010/main" val="1264177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600</TotalTime>
  <Words>954</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vt:i4>
      </vt:variant>
    </vt:vector>
  </HeadingPairs>
  <TitlesOfParts>
    <vt:vector size="12" baseType="lpstr">
      <vt:lpstr>Arial</vt:lpstr>
      <vt:lpstr>Calibri</vt:lpstr>
      <vt:lpstr>Questrial</vt:lpstr>
      <vt:lpstr>Sondos 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Fabio</dc:creator>
  <cp:lastModifiedBy>Fabio</cp:lastModifiedBy>
  <cp:revision>27</cp:revision>
  <dcterms:created xsi:type="dcterms:W3CDTF">2025-11-17T13:41:14Z</dcterms:created>
  <dcterms:modified xsi:type="dcterms:W3CDTF">2025-11-22T22:54:55Z</dcterms:modified>
</cp:coreProperties>
</file>