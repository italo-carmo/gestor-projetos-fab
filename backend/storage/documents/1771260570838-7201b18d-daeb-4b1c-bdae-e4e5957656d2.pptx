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rawings/drawing1.xml" ContentType="application/vnd.openxmlformats-officedocument.drawingml.chartshape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81" r:id="rId13"/>
    <p:sldId id="269" r:id="rId14"/>
    <p:sldId id="282" r:id="rId15"/>
    <p:sldId id="283" r:id="rId16"/>
    <p:sldId id="284" r:id="rId17"/>
    <p:sldId id="285" r:id="rId18"/>
    <p:sldId id="266" r:id="rId19"/>
    <p:sldId id="273" r:id="rId20"/>
    <p:sldId id="271" r:id="rId21"/>
    <p:sldId id="272" r:id="rId22"/>
    <p:sldId id="275" r:id="rId23"/>
    <p:sldId id="276" r:id="rId24"/>
    <p:sldId id="277" r:id="rId25"/>
    <p:sldId id="278" r:id="rId26"/>
    <p:sldId id="279" r:id="rId27"/>
    <p:sldId id="280" r:id="rId28"/>
  </p:sldIdLst>
  <p:sldSz cx="18288000" cy="10287000"/>
  <p:notesSz cx="6858000" cy="9144000"/>
  <p:embeddedFontLst>
    <p:embeddedFont>
      <p:font typeface="Josefin Slab" pitchFamily="2" charset="0"/>
      <p:regular r:id="rId30"/>
      <p:bold r:id="rId31"/>
      <p:italic r:id="rId32"/>
      <p:boldItalic r:id="rId33"/>
    </p:embeddedFont>
    <p:embeddedFont>
      <p:font typeface="Josefin Slab Bold" charset="0"/>
      <p:regular r:id="rId34"/>
    </p:embeddedFont>
    <p:embeddedFont>
      <p:font typeface="Raleway Bold" panose="020B0604020202020204" charset="0"/>
      <p:regular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4E3"/>
    <a:srgbClr val="1F4CA6"/>
    <a:srgbClr val="FF8B90"/>
    <a:srgbClr val="F23D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116" y="4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Fabio\Documents\pesquisa_violencia\PESQUSA_MANAUS\Quest_GUARNAE%20MN_TAB_FIG%20(1).xlsx" TargetMode="Externa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chartUserShapes" Target="../drawings/drawing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4471106541949314E-2"/>
          <c:y val="3.3182503770739065E-2"/>
          <c:w val="0.82679138401468366"/>
          <c:h val="0.5829422284448458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1F4CA6"/>
            </a:solidFill>
            <a:ln>
              <a:noFill/>
            </a:ln>
            <a:effectLst/>
          </c:spPr>
          <c:invertIfNegative val="0"/>
          <c:dLbls>
            <c:dLbl>
              <c:idx val="10"/>
              <c:layout>
                <c:manualLayout>
                  <c:x val="0"/>
                  <c:y val="-5.821072380109870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C0C-4186-8798-9E0EC24EDB9F}"/>
                </c:ext>
              </c:extLst>
            </c:dLbl>
            <c:dLbl>
              <c:idx val="11"/>
              <c:layout>
                <c:manualLayout>
                  <c:x val="7.716049382716049E-4"/>
                  <c:y val="-5.8210723801098707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C0C-4186-8798-9E0EC24EDB9F}"/>
                </c:ext>
              </c:extLst>
            </c:dLbl>
            <c:dLbl>
              <c:idx val="12"/>
              <c:layout>
                <c:manualLayout>
                  <c:x val="-2.3148148148148147E-3"/>
                  <c:y val="-7.5045742867752615E-3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/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6C0C-4186-8798-9E0EC24EDB9F}"/>
                </c:ext>
              </c:extLst>
            </c:dLbl>
            <c:dLbl>
              <c:idx val="13"/>
              <c:layout>
                <c:manualLayout>
                  <c:x val="-3.0864197530863064E-3"/>
                  <c:y val="-5.821072380109870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C0C-4186-8798-9E0EC24EDB9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/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FIG!$B$48:$B$61</c:f>
              <c:strCache>
                <c:ptCount val="14"/>
                <c:pt idx="0">
                  <c:v>Ex-namorado (a)</c:v>
                </c:pt>
                <c:pt idx="1">
                  <c:v>Ex-cônjuge ou ex-comp</c:v>
                </c:pt>
                <c:pt idx="2">
                  <c:v>Cônjuge ou comp atual</c:v>
                </c:pt>
                <c:pt idx="3">
                  <c:v>Pai</c:v>
                </c:pt>
                <c:pt idx="4">
                  <c:v>Padrasto</c:v>
                </c:pt>
                <c:pt idx="5">
                  <c:v>Namorado (a) atual</c:v>
                </c:pt>
                <c:pt idx="6">
                  <c:v>Tio</c:v>
                </c:pt>
                <c:pt idx="7">
                  <c:v>Primo </c:v>
                </c:pt>
                <c:pt idx="8">
                  <c:v>Irmão (ã)</c:v>
                </c:pt>
                <c:pt idx="9">
                  <c:v>Superior hierárquico </c:v>
                </c:pt>
                <c:pt idx="10">
                  <c:v>Chefe/ pares no trabalho</c:v>
                </c:pt>
                <c:pt idx="11">
                  <c:v>Cunhado</c:v>
                </c:pt>
                <c:pt idx="12">
                  <c:v>Pessoa com quem coabitou</c:v>
                </c:pt>
                <c:pt idx="13">
                  <c:v>Colega de Trabalho</c:v>
                </c:pt>
              </c:strCache>
            </c:strRef>
          </c:cat>
          <c:val>
            <c:numRef>
              <c:f>FIG!$C$48:$C$61</c:f>
              <c:numCache>
                <c:formatCode>General</c:formatCode>
                <c:ptCount val="14"/>
                <c:pt idx="0">
                  <c:v>22</c:v>
                </c:pt>
                <c:pt idx="1">
                  <c:v>21</c:v>
                </c:pt>
                <c:pt idx="2">
                  <c:v>12</c:v>
                </c:pt>
                <c:pt idx="3">
                  <c:v>6</c:v>
                </c:pt>
                <c:pt idx="4">
                  <c:v>5</c:v>
                </c:pt>
                <c:pt idx="5">
                  <c:v>3</c:v>
                </c:pt>
                <c:pt idx="6">
                  <c:v>3</c:v>
                </c:pt>
                <c:pt idx="7">
                  <c:v>3</c:v>
                </c:pt>
                <c:pt idx="8">
                  <c:v>2</c:v>
                </c:pt>
                <c:pt idx="9">
                  <c:v>2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622-407C-A45C-715C47D25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9"/>
        <c:overlap val="-27"/>
        <c:axId val="1979999424"/>
        <c:axId val="1979992704"/>
      </c:barChart>
      <c:lineChart>
        <c:grouping val="standard"/>
        <c:varyColors val="0"/>
        <c:ser>
          <c:idx val="1"/>
          <c:order val="1"/>
          <c:spPr>
            <a:ln w="28575" cap="rnd">
              <a:solidFill>
                <a:srgbClr val="F23D5E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23D5E"/>
              </a:solidFill>
              <a:ln w="9525">
                <a:solidFill>
                  <a:srgbClr val="F23D5E"/>
                </a:solidFill>
              </a:ln>
              <a:effectLst/>
            </c:spPr>
          </c:marker>
          <c:dLbls>
            <c:dLbl>
              <c:idx val="0"/>
              <c:spPr>
                <a:solidFill>
                  <a:srgbClr val="F23D5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5622-407C-A45C-715C47D25791}"/>
                </c:ext>
              </c:extLst>
            </c:dLbl>
            <c:dLbl>
              <c:idx val="1"/>
              <c:spPr>
                <a:solidFill>
                  <a:srgbClr val="F23D5E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0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Josefin Slab Bold" panose="020B0604020202020204" charset="0"/>
                      <a:ea typeface="+mn-ea"/>
                      <a:cs typeface="+mn-cs"/>
                    </a:defRPr>
                  </a:pPr>
                  <a:endParaRPr lang="pt-BR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2-5622-407C-A45C-715C47D2579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FIG!$B$48:$B$61</c:f>
              <c:strCache>
                <c:ptCount val="14"/>
                <c:pt idx="0">
                  <c:v>Ex-namorado (a)</c:v>
                </c:pt>
                <c:pt idx="1">
                  <c:v>Ex-cônjuge ou ex-comp</c:v>
                </c:pt>
                <c:pt idx="2">
                  <c:v>Cônjuge ou comp atual</c:v>
                </c:pt>
                <c:pt idx="3">
                  <c:v>Pai</c:v>
                </c:pt>
                <c:pt idx="4">
                  <c:v>Padrasto</c:v>
                </c:pt>
                <c:pt idx="5">
                  <c:v>Namorado (a) atual</c:v>
                </c:pt>
                <c:pt idx="6">
                  <c:v>Tio</c:v>
                </c:pt>
                <c:pt idx="7">
                  <c:v>Primo </c:v>
                </c:pt>
                <c:pt idx="8">
                  <c:v>Irmão (ã)</c:v>
                </c:pt>
                <c:pt idx="9">
                  <c:v>Superior hierárquico </c:v>
                </c:pt>
                <c:pt idx="10">
                  <c:v>Chefe/ pares no trabalho</c:v>
                </c:pt>
                <c:pt idx="11">
                  <c:v>Cunhado</c:v>
                </c:pt>
                <c:pt idx="12">
                  <c:v>Pessoa com quem coabitou</c:v>
                </c:pt>
                <c:pt idx="13">
                  <c:v>Colega de Trabalho</c:v>
                </c:pt>
              </c:strCache>
            </c:strRef>
          </c:cat>
          <c:val>
            <c:numRef>
              <c:f>FIG!$E$48:$E$61</c:f>
              <c:numCache>
                <c:formatCode>0.00</c:formatCode>
                <c:ptCount val="14"/>
                <c:pt idx="0">
                  <c:v>26.506024096385545</c:v>
                </c:pt>
                <c:pt idx="1">
                  <c:v>51.807228915662655</c:v>
                </c:pt>
                <c:pt idx="2">
                  <c:v>66.265060240963862</c:v>
                </c:pt>
                <c:pt idx="3">
                  <c:v>73.493975903614469</c:v>
                </c:pt>
                <c:pt idx="4">
                  <c:v>79.518072289156635</c:v>
                </c:pt>
                <c:pt idx="5">
                  <c:v>83.132530120481931</c:v>
                </c:pt>
                <c:pt idx="6">
                  <c:v>86.746987951807228</c:v>
                </c:pt>
                <c:pt idx="7">
                  <c:v>90.361445783132524</c:v>
                </c:pt>
                <c:pt idx="8">
                  <c:v>92.771084337349393</c:v>
                </c:pt>
                <c:pt idx="9">
                  <c:v>95.180722891566262</c:v>
                </c:pt>
                <c:pt idx="10">
                  <c:v>96.385542168674689</c:v>
                </c:pt>
                <c:pt idx="11">
                  <c:v>97.590361445783117</c:v>
                </c:pt>
                <c:pt idx="12">
                  <c:v>98.795180722891544</c:v>
                </c:pt>
                <c:pt idx="13">
                  <c:v>99.999999999999972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5622-407C-A45C-715C47D2579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79976864"/>
        <c:axId val="1979977824"/>
      </c:lineChart>
      <c:catAx>
        <c:axId val="19799994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Tipo de Vínculo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979992704"/>
        <c:crosses val="autoZero"/>
        <c:auto val="1"/>
        <c:lblAlgn val="ctr"/>
        <c:lblOffset val="100"/>
        <c:noMultiLvlLbl val="0"/>
      </c:catAx>
      <c:valAx>
        <c:axId val="1979992704"/>
        <c:scaling>
          <c:orientation val="minMax"/>
          <c:max val="30"/>
          <c:min val="0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Josefin Slab Bold" panose="020B0604020202020204" charset="0"/>
                    <a:ea typeface="+mn-ea"/>
                    <a:cs typeface="+mn-cs"/>
                  </a:defRPr>
                </a:pPr>
                <a:r>
                  <a:rPr lang="pt-BR"/>
                  <a:t>Quantidade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Josefin Slab Bold" panose="020B0604020202020204" charset="0"/>
                  <a:ea typeface="+mn-ea"/>
                  <a:cs typeface="+mn-cs"/>
                </a:defRPr>
              </a:pPr>
              <a:endParaRPr lang="pt-BR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979999424"/>
        <c:crosses val="autoZero"/>
        <c:crossBetween val="between"/>
      </c:valAx>
      <c:valAx>
        <c:axId val="1979977824"/>
        <c:scaling>
          <c:orientation val="minMax"/>
          <c:max val="100"/>
        </c:scaling>
        <c:delete val="0"/>
        <c:axPos val="r"/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Josefin Slab Bold" panose="020B0604020202020204" charset="0"/>
                <a:ea typeface="+mn-ea"/>
                <a:cs typeface="+mn-cs"/>
              </a:defRPr>
            </a:pPr>
            <a:endParaRPr lang="pt-BR"/>
          </a:p>
        </c:txPr>
        <c:crossAx val="1979976864"/>
        <c:crosses val="max"/>
        <c:crossBetween val="between"/>
      </c:valAx>
      <c:catAx>
        <c:axId val="19799768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799778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sz="2000">
          <a:latin typeface="Josefin Slab Bold" panose="020B0604020202020204" charset="0"/>
        </a:defRPr>
      </a:pPr>
      <a:endParaRPr lang="pt-BR"/>
    </a:p>
  </c:txPr>
  <c:externalData r:id="rId3">
    <c:autoUpdate val="0"/>
  </c:externalData>
  <c:userShapes r:id="rId4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0.95747</cdr:x>
      <cdr:y>0.22896</cdr:y>
    </cdr:from>
    <cdr:to>
      <cdr:x>0.98813</cdr:x>
      <cdr:y>0.48235</cdr:y>
    </cdr:to>
    <cdr:sp macro="" textlink="">
      <cdr:nvSpPr>
        <cdr:cNvPr id="2" name="CaixaDeTexto 1">
          <a:extLst xmlns:a="http://schemas.openxmlformats.org/drawingml/2006/main">
            <a:ext uri="{FF2B5EF4-FFF2-40B4-BE49-F238E27FC236}">
              <a16:creationId xmlns:a16="http://schemas.microsoft.com/office/drawing/2014/main" id="{A21F02E4-36CB-233F-13D7-7B03DF79AF76}"/>
            </a:ext>
          </a:extLst>
        </cdr:cNvPr>
        <cdr:cNvSpPr txBox="1"/>
      </cdr:nvSpPr>
      <cdr:spPr>
        <a:xfrm xmlns:a="http://schemas.openxmlformats.org/drawingml/2006/main">
          <a:off x="7376160" y="963930"/>
          <a:ext cx="236220" cy="10668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square" rtlCol="0"/>
        <a:lstStyle xmlns:a="http://schemas.openxmlformats.org/drawingml/2006/main"/>
        <a:p xmlns:a="http://schemas.openxmlformats.org/drawingml/2006/main">
          <a:endParaRPr lang="pt-BR" sz="1100" kern="1200"/>
        </a:p>
      </cdr:txBody>
    </cdr:sp>
  </cdr:relSizeAnchor>
  <cdr:relSizeAnchor xmlns:cdr="http://schemas.openxmlformats.org/drawingml/2006/chartDrawing">
    <cdr:from>
      <cdr:x>0.96142</cdr:x>
      <cdr:y>0.25973</cdr:y>
    </cdr:from>
    <cdr:to>
      <cdr:x>0.9911</cdr:x>
      <cdr:y>0.47692</cdr:y>
    </cdr:to>
    <cdr:sp macro="" textlink="">
      <cdr:nvSpPr>
        <cdr:cNvPr id="3" name="CaixaDeTexto 2">
          <a:extLst xmlns:a="http://schemas.openxmlformats.org/drawingml/2006/main">
            <a:ext uri="{FF2B5EF4-FFF2-40B4-BE49-F238E27FC236}">
              <a16:creationId xmlns:a16="http://schemas.microsoft.com/office/drawing/2014/main" id="{A77D74D5-CE72-127A-5221-D002EBB337D2}"/>
            </a:ext>
          </a:extLst>
        </cdr:cNvPr>
        <cdr:cNvSpPr txBox="1"/>
      </cdr:nvSpPr>
      <cdr:spPr>
        <a:xfrm xmlns:a="http://schemas.openxmlformats.org/drawingml/2006/main" rot="5400000">
          <a:off x="7063740" y="1436370"/>
          <a:ext cx="914400" cy="2286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pt-BR" sz="2000" kern="1200" dirty="0"/>
            <a:t>Percentual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2DE4E-6753-48B1-956F-E7A32AC6B113}" type="datetimeFigureOut">
              <a:rPr lang="pt-BR" smtClean="0"/>
              <a:t>29/12/2025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37F6B2-84A3-4A1D-ABD6-C3FA273BC7C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2360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5CF83-1CF4-4CD1-8AC2-0267A4508BF8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7874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44F24-F0C3-2519-5030-0C447BA66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637DBDF-9F0A-5B76-0542-D2DBEEC7B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E4FCCF1-4FB0-EE01-45B5-B227E06C2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DEBB0BE-2FEB-B615-C118-CD6BAA7FD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45CF83-1CF4-4CD1-8AC2-0267A4508BF8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66869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7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9.emf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chart" Target="../charts/chart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7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790464" y="573926"/>
            <a:ext cx="8283638" cy="5140864"/>
          </a:xfrm>
          <a:custGeom>
            <a:avLst/>
            <a:gdLst/>
            <a:ahLst/>
            <a:cxnLst/>
            <a:rect l="l" t="t" r="r" b="b"/>
            <a:pathLst>
              <a:path w="8283638" h="5140864">
                <a:moveTo>
                  <a:pt x="0" y="0"/>
                </a:moveTo>
                <a:lnTo>
                  <a:pt x="8283637" y="0"/>
                </a:lnTo>
                <a:lnTo>
                  <a:pt x="8283637" y="5140864"/>
                </a:lnTo>
                <a:lnTo>
                  <a:pt x="0" y="514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74575" y="6272621"/>
            <a:ext cx="6055977" cy="3575380"/>
          </a:xfrm>
          <a:custGeom>
            <a:avLst/>
            <a:gdLst/>
            <a:ahLst/>
            <a:cxnLst/>
            <a:rect l="l" t="t" r="r" b="b"/>
            <a:pathLst>
              <a:path w="6055977" h="3575380">
                <a:moveTo>
                  <a:pt x="0" y="0"/>
                </a:moveTo>
                <a:lnTo>
                  <a:pt x="6055977" y="0"/>
                </a:lnTo>
                <a:lnTo>
                  <a:pt x="6055977" y="3575380"/>
                </a:lnTo>
                <a:lnTo>
                  <a:pt x="0" y="3575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5199" r="-2455" b="-722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951011" y="1863540"/>
            <a:ext cx="13759086" cy="5997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en-US" sz="3799" b="1" spc="-79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Comissão Itinerante de Prevenção ao Assédio e à Violência Doméstica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771689" y="526301"/>
            <a:ext cx="6117729" cy="1365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0"/>
              </a:lnSpc>
            </a:pPr>
            <a:r>
              <a:rPr lang="en-US" sz="8653" b="1" spc="2596">
                <a:solidFill>
                  <a:srgbClr val="1D4D9C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CIPAVD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51566" y="3646033"/>
            <a:ext cx="15455713" cy="2727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730"/>
              </a:lnSpc>
            </a:pPr>
            <a:r>
              <a:rPr lang="en-US" sz="8653" spc="406">
                <a:solidFill>
                  <a:srgbClr val="1D4D9C"/>
                </a:solidFill>
                <a:latin typeface="Josefin Slab"/>
                <a:ea typeface="Josefin Slab"/>
                <a:cs typeface="Josefin Slab"/>
                <a:sym typeface="Josefin Slab"/>
              </a:rPr>
              <a:t>Briefing da Missão em Manaus - 2025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42021" y="1489876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OBJETIVO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2021" y="4069608"/>
            <a:ext cx="15376404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999" spc="343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Conhecer as atividades realizadas pela CIPAVD no projeto-piloto realizado em Manaus - 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6" name="TextBox 6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63530" y="1131430"/>
            <a:ext cx="1237281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50"/>
              </a:lnSpc>
              <a:spcBef>
                <a:spcPct val="0"/>
              </a:spcBef>
            </a:pPr>
            <a:r>
              <a:rPr lang="en-US" sz="4500" b="1">
                <a:solidFill>
                  <a:srgbClr val="F3230E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- Plano de Ação -  Projeto Piloto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4296" y="1995995"/>
            <a:ext cx="1164215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2F47AF"/>
                </a:solidFill>
                <a:latin typeface="Josefin Slab"/>
                <a:ea typeface="Josefin Slab"/>
                <a:cs typeface="Josefin Slab"/>
                <a:sym typeface="Josefin Slab"/>
              </a:rPr>
              <a:t>OBJETIVO: ‘BALÃO DE ENSAIO’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33959" y="3732098"/>
            <a:ext cx="16152452" cy="5222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9"/>
              </a:lnSpc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    Organizações Militares em Manaus (AM);</a:t>
            </a:r>
          </a:p>
          <a:p>
            <a:pPr marL="760568" lvl="1" indent="-380284" algn="just">
              <a:lnSpc>
                <a:spcPts val="4579"/>
              </a:lnSpc>
              <a:buAutoNum type="arabicPeriod"/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Localidade com 20 vagas para o SMIF;</a:t>
            </a:r>
          </a:p>
          <a:p>
            <a:pPr marL="760568" lvl="1" indent="-380284" algn="just">
              <a:lnSpc>
                <a:spcPts val="4579"/>
              </a:lnSpc>
              <a:buAutoNum type="arabicPeriod"/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Cacterísticas culturais relevantes - Região Norte do Brasil, Localidade especial</a:t>
            </a:r>
          </a:p>
          <a:p>
            <a:pPr marL="760568" lvl="1" indent="-380284" algn="just">
              <a:lnSpc>
                <a:spcPts val="4579"/>
              </a:lnSpc>
              <a:buAutoNum type="arabicPeriod"/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Estabelecimento de contato próximo com as normativas do COMGEP</a:t>
            </a:r>
          </a:p>
          <a:p>
            <a:pPr marL="760568" lvl="1" indent="-380284" algn="just">
              <a:lnSpc>
                <a:spcPts val="4579"/>
              </a:lnSpc>
              <a:buFont typeface="Arial"/>
              <a:buChar char="•"/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Palestra sobre Assédio Moral e Sexual;</a:t>
            </a:r>
          </a:p>
          <a:p>
            <a:pPr marL="760568" lvl="1" indent="-380284" algn="just">
              <a:lnSpc>
                <a:spcPts val="4579"/>
              </a:lnSpc>
              <a:buFont typeface="Arial"/>
              <a:buChar char="•"/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Palestra sobre a Violência Doméstica;</a:t>
            </a:r>
          </a:p>
          <a:p>
            <a:pPr marL="760568" lvl="1" indent="-380284" algn="just">
              <a:lnSpc>
                <a:spcPts val="4579"/>
              </a:lnSpc>
              <a:buFont typeface="Arial"/>
              <a:buChar char="•"/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Questionário elaborado para esse projeto.</a:t>
            </a:r>
          </a:p>
          <a:p>
            <a:pPr algn="just">
              <a:lnSpc>
                <a:spcPts val="4579"/>
              </a:lnSpc>
            </a:pPr>
            <a:endParaRPr lang="en-US" sz="3522" b="1">
              <a:solidFill>
                <a:srgbClr val="004AAD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  <a:p>
            <a:pPr algn="just">
              <a:lnSpc>
                <a:spcPts val="4579"/>
              </a:lnSpc>
              <a:spcBef>
                <a:spcPct val="0"/>
              </a:spcBef>
            </a:pPr>
            <a:endParaRPr lang="en-US" sz="3522" b="1">
              <a:solidFill>
                <a:srgbClr val="004AAD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6" name="TextBox 6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663530" y="1131430"/>
            <a:ext cx="12372818" cy="74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850"/>
              </a:lnSpc>
              <a:spcBef>
                <a:spcPct val="0"/>
              </a:spcBef>
            </a:pPr>
            <a:r>
              <a:rPr lang="en-US" sz="4500" b="1">
                <a:solidFill>
                  <a:srgbClr val="F3230E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- Plano de Ação -  Projeto Piloto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894296" y="1995995"/>
            <a:ext cx="1164215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  <a:spcBef>
                <a:spcPct val="0"/>
              </a:spcBef>
            </a:pPr>
            <a:r>
              <a:rPr lang="en-US" sz="5000">
                <a:solidFill>
                  <a:srgbClr val="2F47AF"/>
                </a:solidFill>
                <a:latin typeface="Josefin Slab"/>
                <a:ea typeface="Josefin Slab"/>
                <a:cs typeface="Josefin Slab"/>
                <a:sym typeface="Josefin Slab"/>
              </a:rPr>
              <a:t>OBJETIVO: ‘BALÃO DE ENSAIO’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1494" y="3965720"/>
            <a:ext cx="16152452" cy="2317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579"/>
              </a:lnSpc>
            </a:pPr>
            <a:r>
              <a:rPr lang="en-US" sz="3522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   </a:t>
            </a:r>
          </a:p>
          <a:p>
            <a:pPr algn="just">
              <a:lnSpc>
                <a:spcPts val="4579"/>
              </a:lnSpc>
            </a:pPr>
            <a:endParaRPr lang="en-US" sz="3522">
              <a:solidFill>
                <a:srgbClr val="004AAD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algn="just">
              <a:lnSpc>
                <a:spcPts val="4579"/>
              </a:lnSpc>
              <a:spcBef>
                <a:spcPct val="0"/>
              </a:spcBef>
            </a:pPr>
            <a:r>
              <a:rPr lang="en-US" sz="3522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2 dias para cumprimento das atividades: alcançar o maior número de militares e civis (BAMN; GOPE; CINDACTA, COMAR VII, HAMN, SEREP-MN, GAP-MN).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14" name="Rectangle 3">
            <a:extLst>
              <a:ext uri="{FF2B5EF4-FFF2-40B4-BE49-F238E27FC236}">
                <a16:creationId xmlns:a16="http://schemas.microsoft.com/office/drawing/2014/main" id="{F1628D87-18A8-6262-FE34-B2E22CC92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F9DC7ABB-45ED-F31F-4B25-53D63CD5B3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9091026"/>
              </p:ext>
            </p:extLst>
          </p:nvPr>
        </p:nvGraphicFramePr>
        <p:xfrm>
          <a:off x="2429074" y="1600201"/>
          <a:ext cx="13806516" cy="7962899"/>
        </p:xfrm>
        <a:graphic>
          <a:graphicData uri="http://schemas.openxmlformats.org/drawingml/2006/table">
            <a:tbl>
              <a:tblPr/>
              <a:tblGrid>
                <a:gridCol w="6903258">
                  <a:extLst>
                    <a:ext uri="{9D8B030D-6E8A-4147-A177-3AD203B41FA5}">
                      <a16:colId xmlns:a16="http://schemas.microsoft.com/office/drawing/2014/main" val="3102896724"/>
                    </a:ext>
                  </a:extLst>
                </a:gridCol>
                <a:gridCol w="6903258">
                  <a:extLst>
                    <a:ext uri="{9D8B030D-6E8A-4147-A177-3AD203B41FA5}">
                      <a16:colId xmlns:a16="http://schemas.microsoft.com/office/drawing/2014/main" val="3789579905"/>
                    </a:ext>
                  </a:extLst>
                </a:gridCol>
              </a:tblGrid>
              <a:tr h="1002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ATIVIDADE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47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OBJETIVO</a:t>
                      </a:r>
                    </a:p>
                  </a:txBody>
                  <a:tcPr marL="47621" marR="47621" marT="23810" marB="23810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47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909441"/>
                  </a:ext>
                </a:extLst>
              </a:tr>
              <a:tr h="2094570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Palestra: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Prevenção e Enfrentamento ao Assédio Sexual e Moral no âmbito do COMAER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Conscientização do efetivo sobre a importância da prevenção ao assédio moral e sexual, com enfoque nos aspectos jurídicos e legislações vigentes. Apresentação dos procedimentos de enfrentamento dessas condutas incompatíveis com os valores institucionais.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573504"/>
                  </a:ext>
                </a:extLst>
              </a:tr>
              <a:tr h="1117104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Palestra: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Violência Doméstica e Apoio entre Pares</a:t>
                      </a:r>
                      <a:endParaRPr lang="pt-BR" sz="2000" b="1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Orientação quanto às estratégias de prevenção, enfrentamento e acolhimento da violência doméstica, bem como os dispositivos legais de proteção.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7440233"/>
                  </a:ext>
                </a:extLst>
              </a:tr>
              <a:tr h="13870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I Encontro de CPCA da Força Aérea Brasileira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0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Fortalecimento da atuação das CPCA locais por meio de capacitação técnica e troca de experiências.</a:t>
                      </a:r>
                      <a:endParaRPr lang="pt-BR" sz="2000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8888394"/>
                  </a:ext>
                </a:extLst>
              </a:tr>
              <a:tr h="13593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Círculo de Boas Práticas em Acolhimento para profissionais de saúde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Capacitação os militares sobre os protocolos adequados de notificação, acolhimento e procedimentos legais;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812732"/>
                  </a:ext>
                </a:extLst>
              </a:tr>
              <a:tr h="10024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Aplicação de pesquisa 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Coleta de dados para subsidiar políticas institucionais de prevenção e enfrentamento.</a:t>
                      </a:r>
                    </a:p>
                  </a:txBody>
                  <a:tcPr marL="47621" marR="47621" marT="23810" marB="23810" anchor="ctr">
                    <a:lnL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68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817938"/>
                  </a:ext>
                </a:extLst>
              </a:tr>
            </a:tbl>
          </a:graphicData>
        </a:graphic>
      </p:graphicFrame>
      <p:sp>
        <p:nvSpPr>
          <p:cNvPr id="18" name="Rectangle 5">
            <a:extLst>
              <a:ext uri="{FF2B5EF4-FFF2-40B4-BE49-F238E27FC236}">
                <a16:creationId xmlns:a16="http://schemas.microsoft.com/office/drawing/2014/main" id="{B0240936-8AB3-A495-0713-27B888FB3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8875" y="16002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69F72A0-B223-C081-D437-55D98436E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364244"/>
              </p:ext>
            </p:extLst>
          </p:nvPr>
        </p:nvGraphicFramePr>
        <p:xfrm>
          <a:off x="1970106" y="1623922"/>
          <a:ext cx="14284533" cy="8049193"/>
        </p:xfrm>
        <a:graphic>
          <a:graphicData uri="http://schemas.openxmlformats.org/drawingml/2006/table">
            <a:tbl>
              <a:tblPr/>
              <a:tblGrid>
                <a:gridCol w="4761511">
                  <a:extLst>
                    <a:ext uri="{9D8B030D-6E8A-4147-A177-3AD203B41FA5}">
                      <a16:colId xmlns:a16="http://schemas.microsoft.com/office/drawing/2014/main" val="4204757339"/>
                    </a:ext>
                  </a:extLst>
                </a:gridCol>
                <a:gridCol w="4761511">
                  <a:extLst>
                    <a:ext uri="{9D8B030D-6E8A-4147-A177-3AD203B41FA5}">
                      <a16:colId xmlns:a16="http://schemas.microsoft.com/office/drawing/2014/main" val="1781093292"/>
                    </a:ext>
                  </a:extLst>
                </a:gridCol>
                <a:gridCol w="4761511">
                  <a:extLst>
                    <a:ext uri="{9D8B030D-6E8A-4147-A177-3AD203B41FA5}">
                      <a16:colId xmlns:a16="http://schemas.microsoft.com/office/drawing/2014/main" val="1567956598"/>
                    </a:ext>
                  </a:extLst>
                </a:gridCol>
              </a:tblGrid>
              <a:tr h="10635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FFFFFF"/>
                          </a:solidFill>
                          <a:effectLst/>
                          <a:latin typeface="Josefin Slab Bold" panose="020B0604020202020204" charset="0"/>
                        </a:rPr>
                        <a:t>DESCRIÇÃO DA AÇÃO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FFFFFF"/>
                          </a:solidFill>
                          <a:effectLst/>
                          <a:latin typeface="Josefin Slab Bold" panose="020B0604020202020204" charset="0"/>
                        </a:rPr>
                        <a:t>ATIVIDADE DESENVOLVIDA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FFFFFF"/>
                          </a:solidFill>
                          <a:effectLst/>
                          <a:latin typeface="Josefin Slab Bold" panose="020B0604020202020204" charset="0"/>
                        </a:rPr>
                        <a:t>MENSURAÇÃO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4A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3843228"/>
                  </a:ext>
                </a:extLst>
              </a:tr>
              <a:tr h="797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Capacitação sobre aspectos jurídicos do Assédio Moral e Sexual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3</a:t>
                      </a:r>
                      <a:r>
                        <a:rPr lang="pt-BR" sz="2000" b="0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 Palestras Realizadas</a:t>
                      </a:r>
                      <a:endParaRPr lang="pt-BR" sz="200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910 militares e civis alcançados - homens e mulheres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920389"/>
                  </a:ext>
                </a:extLst>
              </a:tr>
              <a:tr h="10369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Capacitação sobre acolhimento e a Violência Doméstica e Apoio entre Pares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3 </a:t>
                      </a:r>
                      <a:r>
                        <a:rPr lang="pt-BR" sz="2000" b="0" i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Palestras Realizadas</a:t>
                      </a:r>
                      <a:endParaRPr lang="pt-BR" sz="200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390 mulheres alcançadas</a:t>
                      </a:r>
                      <a:endParaRPr lang="pt-BR" sz="2000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027470"/>
                  </a:ext>
                </a:extLst>
              </a:tr>
              <a:tr h="19942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Divulgação e Informação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pt-BR" sz="2000" b="1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17 OM </a:t>
                      </a:r>
                      <a:r>
                        <a:rPr lang="pt-BR" sz="2000" b="0" i="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representadas durante os eventos realizados</a:t>
                      </a:r>
                      <a:endParaRPr lang="pt-BR" sz="2000" dirty="0">
                        <a:solidFill>
                          <a:srgbClr val="004AAD"/>
                        </a:solidFill>
                        <a:effectLst/>
                        <a:latin typeface="Josefin Slab Bold" panose="020B0604020202020204" charset="0"/>
                      </a:endParaRP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CINDACTA IV; DTCEA-EG, DTCEA-MN, HAMN, GAP-MN, COMAR VII, BAMN, SEREP-MN, SERINFRA-MN, SERIPA VII, GSD-MN, GLOG-MN, DACO-MN, PAMN, 7º/8º </a:t>
                      </a:r>
                      <a:r>
                        <a:rPr lang="pt-BR" sz="2000" b="1" dirty="0" err="1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GAv</a:t>
                      </a: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, 1º/9º </a:t>
                      </a:r>
                      <a:r>
                        <a:rPr lang="pt-BR" sz="2000" b="1" dirty="0" err="1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GAv</a:t>
                      </a: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 e ETA7.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964652"/>
                  </a:ext>
                </a:extLst>
              </a:tr>
              <a:tr h="139885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Melhoria de processos atuais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"I Encontro de CPCA da Força Aérea Brasileira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8 Comissões Presentes - 30 militares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538355"/>
                  </a:ext>
                </a:extLst>
              </a:tr>
              <a:tr h="797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Levantamento de dados sobre Violência Doméstica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Aplicação de Questionário sobre Violência Doméstica para as militares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212 Respondentes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506032"/>
                  </a:ext>
                </a:extLst>
              </a:tr>
              <a:tr h="79768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Levantamento de dados sobre atuação das CPCA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dirty="0">
                          <a:solidFill>
                            <a:srgbClr val="004AAD"/>
                          </a:solidFill>
                          <a:effectLst/>
                          <a:latin typeface="Josefin Slab Bold" panose="020B0604020202020204" charset="0"/>
                        </a:rPr>
                        <a:t>Aplicação de Questionário sobre avaliação situacional de atuação das CPCA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2000" b="1" dirty="0">
                          <a:solidFill>
                            <a:srgbClr val="F34747"/>
                          </a:solidFill>
                          <a:effectLst/>
                          <a:latin typeface="Josefin Slab Bold" panose="020B0604020202020204" charset="0"/>
                        </a:rPr>
                        <a:t>100% de respondentes</a:t>
                      </a:r>
                    </a:p>
                  </a:txBody>
                  <a:tcPr marL="45777" marR="45777" marT="22889" marB="22889" anchor="ctr">
                    <a:lnL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4AA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7474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E6247-3AC2-8E8F-10A3-7961BFD66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41E819-53BA-D610-F40C-2A21CA97F83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F74276E-9DF9-A8FA-2EED-470099AE3A96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1C1ED6F-D25F-A2DA-568F-567A925209D6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BFBC8B2-F831-5830-27D4-3BEE38593570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E93AB77-5C48-F022-97FC-C7BA4474D257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86124955-C525-F9DF-5D61-772AD7FBB8CA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1F0ED4A-A9B3-C2D1-2655-04B764E7E8A4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grpSp>
        <p:nvGrpSpPr>
          <p:cNvPr id="36" name="Group 2">
            <a:extLst>
              <a:ext uri="{FF2B5EF4-FFF2-40B4-BE49-F238E27FC236}">
                <a16:creationId xmlns:a16="http://schemas.microsoft.com/office/drawing/2014/main" id="{050D79A9-FF19-91A1-4560-E515EF2A26BA}"/>
              </a:ext>
            </a:extLst>
          </p:cNvPr>
          <p:cNvGrpSpPr/>
          <p:nvPr/>
        </p:nvGrpSpPr>
        <p:grpSpPr>
          <a:xfrm>
            <a:off x="-117283" y="114300"/>
            <a:ext cx="6331905" cy="10172700"/>
            <a:chOff x="0" y="0"/>
            <a:chExt cx="1667662" cy="2709333"/>
          </a:xfrm>
          <a:solidFill>
            <a:srgbClr val="1F4CA6"/>
          </a:solidFill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EA543C3B-6438-B43E-1C54-928AF82099B0}"/>
                </a:ext>
              </a:extLst>
            </p:cNvPr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F25E3AC0-9C0E-BC24-7018-84BBBE6979FE}"/>
                </a:ext>
              </a:extLst>
            </p:cNvPr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pic>
        <p:nvPicPr>
          <p:cNvPr id="34" name="Imagem 33">
            <a:extLst>
              <a:ext uri="{FF2B5EF4-FFF2-40B4-BE49-F238E27FC236}">
                <a16:creationId xmlns:a16="http://schemas.microsoft.com/office/drawing/2014/main" id="{676FC9B8-DCAD-AEA4-3B6D-F8EB7101A76A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0" b="13499"/>
          <a:stretch>
            <a:fillRect/>
          </a:stretch>
        </p:blipFill>
        <p:spPr>
          <a:xfrm>
            <a:off x="551991" y="3203983"/>
            <a:ext cx="8579964" cy="4913182"/>
          </a:xfrm>
          <a:prstGeom prst="rect">
            <a:avLst/>
          </a:prstGeom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9E20F42D-32DC-44B8-4285-54A5DCDE0BCA}"/>
              </a:ext>
            </a:extLst>
          </p:cNvPr>
          <p:cNvSpPr txBox="1"/>
          <p:nvPr/>
        </p:nvSpPr>
        <p:spPr>
          <a:xfrm>
            <a:off x="9649027" y="1454607"/>
            <a:ext cx="833628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VIOLÊNCIA DOMÉSTICA NO ÂMBITO DA FAB</a:t>
            </a:r>
            <a:endParaRPr lang="pt-BR" sz="40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endParaRPr lang="pt-BR" sz="32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b="1" dirty="0">
                <a:solidFill>
                  <a:srgbClr val="1F4CA6"/>
                </a:solidFill>
                <a:latin typeface="Josefin Slab Bold" panose="020B0604020202020204" charset="0"/>
              </a:rPr>
              <a:t>PERÍODO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24 e 25 de novembro de 2025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3 aplicações (17 Organizações Militares)</a:t>
            </a:r>
          </a:p>
          <a:p>
            <a:endParaRPr lang="pt-BR" sz="32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b="1" dirty="0">
                <a:solidFill>
                  <a:srgbClr val="1F4CA6"/>
                </a:solidFill>
                <a:latin typeface="Josefin Slab Bold" panose="020B0604020202020204" charset="0"/>
              </a:rPr>
              <a:t>QUESTIONÁRIO ESTRUTURADO</a:t>
            </a:r>
          </a:p>
          <a:p>
            <a:r>
              <a:rPr lang="pt-BR" sz="3200" b="1" dirty="0">
                <a:solidFill>
                  <a:srgbClr val="1F4CA6"/>
                </a:solidFill>
                <a:latin typeface="Josefin Slab Bold" panose="020B0604020202020204" charset="0"/>
              </a:rPr>
              <a:t>Questões fechadas e abertas</a:t>
            </a:r>
          </a:p>
          <a:p>
            <a:endParaRPr lang="pt-BR" sz="32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Bloco 1 – Perfil Sociodemográfico;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Bloco 2 – Violência;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Bloco 3 – Impacto, denúncia e acolhimento.</a:t>
            </a:r>
          </a:p>
          <a:p>
            <a:endParaRPr lang="pt-BR" sz="32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A pesquisa apresenta erro amostral de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aproximadamente 5,7%, com nível de</a:t>
            </a:r>
          </a:p>
          <a:p>
            <a:r>
              <a:rPr lang="pt-BR" sz="3200" dirty="0">
                <a:solidFill>
                  <a:srgbClr val="1F4CA6"/>
                </a:solidFill>
                <a:latin typeface="Josefin Slab Bold" panose="020B0604020202020204" charset="0"/>
              </a:rPr>
              <a:t>confiança estimado em 95%.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C5D0ED7E-A992-0702-2878-AFF27586E4F4}"/>
              </a:ext>
            </a:extLst>
          </p:cNvPr>
          <p:cNvSpPr txBox="1"/>
          <p:nvPr/>
        </p:nvSpPr>
        <p:spPr>
          <a:xfrm>
            <a:off x="0" y="1826557"/>
            <a:ext cx="6233672" cy="59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800" b="1" dirty="0">
                <a:solidFill>
                  <a:schemeClr val="bg1"/>
                </a:solidFill>
                <a:latin typeface="Josefin Slab Bold" panose="020B0604020202020204" charset="0"/>
                <a:sym typeface="Josefin Slab Bold"/>
              </a:rPr>
              <a:t>METODOLOGIA</a:t>
            </a:r>
            <a:endParaRPr lang="en-US" sz="3800" b="1" dirty="0">
              <a:solidFill>
                <a:schemeClr val="bg1"/>
              </a:solidFill>
              <a:latin typeface="Josefin Slab Bold" panose="020B0604020202020204" charset="0"/>
              <a:sym typeface="Josefin Slab Bold"/>
            </a:endParaRPr>
          </a:p>
        </p:txBody>
      </p:sp>
    </p:spTree>
    <p:extLst>
      <p:ext uri="{BB962C8B-B14F-4D97-AF65-F5344CB8AC3E}">
        <p14:creationId xmlns:p14="http://schemas.microsoft.com/office/powerpoint/2010/main" val="19638888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F3A0BC6A-6943-BBB8-9CBA-341BCEE24955}"/>
              </a:ext>
            </a:extLst>
          </p:cNvPr>
          <p:cNvSpPr txBox="1"/>
          <p:nvPr/>
        </p:nvSpPr>
        <p:spPr>
          <a:xfrm>
            <a:off x="446876" y="1780733"/>
            <a:ext cx="18288000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1. Quantidade de mulheres que sofreram violência doméstica ao longo da vida, Pesquisa “Violência Doméstica no 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98E41A1B-423E-6F38-732D-8F89378E6FD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5752" y="3201778"/>
            <a:ext cx="9743595" cy="5974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D7A516-4F57-34D6-DD39-77221CC7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2EB73AE-7560-3356-3404-EC1524893B2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5E76DB2-4F62-3A62-AC97-965D1A304700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B9F9186-CFBD-B89C-B97F-1767486096D7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CF954E5-177A-EB82-00BE-8E1AB8F11BF4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2E1E8AD-414A-5054-647E-EE9CEA15BF35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3E11690-5759-9469-222B-32B6202E6100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AA6CD8C-D0AC-B113-06B4-3F012BDCB210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C3086733-8417-96AA-B0BE-8B3D9119A14A}"/>
              </a:ext>
            </a:extLst>
          </p:cNvPr>
          <p:cNvSpPr txBox="1"/>
          <p:nvPr/>
        </p:nvSpPr>
        <p:spPr>
          <a:xfrm>
            <a:off x="354733" y="2111283"/>
            <a:ext cx="17630574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2. Quantidade de mulheres que sofreram violência doméstica nos últimos 12 meses, Pesquisa “Violência Doméstica no 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F4F0ED92-DBF5-B7B2-E836-284A4B24A3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6128" y="3254614"/>
            <a:ext cx="10387793" cy="6371180"/>
          </a:xfrm>
          <a:prstGeom prst="rect">
            <a:avLst/>
          </a:prstGeom>
          <a:ln>
            <a:noFill/>
          </a:ln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E6E74BA-768C-6321-6787-4098B2A6E9A6}"/>
              </a:ext>
            </a:extLst>
          </p:cNvPr>
          <p:cNvSpPr txBox="1"/>
          <p:nvPr/>
        </p:nvSpPr>
        <p:spPr>
          <a:xfrm>
            <a:off x="3502709" y="9105900"/>
            <a:ext cx="10387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rgbClr val="1F4CA6"/>
                </a:solidFill>
              </a:rPr>
              <a:t>Nota: 7 casos sem informação não foram considerados no gráfico.</a:t>
            </a:r>
            <a:endParaRPr lang="pt-BR" sz="1600" dirty="0">
              <a:solidFill>
                <a:srgbClr val="1F4CA6"/>
              </a:solidFill>
              <a:latin typeface="Josefin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9201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F1A752-2087-8B74-48DB-47B65151F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CB30D8-4CF0-1AC2-AC80-63318D1D17C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B78586B-7FB9-0374-D196-C6C5D18CDCD1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00A32C0-1D20-18CE-CA4C-82A4F4D78C8B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88C9C54-E87C-4D0A-F354-309B1CE185F3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0B1F9AB0-0F2C-9006-9498-626BC4F1BE13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93FB38B-CB2D-8B97-D8EB-5976CB6A4386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3FE20B3-131F-4128-5FAD-152FFA1181FF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5FCF1DFD-8DF4-2629-F18B-22ECF5AF485E}"/>
              </a:ext>
            </a:extLst>
          </p:cNvPr>
          <p:cNvSpPr txBox="1"/>
          <p:nvPr/>
        </p:nvSpPr>
        <p:spPr>
          <a:xfrm>
            <a:off x="0" y="1604088"/>
            <a:ext cx="18288000" cy="1200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799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3. Quantidade dos tipos de violência sofrida, Pesquisa “Violência Doméstica no Âmbito da FAB”, realizada em 24 e 25 de novembro na Guarnição de Manaus.</a:t>
            </a:r>
            <a:endParaRPr lang="en-US" sz="3799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330AFCF3-AFC2-EBA6-5072-D41311A4B13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300" y="2552700"/>
            <a:ext cx="10439400" cy="7010774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CD69024E-F0A8-8731-CD28-4BC91E33773F}"/>
              </a:ext>
            </a:extLst>
          </p:cNvPr>
          <p:cNvSpPr txBox="1"/>
          <p:nvPr/>
        </p:nvSpPr>
        <p:spPr>
          <a:xfrm>
            <a:off x="3775650" y="9432669"/>
            <a:ext cx="10387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rgbClr val="1F4CA6"/>
                </a:solidFill>
              </a:rPr>
              <a:t>Nota: Questão de múltipla resposta; cada respondente pôde assinalar mais de uma opção.</a:t>
            </a:r>
            <a:endParaRPr lang="pt-BR" sz="1600" dirty="0">
              <a:solidFill>
                <a:srgbClr val="1F4CA6"/>
              </a:solidFill>
              <a:latin typeface="Josefin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9246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2810F-6452-8723-DAE0-CC2B4E717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CD27468-B0A2-BB6D-47AF-E55A4928F5F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C4102A7-E806-12D2-933C-0379F7840CE1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8C17F12-D98E-ECB9-32BD-2B08D4C1B693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0236EB8-369F-05AE-83BA-5AD29C000B8B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85030ADE-6D00-5BB0-5E47-99FEBA5FE6CE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5C3993B-BEC9-CF21-2D76-39987C236774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689E51E-D757-751D-616F-59F5DB4E1A11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1301C17B-79FC-B736-7AA5-41B1A508EFE5}"/>
              </a:ext>
            </a:extLst>
          </p:cNvPr>
          <p:cNvSpPr txBox="1"/>
          <p:nvPr/>
        </p:nvSpPr>
        <p:spPr>
          <a:xfrm>
            <a:off x="333173" y="1131430"/>
            <a:ext cx="17297400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4. Gráfico de Pareto para os tipos de vínculos entre vítima e autor da violência, Pesquisa “Violência Doméstica no 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aphicFrame>
        <p:nvGraphicFramePr>
          <p:cNvPr id="10" name="Gráfico 9">
            <a:extLst>
              <a:ext uri="{FF2B5EF4-FFF2-40B4-BE49-F238E27FC236}">
                <a16:creationId xmlns:a16="http://schemas.microsoft.com/office/drawing/2014/main" id="{BBAAA152-C8CC-25A2-8714-53E52132B3C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9048134"/>
              </p:ext>
            </p:extLst>
          </p:nvPr>
        </p:nvGraphicFramePr>
        <p:xfrm>
          <a:off x="827505" y="2338772"/>
          <a:ext cx="16459200" cy="7543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B5CC1F97-8923-63E3-67CA-2E440F19BC31}"/>
              </a:ext>
            </a:extLst>
          </p:cNvPr>
          <p:cNvSpPr txBox="1"/>
          <p:nvPr/>
        </p:nvSpPr>
        <p:spPr>
          <a:xfrm>
            <a:off x="3429000" y="9746231"/>
            <a:ext cx="10387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rgbClr val="1F4CA6"/>
                </a:solidFill>
              </a:rPr>
              <a:t>Nota: 2 casos sem informação não foram considerados no gráfico.</a:t>
            </a:r>
            <a:endParaRPr lang="pt-BR" sz="1600" dirty="0">
              <a:solidFill>
                <a:srgbClr val="1F4CA6"/>
              </a:solidFill>
              <a:latin typeface="Josefin Slab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625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0FDC9-E14C-2FC8-8E04-6EE7A3323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29EF57-FDA6-D0DF-E765-F3EB289C44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C98C1CD-65CC-39E7-29E9-887129252D8C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A0714D-7C32-A913-A867-B3DE502C46E7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5F2167C-9A96-310E-C351-B121AB484428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68A6EEC9-007D-DE8F-6280-43CE8233DBB1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961F79E-4150-E0A8-CC3C-E225AFB60729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DEE0002-1E26-FFD9-FB3E-DCC06ED9F5D4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2B7373A1-86C9-88D3-9010-545E84EE0DD7}"/>
              </a:ext>
            </a:extLst>
          </p:cNvPr>
          <p:cNvSpPr txBox="1"/>
          <p:nvPr/>
        </p:nvSpPr>
        <p:spPr>
          <a:xfrm>
            <a:off x="1038304" y="1556845"/>
            <a:ext cx="17249696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5.  Quantidade de autores da violência com vínculo militar, Pesquisa “Violência Doméstica no</a:t>
            </a:r>
          </a:p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D080AC42-2C51-C551-68E0-F7E8DE3678D0}"/>
              </a:ext>
            </a:extLst>
          </p:cNvPr>
          <p:cNvGrpSpPr/>
          <p:nvPr/>
        </p:nvGrpSpPr>
        <p:grpSpPr>
          <a:xfrm>
            <a:off x="762000" y="2850565"/>
            <a:ext cx="4533808" cy="6102935"/>
            <a:chOff x="35417" y="3008952"/>
            <a:chExt cx="4945913" cy="6423017"/>
          </a:xfrm>
        </p:grpSpPr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id="{C6E357AD-0805-80F1-3075-A2FA83C4B6E7}"/>
                </a:ext>
              </a:extLst>
            </p:cNvPr>
            <p:cNvSpPr/>
            <p:nvPr/>
          </p:nvSpPr>
          <p:spPr>
            <a:xfrm>
              <a:off x="35417" y="3334437"/>
              <a:ext cx="4841384" cy="6097532"/>
            </a:xfrm>
            <a:prstGeom prst="roundRect">
              <a:avLst>
                <a:gd name="adj" fmla="val 0"/>
              </a:avLst>
            </a:prstGeom>
            <a:solidFill>
              <a:srgbClr val="1F4CA6"/>
            </a:solidFill>
            <a:ln>
              <a:noFill/>
            </a:ln>
            <a:effectLst>
              <a:outerShdw blurRad="149987" dist="250190" dir="8460000" algn="ctr">
                <a:srgbClr val="000000">
                  <a:alpha val="28000"/>
                </a:srgbClr>
              </a:outerShdw>
            </a:effectLst>
            <a:scene3d>
              <a:camera prst="orthographicFront">
                <a:rot lat="0" lon="0" rev="0"/>
              </a:camera>
              <a:lightRig rig="contrasting" dir="t">
                <a:rot lat="0" lon="0" rev="1500000"/>
              </a:lightRig>
            </a:scene3d>
            <a:sp3d prstMaterial="metal">
              <a:bevelT w="88900" h="889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3600" dirty="0">
                  <a:latin typeface="Josefin Slab Bold" panose="020B0604020202020204" charset="0"/>
                </a:rPr>
                <a:t>O autor da violência possui vínculo com instituição militar?</a:t>
              </a:r>
            </a:p>
            <a:p>
              <a:pPr algn="ctr"/>
              <a:endParaRPr lang="pt-BR" sz="3600" dirty="0">
                <a:latin typeface="Josefin Slab Bold" panose="020B0604020202020204" charset="0"/>
              </a:endParaRPr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pt-BR" sz="3600" dirty="0">
                  <a:latin typeface="Josefin Slab Bold" panose="020B0604020202020204" charset="0"/>
                </a:rPr>
                <a:t>Sim - 19</a:t>
              </a:r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pt-BR" sz="3600" dirty="0">
                  <a:latin typeface="Josefin Slab Bold" panose="020B0604020202020204" charset="0"/>
                </a:rPr>
                <a:t>Não - 64 </a:t>
              </a:r>
            </a:p>
            <a:p>
              <a:pPr marL="571500" indent="-571500">
                <a:buFont typeface="Wingdings" panose="05000000000000000000" pitchFamily="2" charset="2"/>
                <a:buChar char="Ø"/>
              </a:pPr>
              <a:r>
                <a:rPr lang="pt-BR" sz="3600" dirty="0">
                  <a:latin typeface="Josefin Slab Bold" panose="020B0604020202020204" charset="0"/>
                </a:rPr>
                <a:t>Sem informação: 2</a:t>
              </a:r>
            </a:p>
          </p:txBody>
        </p: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B0F939D-7B7A-1744-5AAB-F3D6E1ED4C00}"/>
                </a:ext>
              </a:extLst>
            </p:cNvPr>
            <p:cNvSpPr/>
            <p:nvPr/>
          </p:nvSpPr>
          <p:spPr>
            <a:xfrm>
              <a:off x="4066930" y="3008952"/>
              <a:ext cx="914400" cy="914400"/>
            </a:xfrm>
            <a:prstGeom prst="ellipse">
              <a:avLst/>
            </a:prstGeom>
            <a:solidFill>
              <a:srgbClr val="1F4CA6"/>
            </a:solidFill>
            <a:ln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5400" b="1" dirty="0">
                  <a:latin typeface="Josefin Slab Bold" panose="020B0604020202020204" charset="0"/>
                </a:rPr>
                <a:t>!</a:t>
              </a:r>
            </a:p>
          </p:txBody>
        </p:sp>
      </p:grpSp>
      <p:pic>
        <p:nvPicPr>
          <p:cNvPr id="13" name="Imagem 12">
            <a:extLst>
              <a:ext uri="{FF2B5EF4-FFF2-40B4-BE49-F238E27FC236}">
                <a16:creationId xmlns:a16="http://schemas.microsoft.com/office/drawing/2014/main" id="{D7B3459E-3AD9-6CB2-4058-2E78CA4B41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84167" y="3034101"/>
            <a:ext cx="12109022" cy="636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4836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A2C8-8726-D28B-D98A-D2B5B3182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51DF9A6-FE6E-C642-88FC-E104EFD212B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D0E0AE2-F179-7A10-69B8-4D2CD30586AF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6CE24D0-4422-AA57-7D45-B6FA84842532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57C4027-E479-7417-D3EF-86672894BF6C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33B5FE7-32FF-B18B-FCC0-DB2C31D9FDC9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F725122-F59B-F1A3-8C57-5CBC6DE13A0E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1F90430-A7BC-C85F-8C62-A51254CB529A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BD800F8D-D5FA-6603-5B78-D77EC1DE2D54}"/>
              </a:ext>
            </a:extLst>
          </p:cNvPr>
          <p:cNvSpPr txBox="1"/>
          <p:nvPr/>
        </p:nvSpPr>
        <p:spPr>
          <a:xfrm>
            <a:off x="1028700" y="1334515"/>
            <a:ext cx="16802100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6. Quantidade de mulheres que procuraram canal formal de denúncia, Pesquisa “Violência </a:t>
            </a:r>
          </a:p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Doméstica no Âmbito da FAB”, realizada em 24 e 25 de novembro na Guarnição de Manaus.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04884717-0815-5CA8-73C6-B620C37B54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2512402"/>
            <a:ext cx="10870402" cy="682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8059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AD223-0CF3-7B2D-B96D-54DC16F66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4B9556-7918-CA28-7553-E9CE10CE66F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993230C-C7B8-7770-5E47-8F4E5C3BB861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AC393AC-CB8B-A213-4839-9E451C63B7BE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AF7B14B-2079-AE5C-16CA-8E8525292FFC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7821A72A-39ED-B54F-BE1B-54F159964434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F192279-9E3F-DAB7-6B68-D14D71BFBD40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D1071EE5-9F14-607C-BAA2-9FCC05C2C0EA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7A4856BA-4529-EB10-8981-C39F5AE7CAE1}"/>
              </a:ext>
            </a:extLst>
          </p:cNvPr>
          <p:cNvSpPr txBox="1"/>
          <p:nvPr/>
        </p:nvSpPr>
        <p:spPr>
          <a:xfrm>
            <a:off x="1028700" y="1334515"/>
            <a:ext cx="16802100" cy="11778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Figura 8. Quantidade dos motivos da Subnotificação, Pesquisa “Violência Doméstica no Âmbito da FAB”, realizada em 24 e 25 de novembro na Guarnição de Manaus.</a:t>
            </a:r>
            <a:endParaRPr lang="en-US" sz="3200" b="1" spc="-79" dirty="0">
              <a:solidFill>
                <a:srgbClr val="1F4CA6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E10F17A-0B08-304D-749F-5C51A2F002C2}"/>
              </a:ext>
            </a:extLst>
          </p:cNvPr>
          <p:cNvSpPr txBox="1"/>
          <p:nvPr/>
        </p:nvSpPr>
        <p:spPr>
          <a:xfrm>
            <a:off x="2743200" y="9937534"/>
            <a:ext cx="1038779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600" dirty="0">
                <a:solidFill>
                  <a:srgbClr val="1F4CA6"/>
                </a:solidFill>
              </a:rPr>
              <a:t>Nota: Questão de múltipla resposta; cada respondente pôde assinalar mais de uma opção.</a:t>
            </a:r>
            <a:endParaRPr lang="pt-BR" sz="1600" dirty="0">
              <a:solidFill>
                <a:srgbClr val="1F4CA6"/>
              </a:solidFill>
              <a:latin typeface="Josefin Slab" pitchFamily="2" charset="0"/>
            </a:endParaRP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0CE1FCB4-F370-ED35-BF6A-CC992C3373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2394469"/>
            <a:ext cx="13387703" cy="763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6951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D22E1-733B-9E62-4129-5918F8EE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526AFCE-C90D-2C4A-7654-11248B35D46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936C20C-E8BC-6F84-0D6B-62982BAD76EC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777AFCB-AE9E-D568-18D2-FC7A138CD6F7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9EA99D5-3797-D609-2B15-0380BB5C55A8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8B795CA-8B7F-A96E-C34B-AA196168B373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E99F9A8-7D73-DA47-AF8A-49E00B5EB006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A5C9E34-D610-ADCF-2DD5-148BC97B7B21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grpSp>
        <p:nvGrpSpPr>
          <p:cNvPr id="36" name="Group 2">
            <a:extLst>
              <a:ext uri="{FF2B5EF4-FFF2-40B4-BE49-F238E27FC236}">
                <a16:creationId xmlns:a16="http://schemas.microsoft.com/office/drawing/2014/main" id="{F9297E41-9278-84F6-6E90-AB7BCED229DC}"/>
              </a:ext>
            </a:extLst>
          </p:cNvPr>
          <p:cNvGrpSpPr/>
          <p:nvPr/>
        </p:nvGrpSpPr>
        <p:grpSpPr>
          <a:xfrm>
            <a:off x="-117283" y="114300"/>
            <a:ext cx="6331905" cy="10172700"/>
            <a:chOff x="0" y="0"/>
            <a:chExt cx="1667662" cy="2709333"/>
          </a:xfrm>
          <a:solidFill>
            <a:srgbClr val="1F4CA6"/>
          </a:solidFill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64E98A05-7D95-307F-F50B-60F1763E1C82}"/>
                </a:ext>
              </a:extLst>
            </p:cNvPr>
            <p:cNvSpPr/>
            <p:nvPr/>
          </p:nvSpPr>
          <p:spPr>
            <a:xfrm>
              <a:off x="0" y="0"/>
              <a:ext cx="1667662" cy="2709333"/>
            </a:xfrm>
            <a:custGeom>
              <a:avLst/>
              <a:gdLst/>
              <a:ahLst/>
              <a:cxnLst/>
              <a:rect l="l" t="t" r="r" b="b"/>
              <a:pathLst>
                <a:path w="1667662" h="2709333">
                  <a:moveTo>
                    <a:pt x="0" y="0"/>
                  </a:moveTo>
                  <a:lnTo>
                    <a:pt x="1667662" y="0"/>
                  </a:lnTo>
                  <a:lnTo>
                    <a:pt x="1667662" y="2709333"/>
                  </a:lnTo>
                  <a:lnTo>
                    <a:pt x="0" y="2709333"/>
                  </a:lnTo>
                  <a:close/>
                </a:path>
              </a:pathLst>
            </a:custGeom>
            <a:grpFill/>
          </p:spPr>
        </p:sp>
        <p:sp>
          <p:nvSpPr>
            <p:cNvPr id="38" name="TextBox 4">
              <a:extLst>
                <a:ext uri="{FF2B5EF4-FFF2-40B4-BE49-F238E27FC236}">
                  <a16:creationId xmlns:a16="http://schemas.microsoft.com/office/drawing/2014/main" id="{0A9AF50B-7BF5-49F7-5A69-DDCC7C6A17C7}"/>
                </a:ext>
              </a:extLst>
            </p:cNvPr>
            <p:cNvSpPr txBox="1"/>
            <p:nvPr/>
          </p:nvSpPr>
          <p:spPr>
            <a:xfrm>
              <a:off x="0" y="-57150"/>
              <a:ext cx="1667662" cy="2766483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BC52B2E1-C1DE-911F-A201-AE74ADF6A8D0}"/>
              </a:ext>
            </a:extLst>
          </p:cNvPr>
          <p:cNvSpPr txBox="1"/>
          <p:nvPr/>
        </p:nvSpPr>
        <p:spPr>
          <a:xfrm>
            <a:off x="9708036" y="1828800"/>
            <a:ext cx="8579964" cy="7109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800" b="1" dirty="0">
                <a:solidFill>
                  <a:srgbClr val="1F4CA6"/>
                </a:solidFill>
                <a:latin typeface="Josefin Slab Bold" panose="020B0604020202020204" charset="0"/>
              </a:rPr>
              <a:t>I ENCONTRO DE CPCA DA FORÇA AÉREA BRASILEIRA </a:t>
            </a:r>
          </a:p>
          <a:p>
            <a:endParaRPr lang="pt-BR" sz="38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800" b="1" dirty="0">
                <a:solidFill>
                  <a:srgbClr val="1F4CA6"/>
                </a:solidFill>
                <a:latin typeface="Josefin Slab Bold" panose="020B0604020202020204" charset="0"/>
              </a:rPr>
              <a:t>QUESTIONÁRIO ESTRUTURADO</a:t>
            </a:r>
          </a:p>
          <a:p>
            <a:r>
              <a:rPr lang="pt-BR" sz="3800" b="1" dirty="0">
                <a:solidFill>
                  <a:srgbClr val="1F4CA6"/>
                </a:solidFill>
                <a:latin typeface="Josefin Slab Bold" panose="020B0604020202020204" charset="0"/>
              </a:rPr>
              <a:t>Questões fechadas e abertas</a:t>
            </a:r>
          </a:p>
          <a:p>
            <a:endParaRPr lang="pt-BR" sz="3800" b="1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Jurídico</a:t>
            </a: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Psicológico</a:t>
            </a: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Social</a:t>
            </a: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Eixo Institucional</a:t>
            </a:r>
          </a:p>
          <a:p>
            <a:endParaRPr lang="pt-BR" sz="3800" dirty="0">
              <a:solidFill>
                <a:srgbClr val="1F4CA6"/>
              </a:solidFill>
              <a:latin typeface="Josefin Slab Bold" panose="020B0604020202020204" charset="0"/>
            </a:endParaRPr>
          </a:p>
          <a:p>
            <a:r>
              <a:rPr lang="pt-BR" sz="3800" dirty="0">
                <a:solidFill>
                  <a:srgbClr val="1F4CA6"/>
                </a:solidFill>
                <a:latin typeface="Josefin Slab Bold" panose="020B0604020202020204" charset="0"/>
              </a:rPr>
              <a:t>8 Comissões presentes – 30 militares</a:t>
            </a:r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6516F99A-B24B-651B-1E34-75217FEACFE5}"/>
              </a:ext>
            </a:extLst>
          </p:cNvPr>
          <p:cNvSpPr txBox="1"/>
          <p:nvPr/>
        </p:nvSpPr>
        <p:spPr>
          <a:xfrm>
            <a:off x="0" y="1826557"/>
            <a:ext cx="6233672" cy="598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800" b="1" dirty="0">
                <a:solidFill>
                  <a:schemeClr val="bg1"/>
                </a:solidFill>
                <a:latin typeface="Josefin Slab Bold" panose="020B0604020202020204" charset="0"/>
                <a:sym typeface="Josefin Slab Bold"/>
              </a:rPr>
              <a:t>METODOLOGIA</a:t>
            </a:r>
            <a:endParaRPr lang="en-US" sz="3800" b="1" dirty="0">
              <a:solidFill>
                <a:schemeClr val="bg1"/>
              </a:solidFill>
              <a:latin typeface="Josefin Slab Bold" panose="020B0604020202020204" charset="0"/>
              <a:sym typeface="Josefin Slab Bold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59E08364-73ED-661F-7231-CBFAE3AAD9C7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33" t="32963" r="7388"/>
          <a:stretch>
            <a:fillRect/>
          </a:stretch>
        </p:blipFill>
        <p:spPr>
          <a:xfrm>
            <a:off x="751412" y="3390900"/>
            <a:ext cx="7828554" cy="4670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1745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C50E0-115F-5F74-0DF6-D734E2AEF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93DE86-7757-94E3-0965-A04FD3F477E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E3D5EC1-8A28-1744-DB8C-07A541CD3744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90C75F9-6661-CCB4-D4A1-3310F6C3272C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2CD6200-71F7-F7CE-2680-125A204601FC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21B9A6A-C9C7-5A91-0B3B-E1C9808E7254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DC8C34DA-8013-DF44-5709-A70E39A0EFF7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A688A2B8-731A-7DCD-F334-C1AD6FB75A35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35AD7F9-C063-DA86-B22E-F2D62637EB9C}"/>
              </a:ext>
            </a:extLst>
          </p:cNvPr>
          <p:cNvSpPr txBox="1"/>
          <p:nvPr/>
        </p:nvSpPr>
        <p:spPr>
          <a:xfrm>
            <a:off x="553988" y="1427268"/>
            <a:ext cx="7463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215BA6"/>
                </a:solidFill>
                <a:latin typeface="Josefin Slab Bold" panose="020B0604020202020204" charset="0"/>
              </a:rPr>
              <a:t>RECURSOS LOGÍSTICOS</a:t>
            </a:r>
          </a:p>
          <a:p>
            <a:r>
              <a:rPr lang="pt-BR" sz="2400" b="1" i="1" dirty="0">
                <a:solidFill>
                  <a:srgbClr val="215BA6"/>
                </a:solidFill>
                <a:latin typeface="Josefin Slab Bold" panose="020B0604020202020204" charset="0"/>
              </a:rPr>
              <a:t>A CPCA dispõe de recursos logísticos adequados (sala reservada, material de escritório, tempo dedicado)</a:t>
            </a:r>
          </a:p>
          <a:p>
            <a:endParaRPr lang="pt-BR" sz="2400" b="1" dirty="0">
              <a:solidFill>
                <a:srgbClr val="215BA6"/>
              </a:solidFill>
              <a:latin typeface="Josefin Slab Bold" panose="020B0604020202020204" charset="0"/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77CC02F3-1D7B-4E56-A68B-A000BC30EEF5}"/>
              </a:ext>
            </a:extLst>
          </p:cNvPr>
          <p:cNvSpPr txBox="1"/>
          <p:nvPr/>
        </p:nvSpPr>
        <p:spPr>
          <a:xfrm>
            <a:off x="9768554" y="1526291"/>
            <a:ext cx="8519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215BA6"/>
                </a:solidFill>
                <a:latin typeface="Josefin Slab Bold" panose="020B0604020202020204" charset="0"/>
              </a:rPr>
              <a:t>CONHECIMENTO DA REDE DE PROTEÇÃO</a:t>
            </a:r>
          </a:p>
          <a:p>
            <a:pPr algn="ctr"/>
            <a:r>
              <a:rPr lang="pt-BR" sz="2400" b="1" dirty="0">
                <a:solidFill>
                  <a:srgbClr val="215BA6"/>
                </a:solidFill>
                <a:latin typeface="Josefin Slab Bold" panose="020B0604020202020204" charset="0"/>
              </a:rPr>
              <a:t>A CPCA possui conhecimento detalhado da rede de proteção local para encaminhamento de vítimas</a:t>
            </a:r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AE8B3753-20FC-E989-33A4-6862C8051B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3189197"/>
            <a:ext cx="9332517" cy="5819206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FA24699F-BED9-AC36-7CE1-D165292A64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4525" y="3700140"/>
            <a:ext cx="10196981" cy="5947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654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2F5A-8D7C-3E3A-BAAD-107F23D21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C53563B-5C35-D8EA-A455-03482096BD4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5089BB7-5164-C31A-12C8-AEA521A82662}"/>
              </a:ext>
            </a:extLst>
          </p:cNvPr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6F4B78D-16CF-BA54-F7A6-84ECD0AF1969}"/>
              </a:ext>
            </a:extLst>
          </p:cNvPr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2915A5E-93E9-8186-12CE-D17B2299806E}"/>
              </a:ext>
            </a:extLst>
          </p:cNvPr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E909D1A9-D718-3C19-17BC-D915513AE4E1}"/>
              </a:ext>
            </a:extLst>
          </p:cNvPr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2054612-2DA9-C253-910A-6B48AC5EDCB6}"/>
                </a:ext>
              </a:extLst>
            </p:cNvPr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EED61376-2183-7BB1-940B-2F8E813AFB1C}"/>
                </a:ext>
              </a:extLst>
            </p:cNvPr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5">
            <a:extLst>
              <a:ext uri="{FF2B5EF4-FFF2-40B4-BE49-F238E27FC236}">
                <a16:creationId xmlns:a16="http://schemas.microsoft.com/office/drawing/2014/main" id="{174359F9-B39D-01EB-709A-E749EBAB14EC}"/>
              </a:ext>
            </a:extLst>
          </p:cNvPr>
          <p:cNvSpPr txBox="1"/>
          <p:nvPr/>
        </p:nvSpPr>
        <p:spPr>
          <a:xfrm>
            <a:off x="381000" y="1647526"/>
            <a:ext cx="17297400" cy="5751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1"/>
              </a:lnSpc>
              <a:spcBef>
                <a:spcPct val="0"/>
              </a:spcBef>
            </a:pPr>
            <a:r>
              <a:rPr lang="pt-BR" sz="3200" b="1" spc="-79" dirty="0">
                <a:solidFill>
                  <a:srgbClr val="1F4CA6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DIMENSÕES DE ANÁLISE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C5EDD85A-670D-0D92-8E21-019AF39924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830782"/>
              </p:ext>
            </p:extLst>
          </p:nvPr>
        </p:nvGraphicFramePr>
        <p:xfrm>
          <a:off x="1307432" y="2435272"/>
          <a:ext cx="16383000" cy="7639138"/>
        </p:xfrm>
        <a:graphic>
          <a:graphicData uri="http://schemas.openxmlformats.org/drawingml/2006/table">
            <a:tbl>
              <a:tblPr/>
              <a:tblGrid>
                <a:gridCol w="6083968">
                  <a:extLst>
                    <a:ext uri="{9D8B030D-6E8A-4147-A177-3AD203B41FA5}">
                      <a16:colId xmlns:a16="http://schemas.microsoft.com/office/drawing/2014/main" val="3689074550"/>
                    </a:ext>
                  </a:extLst>
                </a:gridCol>
                <a:gridCol w="10299032">
                  <a:extLst>
                    <a:ext uri="{9D8B030D-6E8A-4147-A177-3AD203B41FA5}">
                      <a16:colId xmlns:a16="http://schemas.microsoft.com/office/drawing/2014/main" val="1636587105"/>
                    </a:ext>
                  </a:extLst>
                </a:gridCol>
              </a:tblGrid>
              <a:tr h="96398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4000" b="0" i="0" u="none" strike="noStrike" dirty="0">
                          <a:solidFill>
                            <a:srgbClr val="215BA6"/>
                          </a:solidFill>
                          <a:effectLst/>
                          <a:latin typeface="Josefin Slab Bold" charset="0"/>
                        </a:rPr>
                        <a:t>Dimensão 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4E3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4000" b="0" i="0" u="none" strike="noStrike" dirty="0">
                          <a:solidFill>
                            <a:srgbClr val="215BA6"/>
                          </a:solidFill>
                          <a:effectLst/>
                          <a:latin typeface="Josefin Slab Bold" charset="0"/>
                        </a:rPr>
                        <a:t>Situação Identificada 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B4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610287"/>
                  </a:ext>
                </a:extLst>
              </a:tr>
              <a:tr h="1962893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Confiança do Efetivo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16 avaliam que o efetivo confia apenas parcialmente no trabalho da comissão; apenas 4 identificam confiança plena.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17590"/>
                  </a:ext>
                </a:extLst>
              </a:tr>
              <a:tr h="15707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Compreensão Jurídica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19 concordam (parcial ou totalmente) que compreendem os aspectos jurídicos da ICA 30-13/2024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4826623"/>
                  </a:ext>
                </a:extLst>
              </a:tr>
              <a:tr h="15707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Habilidades de Acolhimento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23 sentem-se preparados para escuta ativa e empática; 20 demonstram confiança para manejo de crises emocionais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560822"/>
                  </a:ext>
                </a:extLst>
              </a:tr>
              <a:tr h="1570754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Confiança Procedimental</a:t>
                      </a:r>
                    </a:p>
                  </a:txBody>
                  <a:tcPr marL="61585" marR="3421" marT="3421" marB="0" anchor="ctr">
                    <a:lnL>
                      <a:noFill/>
                    </a:lnL>
                    <a:lnR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pt-BR" sz="2800" b="0" i="0" u="none" strike="noStrike" dirty="0">
                          <a:solidFill>
                            <a:srgbClr val="1F4CA6"/>
                          </a:solidFill>
                          <a:effectLst/>
                          <a:latin typeface="Josefin Slab Bold" charset="0"/>
                        </a:rPr>
                        <a:t>17 manifestam confiança (parcial ou total) para aplicar os procedimentos administrativos da ICA 30-13 </a:t>
                      </a:r>
                    </a:p>
                  </a:txBody>
                  <a:tcPr marL="61585" marR="3421" marT="3421" marB="0" anchor="ctr">
                    <a:lnL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5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1995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4403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de Projeto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1858283" y="558478"/>
            <a:ext cx="8218563" cy="9476208"/>
          </a:xfrm>
          <a:custGeom>
            <a:avLst/>
            <a:gdLst/>
            <a:ahLst/>
            <a:cxnLst/>
            <a:rect l="l" t="t" r="r" b="b"/>
            <a:pathLst>
              <a:path w="8218563" h="9476208">
                <a:moveTo>
                  <a:pt x="0" y="0"/>
                </a:moveTo>
                <a:lnTo>
                  <a:pt x="8218563" y="0"/>
                </a:lnTo>
                <a:lnTo>
                  <a:pt x="8218563" y="9476208"/>
                </a:lnTo>
                <a:lnTo>
                  <a:pt x="0" y="9476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10525430" y="1538752"/>
            <a:ext cx="5710160" cy="8181722"/>
          </a:xfrm>
          <a:custGeom>
            <a:avLst/>
            <a:gdLst/>
            <a:ahLst/>
            <a:cxnLst/>
            <a:rect l="l" t="t" r="r" b="b"/>
            <a:pathLst>
              <a:path w="5710160" h="8181722">
                <a:moveTo>
                  <a:pt x="0" y="0"/>
                </a:moveTo>
                <a:lnTo>
                  <a:pt x="5710160" y="0"/>
                </a:lnTo>
                <a:lnTo>
                  <a:pt x="5710160" y="8181722"/>
                </a:lnTo>
                <a:lnTo>
                  <a:pt x="0" y="818172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38100" cap="sq">
            <a:solidFill>
              <a:srgbClr val="004AAD"/>
            </a:solidFill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8" name="TextBox 8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84822" y="313322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344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000"/>
            </a:blip>
            <a:stretch>
              <a:fillRect l="-8287" t="-4848" r="-2455"/>
            </a:stretch>
          </a:blipFill>
        </p:spPr>
      </p:sp>
      <p:sp>
        <p:nvSpPr>
          <p:cNvPr id="4" name="Freeform 4"/>
          <p:cNvSpPr/>
          <p:nvPr/>
        </p:nvSpPr>
        <p:spPr>
          <a:xfrm rot="2700000">
            <a:off x="11829564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3079443" y="404429"/>
            <a:ext cx="4558601" cy="755576"/>
            <a:chOff x="0" y="0"/>
            <a:chExt cx="6078134" cy="1007434"/>
          </a:xfrm>
        </p:grpSpPr>
        <p:sp>
          <p:nvSpPr>
            <p:cNvPr id="6" name="TextBox 6"/>
            <p:cNvSpPr txBox="1"/>
            <p:nvPr/>
          </p:nvSpPr>
          <p:spPr>
            <a:xfrm>
              <a:off x="46951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603118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918503" y="1895563"/>
            <a:ext cx="11946131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Cumprimento da Missão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14419" y="4079133"/>
            <a:ext cx="14087791" cy="3403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Briefing do Projeto-Piloto em Manaus - AM (Balão de Ensaio);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Entrega do Relatório das Atividades da CIPAVD em Manaus - AM;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Construção de Banco de Dados para base do Programa de Conscientização sobre Prevenção e Combate ao Assédio e à Violência Doméstica no âmbito da FAB;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Proposta de Projeto da CIPAVD para 2026; 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r>
              <a:rPr lang="en-US" sz="3099" b="1" spc="-6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Entrega do Debriefing do Comandante do COMAR VII</a:t>
            </a:r>
          </a:p>
          <a:p>
            <a:pPr marL="669289" lvl="1" indent="-334645" algn="just">
              <a:lnSpc>
                <a:spcPts val="3843"/>
              </a:lnSpc>
              <a:buFont typeface="Arial"/>
              <a:buChar char="•"/>
            </a:pPr>
            <a:endParaRPr lang="en-US" sz="3099" b="1" spc="-65">
              <a:solidFill>
                <a:srgbClr val="F34747"/>
              </a:solidFill>
              <a:latin typeface="Josefin Slab Bold"/>
              <a:ea typeface="Josefin Slab Bold"/>
              <a:cs typeface="Josefin Slab Bold"/>
              <a:sym typeface="Josefin Slab 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901667" y="1491171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ROTEIRO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7329" y="3240297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540369" y="3240297"/>
            <a:ext cx="3825169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Projeto-Piloto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34486" y="4387728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2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234486" y="5535159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234486" y="6678795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0369" y="4387728"/>
            <a:ext cx="6403408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Atividades realizadas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628049" y="5428002"/>
            <a:ext cx="4949132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Dados Estatísticos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628049" y="6678795"/>
            <a:ext cx="539423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spc="-115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Proposta de Projeto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27111" y="258106"/>
            <a:ext cx="1603178" cy="994940"/>
          </a:xfrm>
          <a:custGeom>
            <a:avLst/>
            <a:gdLst/>
            <a:ahLst/>
            <a:cxnLst/>
            <a:rect l="l" t="t" r="r" b="b"/>
            <a:pathLst>
              <a:path w="1603178" h="994940">
                <a:moveTo>
                  <a:pt x="0" y="0"/>
                </a:moveTo>
                <a:lnTo>
                  <a:pt x="1603178" y="0"/>
                </a:lnTo>
                <a:lnTo>
                  <a:pt x="1603178" y="994940"/>
                </a:lnTo>
                <a:lnTo>
                  <a:pt x="0" y="994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34442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588103" y="368538"/>
            <a:ext cx="1397204" cy="884507"/>
          </a:xfrm>
          <a:custGeom>
            <a:avLst/>
            <a:gdLst/>
            <a:ahLst/>
            <a:cxnLst/>
            <a:rect l="l" t="t" r="r" b="b"/>
            <a:pathLst>
              <a:path w="1397204" h="884507">
                <a:moveTo>
                  <a:pt x="0" y="0"/>
                </a:moveTo>
                <a:lnTo>
                  <a:pt x="1397203" y="0"/>
                </a:lnTo>
                <a:lnTo>
                  <a:pt x="1397203" y="884508"/>
                </a:lnTo>
                <a:lnTo>
                  <a:pt x="0" y="88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287" t="-4848" r="-2455"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11535375" y="-86882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6" name="Group 6"/>
          <p:cNvGrpSpPr/>
          <p:nvPr/>
        </p:nvGrpSpPr>
        <p:grpSpPr>
          <a:xfrm>
            <a:off x="11943777" y="433004"/>
            <a:ext cx="6165354" cy="755576"/>
            <a:chOff x="0" y="0"/>
            <a:chExt cx="8220473" cy="1007434"/>
          </a:xfrm>
        </p:grpSpPr>
        <p:sp>
          <p:nvSpPr>
            <p:cNvPr id="7" name="TextBox 7"/>
            <p:cNvSpPr txBox="1"/>
            <p:nvPr/>
          </p:nvSpPr>
          <p:spPr>
            <a:xfrm>
              <a:off x="6350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156973" cy="1045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CIPAVD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442021" y="1489876"/>
            <a:ext cx="7856172" cy="1036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88"/>
              </a:lnSpc>
            </a:pPr>
            <a:r>
              <a:rPr lang="en-US" sz="8396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OBJETIVO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42021" y="4069608"/>
            <a:ext cx="15376404" cy="126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59"/>
              </a:lnSpc>
              <a:spcBef>
                <a:spcPct val="0"/>
              </a:spcBef>
            </a:pPr>
            <a:r>
              <a:rPr lang="en-US" sz="3999" spc="343">
                <a:solidFill>
                  <a:srgbClr val="004AAD"/>
                </a:solidFill>
                <a:latin typeface="Josefin Slab"/>
                <a:ea typeface="Josefin Slab"/>
                <a:cs typeface="Josefin Slab"/>
                <a:sym typeface="Josefin Slab"/>
              </a:rPr>
              <a:t>Conhecer as atividades realizadas pela CIPAVD no projeto-piloto realizado em Manaus - AM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052410" y="1538752"/>
            <a:ext cx="14183179" cy="8978738"/>
          </a:xfrm>
          <a:custGeom>
            <a:avLst/>
            <a:gdLst/>
            <a:ahLst/>
            <a:cxnLst/>
            <a:rect l="l" t="t" r="r" b="b"/>
            <a:pathLst>
              <a:path w="14183179" h="8978738">
                <a:moveTo>
                  <a:pt x="0" y="0"/>
                </a:moveTo>
                <a:lnTo>
                  <a:pt x="14183180" y="0"/>
                </a:lnTo>
                <a:lnTo>
                  <a:pt x="14183180" y="8978739"/>
                </a:lnTo>
                <a:lnTo>
                  <a:pt x="0" y="8978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3000"/>
            </a:blip>
            <a:stretch>
              <a:fillRect l="-8287" t="-4848" r="-24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28086" y="9398201"/>
            <a:ext cx="2911367" cy="755650"/>
            <a:chOff x="0" y="0"/>
            <a:chExt cx="3881823" cy="1007533"/>
          </a:xfrm>
        </p:grpSpPr>
        <p:sp>
          <p:nvSpPr>
            <p:cNvPr id="4" name="TextBox 4"/>
            <p:cNvSpPr txBox="1"/>
            <p:nvPr/>
          </p:nvSpPr>
          <p:spPr>
            <a:xfrm>
              <a:off x="29986" y="-28575"/>
              <a:ext cx="3851837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5000" b="1" spc="430">
                  <a:solidFill>
                    <a:srgbClr val="F34747"/>
                  </a:solidFill>
                  <a:latin typeface="Josefin Slab Bold"/>
                  <a:ea typeface="Josefin Slab Bold"/>
                  <a:cs typeface="Josefin Slab Bold"/>
                  <a:sym typeface="Josefin Slab Bold"/>
                </a:rPr>
                <a:t>CIPAVD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3851837" cy="1036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200"/>
                </a:lnSpc>
              </a:pPr>
              <a:r>
                <a:rPr lang="en-US" sz="5000" b="1" spc="430">
                  <a:solidFill>
                    <a:srgbClr val="1D4D9C"/>
                  </a:solidFill>
                  <a:latin typeface="Josefin Slab Bold"/>
                  <a:ea typeface="Josefin Slab Bold"/>
                  <a:cs typeface="Josefin Slab Bold"/>
                  <a:sym typeface="Josefin Slab Bold"/>
                </a:rPr>
                <a:t>CIPAVD</a:t>
              </a:r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20403" y="9538103"/>
            <a:ext cx="13396540" cy="581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87"/>
              </a:lnSpc>
              <a:spcBef>
                <a:spcPct val="0"/>
              </a:spcBef>
            </a:pPr>
            <a:r>
              <a:rPr lang="en-US" sz="3699" b="1" spc="-77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Comissão Itinerante de Prevenção ao Assédio e à Violência Doméstica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986191" y="6498302"/>
            <a:ext cx="2887085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F34747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Contato: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429556" y="7522767"/>
            <a:ext cx="9443720" cy="8578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819"/>
              </a:lnSpc>
              <a:spcBef>
                <a:spcPct val="0"/>
              </a:spcBef>
            </a:pPr>
            <a:r>
              <a:rPr lang="en-US" sz="5499" b="1" spc="-115">
                <a:solidFill>
                  <a:srgbClr val="1D4D9C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cipavd.comgep@fab.mil.br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8735" y="757979"/>
            <a:ext cx="15770530" cy="780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15"/>
              </a:lnSpc>
            </a:pPr>
            <a:r>
              <a:rPr lang="en-US" sz="4510" b="1">
                <a:solidFill>
                  <a:srgbClr val="004AAD"/>
                </a:solidFill>
                <a:latin typeface="Josefin Slab Bold"/>
                <a:ea typeface="Josefin Slab Bold"/>
                <a:cs typeface="Josefin Slab Bold"/>
                <a:sym typeface="Josefin Slab Bold"/>
              </a:rPr>
              <a:t>SEMPRE PRONTOS NO COMBATE À VIOLÊNCIA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1234</Words>
  <Application>Microsoft Office PowerPoint</Application>
  <PresentationFormat>Personalizar</PresentationFormat>
  <Paragraphs>246</Paragraphs>
  <Slides>27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4" baseType="lpstr">
      <vt:lpstr>Josefin Slab Bold</vt:lpstr>
      <vt:lpstr>Calibri</vt:lpstr>
      <vt:lpstr>Arial</vt:lpstr>
      <vt:lpstr>Josefin Slab</vt:lpstr>
      <vt:lpstr>Raleway Bold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Apresentação_Manaus_ CIPAVD</dc:title>
  <dc:creator>Ten Monique Gomes</dc:creator>
  <cp:lastModifiedBy>Ten Monique Gomes</cp:lastModifiedBy>
  <cp:revision>18</cp:revision>
  <dcterms:created xsi:type="dcterms:W3CDTF">2006-08-16T00:00:00Z</dcterms:created>
  <dcterms:modified xsi:type="dcterms:W3CDTF">2025-12-29T14:52:36Z</dcterms:modified>
  <dc:identifier>DAG64RiIBZo</dc:identifier>
</cp:coreProperties>
</file>