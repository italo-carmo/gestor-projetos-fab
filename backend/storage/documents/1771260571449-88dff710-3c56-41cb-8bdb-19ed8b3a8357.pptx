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bAyUWYuwVF/PscslBDeiNt2RO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26F743-9607-4123-BEA0-1728582C99BE}">
  <a:tblStyle styleId="{9D26F743-9607-4123-BEA0-1728582C99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ABE7903-9EE7-44AD-BAB3-B57C29ED8352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140184D-3330-4159-AFD2-B63B5308391A}" styleName="Table_2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951902B1-6CFF-46C5-B2FA-1F2397591996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c86a1f485d_2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g3c86a1f485d_2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3c86a1f485d_2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c86a1f485d_2_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g3c86a1f485d_2_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3c86a1f485d_2_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c86a1f485d_2_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g3c86a1f485d_2_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3c86a1f485d_2_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3de209419_0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g393de209419_0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93de209419_0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86a1f485d_4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g3c86a1f485d_4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c86a1f485d_4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3de209419_0_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g393de209419_0_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93de209419_0_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93de209419_0_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g393de209419_0_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93de209419_0_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C0392B">
              <a:alpha val="1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2563EB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square.png" id="14" name="Google Shape;1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365760"/>
            <a:ext cx="2194560" cy="219456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89019"/>
              </a:srgbClr>
            </a:outerShdw>
          </a:effectLst>
        </p:spPr>
      </p:pic>
      <p:sp>
        <p:nvSpPr>
          <p:cNvPr id="15" name="Google Shape;15;p1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pt-BR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CIPAVD — SMIF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Comissão Itinerante de Prevenção ao Assédio e à Violência Doméstica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4617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Acompanhamento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c86a1f485d_2_0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square.png" id="25" name="Google Shape;25;g3c86a1f485d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1440"/>
            <a:ext cx="640081" cy="64008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g3c86a1f485d_2_0"/>
          <p:cNvSpPr/>
          <p:nvPr/>
        </p:nvSpPr>
        <p:spPr>
          <a:xfrm>
            <a:off x="1005840" y="0"/>
            <a:ext cx="7315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ATIVIDADES INTERNAS DA CIPAVD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" name="Google Shape;27;g3c86a1f485d_2_0"/>
          <p:cNvGraphicFramePr/>
          <p:nvPr/>
        </p:nvGraphicFramePr>
        <p:xfrm>
          <a:off x="583075" y="117105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{9D26F743-9607-4123-BEA0-1728582C99BE}</a:tableStyleId>
              </a:tblPr>
              <a:tblGrid>
                <a:gridCol w="2058725"/>
                <a:gridCol w="1704650"/>
                <a:gridCol w="1671850"/>
                <a:gridCol w="1305325"/>
                <a:gridCol w="997425"/>
              </a:tblGrid>
              <a:tr h="39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Atividade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solidFill>
                      <a:srgbClr val="F1A9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Responsável por confeccionar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solidFill>
                      <a:srgbClr val="F1A9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Responsável por executar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solidFill>
                      <a:srgbClr val="F1A9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PRAZO de confecção e revisão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solidFill>
                      <a:srgbClr val="F1A9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da Execução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solidFill>
                      <a:srgbClr val="F1A984"/>
                    </a:solidFill>
                  </a:tcPr>
                </a:tc>
              </a:tr>
              <a:tr h="518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Criação de uma Agenda Google para registros das atividades da CIPAVD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1S Raquel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1S Raquel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Até o dia 19.02</a:t>
                      </a:r>
                      <a:endParaRPr sz="10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Até o dia 19.02</a:t>
                      </a:r>
                      <a:endParaRPr sz="10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103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Confecção de Ofício aos GSD informando a data e o link da videoconferência para os elos de doutrina ou quem eles indicarem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1S Raquel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DIRENS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FEITO</a:t>
                      </a:r>
                      <a:endParaRPr sz="1000">
                        <a:solidFill>
                          <a:srgbClr val="0000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FEITO</a:t>
                      </a:r>
                      <a:endParaRPr sz="1000">
                        <a:solidFill>
                          <a:srgbClr val="0000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691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Palestra sobre assédio moral e sexual com os elos de doutrina do Curso - videoconferência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 Tamires, Cap Ester, SO Alves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 Ester e SO Alves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Até 19.02</a:t>
                      </a:r>
                      <a:endParaRPr sz="10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 25/02 (tarde) ou 27/02 (manhã)</a:t>
                      </a:r>
                      <a:endParaRPr sz="10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691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Palestra sobre assédio moral e sexual com os recrutas no início do curso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 Tamires, Cap Ester, SO Alves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 Tamires, Cap Ester, SO Alves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Até 19.02</a:t>
                      </a:r>
                      <a:endParaRPr sz="10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26.02 ou 27.02</a:t>
                      </a:r>
                      <a:endParaRPr sz="10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c86a1f485d_2_10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square.png" id="34" name="Google Shape;34;g3c86a1f485d_2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1440"/>
            <a:ext cx="640081" cy="64008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g3c86a1f485d_2_10"/>
          <p:cNvSpPr/>
          <p:nvPr/>
        </p:nvSpPr>
        <p:spPr>
          <a:xfrm>
            <a:off x="1005840" y="0"/>
            <a:ext cx="7315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ATIVIDADES INTERNAS DA CIPAVD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" name="Google Shape;36;g3c86a1f485d_2_10"/>
          <p:cNvGraphicFramePr/>
          <p:nvPr/>
        </p:nvGraphicFramePr>
        <p:xfrm>
          <a:off x="914400" y="135967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{9D26F743-9607-4123-BEA0-1728582C99BE}</a:tableStyleId>
              </a:tblPr>
              <a:tblGrid>
                <a:gridCol w="1870800"/>
                <a:gridCol w="1686950"/>
                <a:gridCol w="1580500"/>
                <a:gridCol w="1234000"/>
                <a:gridCol w="942925"/>
              </a:tblGrid>
              <a:tr h="65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Questionário a ser aplicado aos recrutas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1T Monique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1s Raquel e 2S Flávia - sob coordenação da 1T Monique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Até 19.02</a:t>
                      </a:r>
                      <a:endParaRPr sz="10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26.02 ou 27.02</a:t>
                      </a:r>
                      <a:endParaRPr sz="10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65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Ciclo de Boas Práticas com os instrutores disponíveis no dia da visita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 Ester, 1T Nívea, 1T Camargo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 Ester, 1T Nívea, 1T Camargo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Até 19.02</a:t>
                      </a:r>
                      <a:endParaRPr sz="10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26.02 ou 27.02</a:t>
                      </a:r>
                      <a:endParaRPr sz="10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65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Conversa com os elos - jurídico, doutrina, assistente social e psicologia.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 demanda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Membros da CIPAVD presentes no local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26.02 ou 27.02</a:t>
                      </a:r>
                      <a:endParaRPr sz="10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494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Visita às instalações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Membros da CIPAVD presentes no local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26.02 ou 27.02</a:t>
                      </a:r>
                      <a:endParaRPr sz="10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c86a1f485d_2_19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square.png" id="43" name="Google Shape;43;g3c86a1f485d_2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1440"/>
            <a:ext cx="640081" cy="64008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g3c86a1f485d_2_19"/>
          <p:cNvSpPr/>
          <p:nvPr/>
        </p:nvSpPr>
        <p:spPr>
          <a:xfrm>
            <a:off x="1005840" y="0"/>
            <a:ext cx="7315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ATIVIDADES INTERNAS DA CIPAVD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" name="Google Shape;45;g3c86a1f485d_2_19"/>
          <p:cNvGraphicFramePr/>
          <p:nvPr/>
        </p:nvGraphicFramePr>
        <p:xfrm>
          <a:off x="1005850" y="114590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{9D26F743-9607-4123-BEA0-1728582C99BE}</a:tableStyleId>
              </a:tblPr>
              <a:tblGrid>
                <a:gridCol w="1878875"/>
                <a:gridCol w="1555725"/>
                <a:gridCol w="1525775"/>
                <a:gridCol w="1191275"/>
                <a:gridCol w="910300"/>
              </a:tblGrid>
              <a:tr h="119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 das atividades pela comunicação social e divulgação dos trabalhos pelo CECOMSAER.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1T Natália Pandini  - coordenadora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1T Natália Pandini , Comunicação Social do COMGEP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Sempre que houver uma atividade da CIPAVD</a:t>
                      </a:r>
                      <a:endParaRPr sz="10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99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2ª Reunião Geral com os membros da CIPAVD antes do início dos trabalhos presencias em Brasília-DF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1S Raquel/2S Flávia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 Tamires e Cap Ester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Até dia 23.02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definir</a:t>
                      </a:r>
                      <a:endParaRPr sz="10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797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Criação de Dashboard para os trabalhos da Equipe CIPAVD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 Ítalo (CCA-BR), Cap Tamires e 1T Nívea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 Ítalo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Até dia 23.02</a:t>
                      </a:r>
                      <a:endParaRPr sz="10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Início dos trabalhos presenciais da CIPAVD</a:t>
                      </a:r>
                      <a:endParaRPr sz="10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" name="Google Shape;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868680" y="4572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CHECKLIST OPERACIONAL — FASE 1: PREPARAÇÃO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" name="Google Shape;55;p6"/>
          <p:cNvGraphicFramePr/>
          <p:nvPr/>
        </p:nvGraphicFramePr>
        <p:xfrm>
          <a:off x="365759" y="11285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{1ABE7903-9EE7-44AD-BAB3-B57C29ED8352}</a:tableStyleId>
              </a:tblPr>
              <a:tblGrid>
                <a:gridCol w="2667400"/>
                <a:gridCol w="829850"/>
                <a:gridCol w="474200"/>
                <a:gridCol w="474200"/>
                <a:gridCol w="474200"/>
                <a:gridCol w="474200"/>
                <a:gridCol w="474200"/>
                <a:gridCol w="474200"/>
                <a:gridCol w="474200"/>
                <a:gridCol w="474200"/>
                <a:gridCol w="1066950"/>
              </a:tblGrid>
              <a:tr h="309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chemeClr val="lt1"/>
                          </a:solidFill>
                        </a:rPr>
                        <a:t>INDICADOR</a:t>
                      </a:r>
                      <a:endParaRPr b="1" i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chemeClr val="lt1"/>
                          </a:solidFill>
                        </a:rPr>
                        <a:t>PRAZO</a:t>
                      </a:r>
                      <a:endParaRPr b="1" i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chemeClr val="lt1"/>
                          </a:solidFill>
                        </a:rPr>
                        <a:t>BSB</a:t>
                      </a:r>
                      <a:endParaRPr b="1" i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chemeClr val="lt1"/>
                          </a:solidFill>
                        </a:rPr>
                        <a:t>RJ</a:t>
                      </a:r>
                      <a:endParaRPr b="1" i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chemeClr val="lt1"/>
                          </a:solidFill>
                        </a:rPr>
                        <a:t>MG</a:t>
                      </a:r>
                      <a:endParaRPr b="1" i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chemeClr val="lt1"/>
                          </a:solidFill>
                        </a:rPr>
                        <a:t>SP</a:t>
                      </a:r>
                      <a:endParaRPr b="1" i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chemeClr val="lt1"/>
                          </a:solidFill>
                        </a:rPr>
                        <a:t>GTA</a:t>
                      </a:r>
                      <a:endParaRPr b="1" i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chemeClr val="lt1"/>
                          </a:solidFill>
                        </a:rPr>
                        <a:t>CAN</a:t>
                      </a:r>
                      <a:endParaRPr b="1" i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chemeClr val="lt1"/>
                          </a:solidFill>
                        </a:rPr>
                        <a:t>MAO</a:t>
                      </a:r>
                      <a:endParaRPr b="1" i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chemeClr val="lt1"/>
                          </a:solidFill>
                        </a:rPr>
                        <a:t>PIR</a:t>
                      </a:r>
                      <a:endParaRPr b="1" i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chemeClr val="lt1"/>
                          </a:solidFill>
                        </a:rPr>
                        <a:t>RESPONSÁVEL</a:t>
                      </a:r>
                      <a:endParaRPr b="1" i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>
                    <a:solidFill>
                      <a:srgbClr val="323F4F"/>
                    </a:solidFill>
                  </a:tcPr>
                </a:tc>
              </a:tr>
              <a:tr h="52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Coletar cronograma formação SMIF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Até 10/02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</a:tr>
              <a:tr h="52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Coletar cronograma instrutores SMIF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Até 10/02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</a:tr>
              <a:tr h="52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Confirmar 5 elos por localidade 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Até 19/02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pt-BR" sz="700" u="none" cap="none" strike="noStrike"/>
                        <a:t> 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00" marB="0" marR="7000" marL="7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pt-BR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CRONOGRAMAS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MISSÕS DE VISITAS</a:t>
            </a:r>
            <a:endParaRPr b="1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457200" y="4617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1005840" y="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CRONOGRAMA DE VISITAS AOS GSD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1" name="Google Shape;71;p8"/>
          <p:cNvGraphicFramePr/>
          <p:nvPr/>
        </p:nvGraphicFramePr>
        <p:xfrm>
          <a:off x="27432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{9140184D-3330-4159-AFD2-B63B5308391A}</a:tableStyleId>
              </a:tblPr>
              <a:tblGrid>
                <a:gridCol w="498775"/>
                <a:gridCol w="810500"/>
                <a:gridCol w="2182100"/>
                <a:gridCol w="2369125"/>
                <a:gridCol w="23691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Mês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Equipe Designada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Confirmação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800"/>
                        <a:buFont typeface="Calibri"/>
                        <a:buNone/>
                      </a:pPr>
                      <a:r>
                        <a:rPr b="1" lang="pt-BR" sz="800" u="none" cap="none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FEV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pt-BR" sz="8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26–27/02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pt-BR" sz="8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Brasília-DF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750"/>
                        <a:buFont typeface="Calibri"/>
                        <a:buNone/>
                      </a:pPr>
                      <a:r>
                        <a:rPr lang="pt-BR" sz="7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 Tamires, Ten Nívea, Ten Nathália Pandini, 1S Raquel, 2S Flávia</a:t>
                      </a:r>
                      <a:endParaRPr sz="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Calibri"/>
                        <a:buNone/>
                      </a:pPr>
                      <a:r>
                        <a:rPr b="0" lang="pt-BR" sz="7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Confirmado pelo comandante.</a:t>
                      </a:r>
                      <a:endParaRPr sz="1400" u="none" cap="none" strike="noStrike"/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pt-BR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pt-BR" sz="8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02–03/03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pt-BR" sz="8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Rio de Janeiro-RJ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750"/>
                        <a:buFont typeface="Calibri"/>
                        <a:buNone/>
                      </a:pPr>
                      <a:r>
                        <a:rPr lang="pt-BR" sz="7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 Tamires, Cap Ester, Ten Nívea, Ten Camargo, 1S Raquel</a:t>
                      </a:r>
                      <a:endParaRPr sz="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Calibri"/>
                        <a:buNone/>
                      </a:pPr>
                      <a:r>
                        <a:t/>
                      </a:r>
                      <a:endParaRPr b="1" sz="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pt-BR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pt-BR" sz="8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04–06/03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pt-BR" sz="8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Lagoa Santa-MG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750"/>
                        <a:buFont typeface="Calibri"/>
                        <a:buNone/>
                      </a:pPr>
                      <a:r>
                        <a:rPr lang="pt-BR" sz="7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 Tamires, Cap Ester, Ten Camargo, SO Alves, 1S Raquel</a:t>
                      </a:r>
                      <a:endParaRPr sz="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Calibri"/>
                        <a:buNone/>
                      </a:pPr>
                      <a:r>
                        <a:t/>
                      </a:r>
                      <a:endParaRPr b="1" sz="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pt-BR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pt-BR" sz="8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09–14/03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pt-BR" sz="8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Pirassununga / São Paulo / Guaratinguetá-SP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750"/>
                        <a:buFont typeface="Calibri"/>
                        <a:buNone/>
                      </a:pPr>
                      <a:r>
                        <a:rPr lang="pt-BR" sz="7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 Tamires, Cap Ester, Ten Nívea, SO Alves, 2S Flávia</a:t>
                      </a:r>
                      <a:endParaRPr sz="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Calibri"/>
                        <a:buNone/>
                      </a:pPr>
                      <a:r>
                        <a:t/>
                      </a:r>
                      <a:endParaRPr b="1" sz="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pt-BR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pt-BR" sz="8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17–19/03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pt-BR" sz="8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Canoas-RS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750"/>
                        <a:buFont typeface="Calibri"/>
                        <a:buNone/>
                      </a:pPr>
                      <a:r>
                        <a:rPr lang="pt-BR" sz="7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 Tamires, Ten Nívea, 2S Flávia</a:t>
                      </a:r>
                      <a:endParaRPr sz="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Calibri"/>
                        <a:buNone/>
                      </a:pPr>
                      <a:r>
                        <a:t/>
                      </a:r>
                      <a:endParaRPr b="1" sz="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pt-BR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pt-BR" sz="8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25–27/03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pt-BR" sz="8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Manaus-AM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750"/>
                        <a:buFont typeface="Calibri"/>
                        <a:buNone/>
                      </a:pPr>
                      <a:r>
                        <a:rPr lang="pt-BR" sz="7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 Tamires, Ten Nívea, Ten Camargo, SO Alves, 1S Raquel</a:t>
                      </a:r>
                      <a:endParaRPr sz="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Calibri"/>
                        <a:buNone/>
                      </a:pPr>
                      <a:r>
                        <a:t/>
                      </a:r>
                      <a:endParaRPr b="1" sz="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" name="Google Shape;72;p8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Em cada visita: Palestra aos recrutas e instrutores • Questionário • Ciclo de Boas Práticas • Conversa com elos • Visita às instalações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" name="Google Shape;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9"/>
          <p:cNvSpPr/>
          <p:nvPr/>
        </p:nvSpPr>
        <p:spPr>
          <a:xfrm>
            <a:off x="868680" y="4572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MATRIZ DE PARTICIPAÇÃO — EQUIPE POR LOCALIDADE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352044" y="479602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🟢 Presencial    R = Apoio Remoto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3" name="Google Shape;83;p9"/>
          <p:cNvGraphicFramePr/>
          <p:nvPr/>
        </p:nvGraphicFramePr>
        <p:xfrm>
          <a:off x="483476" y="10405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{1ABE7903-9EE7-44AD-BAB3-B57C29ED8352}</a:tableStyleId>
              </a:tblPr>
              <a:tblGrid>
                <a:gridCol w="1631525"/>
                <a:gridCol w="815750"/>
                <a:gridCol w="815750"/>
                <a:gridCol w="815750"/>
                <a:gridCol w="815750"/>
                <a:gridCol w="815750"/>
                <a:gridCol w="815750"/>
                <a:gridCol w="815750"/>
                <a:gridCol w="815750"/>
              </a:tblGrid>
              <a:tr h="266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MEMBRO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BSB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RJ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MG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SP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GTA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CAN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MAO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TOTAL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</a:tr>
              <a:tr h="26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Cap Tamires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r>
                        <a:rPr lang="pt-BR" sz="1000" u="none" cap="none" strike="noStrike">
                          <a:solidFill>
                            <a:srgbClr val="7F8C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🟢 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</a:tr>
              <a:tr h="26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Cap Ester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</a:tr>
              <a:tr h="26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Cap Ítalo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r>
                        <a:rPr lang="pt-BR" sz="1000" u="none" cap="none" strike="noStrike">
                          <a:solidFill>
                            <a:srgbClr val="7F8C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🟢 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R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R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R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R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R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R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</a:tr>
              <a:tr h="26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1T Nívea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r>
                        <a:rPr lang="pt-BR" sz="1000" u="none" cap="none" strike="noStrike">
                          <a:solidFill>
                            <a:srgbClr val="7F8C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🟢 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</a:tr>
              <a:tr h="26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1T Monique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R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R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R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R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R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R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R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</a:tr>
              <a:tr h="26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1T Camargo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</a:tr>
              <a:tr h="26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1T Pandini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</a:tr>
              <a:tr h="26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SO Alves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</a:tr>
              <a:tr h="26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1S Raquel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</a:tr>
              <a:tr h="26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2S Flávia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r>
                        <a:rPr lang="pt-BR" sz="1000" u="none" cap="none" strike="noStrike">
                          <a:solidFill>
                            <a:srgbClr val="7F8C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🟢 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pt-BR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CRONOGRAMAS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ATIVIDADES NO SMIF</a:t>
            </a:r>
            <a:endParaRPr b="1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457200" y="4617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/>
          <p:nvPr/>
        </p:nvSpPr>
        <p:spPr>
          <a:xfrm>
            <a:off x="868680" y="4572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PROTOCOLO DE ATIVIDADES — EM CADA VISITA AO GSD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457200" y="1024128"/>
            <a:ext cx="502920" cy="50292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457200" y="10241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1143000" y="960120"/>
            <a:ext cx="64008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1143000" y="960120"/>
            <a:ext cx="54864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1371600" y="9784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PALESTRA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1371600" y="125272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Palestra sobre assédio e violência doméstica para recrutas e instrutores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7315200" y="1124712"/>
            <a:ext cx="731520" cy="2926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7315200" y="1124712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~60 min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11"/>
          <p:cNvCxnSpPr/>
          <p:nvPr/>
        </p:nvCxnSpPr>
        <p:spPr>
          <a:xfrm>
            <a:off x="708660" y="1527048"/>
            <a:ext cx="0" cy="210312"/>
          </a:xfrm>
          <a:prstGeom prst="straightConnector1">
            <a:avLst/>
          </a:prstGeom>
          <a:noFill/>
          <a:ln cap="flat" cmpd="sng" w="19050">
            <a:solidFill>
              <a:srgbClr val="E8ECF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1"/>
          <p:cNvSpPr/>
          <p:nvPr/>
        </p:nvSpPr>
        <p:spPr>
          <a:xfrm>
            <a:off x="457200" y="1801368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"/>
          <p:cNvSpPr/>
          <p:nvPr/>
        </p:nvSpPr>
        <p:spPr>
          <a:xfrm>
            <a:off x="457200" y="18013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1143000" y="1737360"/>
            <a:ext cx="64008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1143000" y="1737360"/>
            <a:ext cx="54864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1371600" y="175564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QUESTIONÁRIO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1371600" y="202996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Aplicação de questionário anônimo junto aos recrutas sobre o tema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7315200" y="1901952"/>
            <a:ext cx="731520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7315200" y="1901952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~30 min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11"/>
          <p:cNvCxnSpPr/>
          <p:nvPr/>
        </p:nvCxnSpPr>
        <p:spPr>
          <a:xfrm>
            <a:off x="708660" y="2304288"/>
            <a:ext cx="0" cy="210312"/>
          </a:xfrm>
          <a:prstGeom prst="straightConnector1">
            <a:avLst/>
          </a:prstGeom>
          <a:noFill/>
          <a:ln cap="flat" cmpd="sng" w="19050">
            <a:solidFill>
              <a:srgbClr val="E8ECF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9" name="Google Shape;119;p11"/>
          <p:cNvSpPr/>
          <p:nvPr/>
        </p:nvSpPr>
        <p:spPr>
          <a:xfrm>
            <a:off x="457200" y="2578608"/>
            <a:ext cx="502920" cy="5029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457200" y="25786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1143000" y="2514600"/>
            <a:ext cx="64008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1143000" y="2514600"/>
            <a:ext cx="54864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1371600" y="25328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CICLO DE BOAS PRÁTICAS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1371600" y="280720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Dinâmica com exemplos e discussão sobre boas práticas de convivência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7315200" y="2679192"/>
            <a:ext cx="731520" cy="2926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7315200" y="2679192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~45 min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1"/>
          <p:cNvCxnSpPr/>
          <p:nvPr/>
        </p:nvCxnSpPr>
        <p:spPr>
          <a:xfrm>
            <a:off x="708660" y="3081528"/>
            <a:ext cx="0" cy="210312"/>
          </a:xfrm>
          <a:prstGeom prst="straightConnector1">
            <a:avLst/>
          </a:prstGeom>
          <a:noFill/>
          <a:ln cap="flat" cmpd="sng" w="19050">
            <a:solidFill>
              <a:srgbClr val="E8ECF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8" name="Google Shape;128;p11"/>
          <p:cNvSpPr/>
          <p:nvPr/>
        </p:nvSpPr>
        <p:spPr>
          <a:xfrm>
            <a:off x="457200" y="3355848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457200" y="33558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"/>
          <p:cNvSpPr/>
          <p:nvPr/>
        </p:nvSpPr>
        <p:spPr>
          <a:xfrm>
            <a:off x="1143000" y="3291840"/>
            <a:ext cx="64008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/>
          <p:nvPr/>
        </p:nvSpPr>
        <p:spPr>
          <a:xfrm>
            <a:off x="1143000" y="3291840"/>
            <a:ext cx="54864" cy="6400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1"/>
          <p:cNvSpPr/>
          <p:nvPr/>
        </p:nvSpPr>
        <p:spPr>
          <a:xfrm>
            <a:off x="1371600" y="331012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CONVERSA COM ELOS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1371600" y="35844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Reunião com os elos locais de psicologia, serviço social e jurídico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7315200" y="3456432"/>
            <a:ext cx="731520" cy="29260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7315200" y="3456432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~45 min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1"/>
          <p:cNvCxnSpPr/>
          <p:nvPr/>
        </p:nvCxnSpPr>
        <p:spPr>
          <a:xfrm>
            <a:off x="708660" y="3858768"/>
            <a:ext cx="0" cy="210312"/>
          </a:xfrm>
          <a:prstGeom prst="straightConnector1">
            <a:avLst/>
          </a:prstGeom>
          <a:noFill/>
          <a:ln cap="flat" cmpd="sng" w="19050">
            <a:solidFill>
              <a:srgbClr val="E8ECF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7" name="Google Shape;137;p11"/>
          <p:cNvSpPr/>
          <p:nvPr/>
        </p:nvSpPr>
        <p:spPr>
          <a:xfrm>
            <a:off x="457200" y="4133088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457200" y="41330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1143000" y="4069080"/>
            <a:ext cx="64008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1143000" y="4069080"/>
            <a:ext cx="54864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1371600" y="408736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VISITA ÀS INSTALAÇÕES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1371600" y="436168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Verificação das condições e estruturas de acolhimento nos GSD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7315200" y="4233672"/>
            <a:ext cx="731520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7315200" y="4233672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~30 min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2"/>
          <p:cNvSpPr/>
          <p:nvPr/>
        </p:nvSpPr>
        <p:spPr>
          <a:xfrm>
            <a:off x="868680" y="4572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CRONOGRAMA— EM CADA VISITA AO GSD  - SMIF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4" name="Google Shape;154;p12"/>
          <p:cNvGraphicFramePr/>
          <p:nvPr/>
        </p:nvGraphicFramePr>
        <p:xfrm>
          <a:off x="441064" y="1125863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{1ABE7903-9EE7-44AD-BAB3-B57C29ED8352}</a:tableStyleId>
              </a:tblPr>
              <a:tblGrid>
                <a:gridCol w="820300"/>
                <a:gridCol w="799775"/>
                <a:gridCol w="2138575"/>
                <a:gridCol w="1283875"/>
                <a:gridCol w="1516275"/>
                <a:gridCol w="1641200"/>
              </a:tblGrid>
              <a:tr h="283150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CRONOGRAMA 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>
                    <a:solidFill>
                      <a:srgbClr val="002060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44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Horário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Atividade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Participantes CIPAVD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Participantes SMIF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Local Sugerido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</a:tr>
              <a:tr h="416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10/02/2026</a:t>
                      </a:r>
                      <a:endParaRPr b="0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09:00-12:00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Sala de Reuniões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10/02/2026</a:t>
                      </a:r>
                      <a:endParaRPr b="0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Todas as áreas do SMIF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Salas de gestão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</a:tr>
              <a:tr h="41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Setores operacionais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Sala de Reuniões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Sala de Reuniões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</a:tr>
              <a:tr h="318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Sala de Reuniões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3"/>
          <p:cNvSpPr/>
          <p:nvPr/>
        </p:nvSpPr>
        <p:spPr>
          <a:xfrm>
            <a:off x="868680" y="4572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CRONOGRAMA— CANOAS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Google Shape;164;p13"/>
          <p:cNvGraphicFramePr/>
          <p:nvPr/>
        </p:nvGraphicFramePr>
        <p:xfrm>
          <a:off x="441064" y="1125863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{1ABE7903-9EE7-44AD-BAB3-B57C29ED8352}</a:tableStyleId>
              </a:tblPr>
              <a:tblGrid>
                <a:gridCol w="820300"/>
                <a:gridCol w="799775"/>
                <a:gridCol w="2138575"/>
                <a:gridCol w="1283875"/>
                <a:gridCol w="1516275"/>
                <a:gridCol w="1641200"/>
              </a:tblGrid>
              <a:tr h="283150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CRONOGRAMA 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>
                    <a:solidFill>
                      <a:srgbClr val="002060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44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Horário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Atividade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Participantes CIPAVD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Participantes SMIF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Local Sugerido</a:t>
                      </a:r>
                      <a:endParaRPr b="1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</a:tr>
              <a:tr h="416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10/02/2026</a:t>
                      </a:r>
                      <a:endParaRPr b="0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09:00-12:00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Sala de Reuniões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10/02/2026</a:t>
                      </a:r>
                      <a:endParaRPr b="0"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14:00-17:00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Todas as áreas do SMIF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Salas de gestão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</a:tr>
              <a:tr h="41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Setores operacionais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Sala de Reuniões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</a:tr>
              <a:tr h="31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Sala de Reuniões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</a:tr>
              <a:tr h="318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pt-BR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Sala de Reuniões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0625" marL="406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pt-BR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QUESTIONÁRIOS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ATIVIDADES NO SMIF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457200" y="4617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5"/>
          <p:cNvSpPr/>
          <p:nvPr/>
        </p:nvSpPr>
        <p:spPr>
          <a:xfrm>
            <a:off x="868680" y="4572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QUESTIONÁRIOS - ACOMPANHAMENTO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2" name="Google Shape;182;p15"/>
          <p:cNvGraphicFramePr/>
          <p:nvPr/>
        </p:nvGraphicFramePr>
        <p:xfrm>
          <a:off x="543381" y="132588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{1ABE7903-9EE7-44AD-BAB3-B57C29ED8352}</a:tableStyleId>
              </a:tblPr>
              <a:tblGrid>
                <a:gridCol w="289750"/>
                <a:gridCol w="945400"/>
                <a:gridCol w="942675"/>
                <a:gridCol w="629725"/>
                <a:gridCol w="970400"/>
                <a:gridCol w="533550"/>
                <a:gridCol w="495525"/>
                <a:gridCol w="577575"/>
                <a:gridCol w="554200"/>
                <a:gridCol w="498775"/>
                <a:gridCol w="574300"/>
                <a:gridCol w="522675"/>
                <a:gridCol w="522675"/>
              </a:tblGrid>
              <a:tr h="31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Nº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Questionário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Respondente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Fase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Momento / Contexto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BSB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RJ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MG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SP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GTA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CAN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MAO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PIR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 anchor="ctr">
                    <a:solidFill>
                      <a:srgbClr val="323F4F"/>
                    </a:solidFill>
                  </a:tcPr>
                </a:tc>
              </a:tr>
              <a:tr h="31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Q1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Conhecimento sobre o Tema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Equipe de Instrução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Preparação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Anterior ao início do SMIF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</a:tr>
              <a:tr h="30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Q2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Experiência Prévia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Elos do projeto (cidades do SMIF)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Preparação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Anterior ao início do SMIF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</a:tr>
              <a:tr h="31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Q3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Expectativas e Motivação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Equipe de Instrução (voluntárias)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Preparação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Anterior ao início do SMIF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</a:tr>
              <a:tr h="31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Q4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Desafios no Treinamento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Equipe de Instrução (todos)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Intermediária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Durante o SMIF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</a:tr>
              <a:tr h="31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Q5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Aquisição de Competências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Equipe de Instrução (todos)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Final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Última semana do SMIF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</a:tr>
              <a:tr h="362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Q6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Segurança Psicológica (Alunas SMIF)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Alunas do SMIF 2026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Interm. / Final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Durante e ao final do curso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</a:tr>
              <a:tr h="30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OB1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Ambiente Físico da OM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Equipe CIPAVD (observador)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Visita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Início da missão em cada OM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</a:tr>
              <a:tr h="31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OB2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Dinâmica de Instrução SMIF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Equipe CIPAVD (observador)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SMIF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Atividades de instrução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</a:tr>
              <a:tr h="30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OB3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Clima nas Palestras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Equipe CIPAVD (observador)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Visita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Durante as palestras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</a:tr>
              <a:tr h="33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OB4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Integração Alunas SMIF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Equipe CIPAVD (observador)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SMIF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Instrução, refeições, intervalos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850" marB="31850" marR="42475" marL="42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300" marL="5300"/>
                </a:tc>
              </a:tr>
            </a:tbl>
          </a:graphicData>
        </a:graphic>
      </p:graphicFrame>
      <p:sp>
        <p:nvSpPr>
          <p:cNvPr id="183" name="Google Shape;183;p15"/>
          <p:cNvSpPr txBox="1"/>
          <p:nvPr/>
        </p:nvSpPr>
        <p:spPr>
          <a:xfrm>
            <a:off x="505281" y="771144"/>
            <a:ext cx="290576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CIPAVD — SUMÁRIO OPERACIONAL DE QUESTIONÁRIOS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pt-BR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TABELA 1 — INVENTÁRIO GERAL DE QUESTIONÁRIOS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1" name="Google Shape;19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6"/>
          <p:cNvSpPr/>
          <p:nvPr/>
        </p:nvSpPr>
        <p:spPr>
          <a:xfrm>
            <a:off x="868680" y="4572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QUESTIONÁRIOS - ACOMPANHAMENTO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365760" y="750649"/>
            <a:ext cx="5495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CIPAVD — SUMÁRIO OPERACIONAL DE QUESTIONÁRIOS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pt-B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TABELA 2 — CONTROLE DE APLICAÇÃO POR MISSÃO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4" name="Google Shape;194;p16"/>
          <p:cNvGraphicFramePr/>
          <p:nvPr/>
        </p:nvGraphicFramePr>
        <p:xfrm>
          <a:off x="571500" y="132588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{1ABE7903-9EE7-44AD-BAB3-B57C29ED8352}</a:tableStyleId>
              </a:tblPr>
              <a:tblGrid>
                <a:gridCol w="1178325"/>
                <a:gridCol w="834800"/>
                <a:gridCol w="533275"/>
                <a:gridCol w="533275"/>
                <a:gridCol w="533275"/>
                <a:gridCol w="533275"/>
                <a:gridCol w="533275"/>
                <a:gridCol w="533275"/>
                <a:gridCol w="533825"/>
                <a:gridCol w="533825"/>
                <a:gridCol w="533825"/>
                <a:gridCol w="533825"/>
                <a:gridCol w="538725"/>
              </a:tblGrid>
              <a:tr h="163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Local / Missão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Responsável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Q1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Q2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Q3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Q4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Q5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Q6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OB1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OB2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OB3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OB4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OB5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</a:tr>
              <a:tr h="18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BSB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2S FLÁVIA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11/02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/>
                        <a:t> 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</a:tr>
              <a:tr h="18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</a:tr>
              <a:tr h="18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</a:tr>
              <a:tr h="18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</a:tr>
              <a:tr h="18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</a:tr>
              <a:tr h="18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</a:tr>
              <a:tr h="18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</a:tr>
              <a:tr h="18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</a:tr>
              <a:tr h="18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</a:tr>
              <a:tr h="18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</a:tr>
              <a:tr h="18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</a:tr>
              <a:tr h="10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/>
                        <a:t> 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725" marB="32725" marR="43625" marL="43625" anchor="ctr"/>
                </a:tc>
              </a:tr>
            </a:tbl>
          </a:graphicData>
        </a:graphic>
      </p:graphicFrame>
      <p:sp>
        <p:nvSpPr>
          <p:cNvPr id="195" name="Google Shape;195;p16"/>
          <p:cNvSpPr txBox="1"/>
          <p:nvPr/>
        </p:nvSpPr>
        <p:spPr>
          <a:xfrm>
            <a:off x="460485" y="3933553"/>
            <a:ext cx="4572000" cy="103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1B3A5C"/>
                </a:solidFill>
                <a:latin typeface="Arial"/>
                <a:ea typeface="Arial"/>
                <a:cs typeface="Arial"/>
                <a:sym typeface="Arial"/>
              </a:rPr>
              <a:t>OBSERVAÇÕES GERAIS</a:t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E5A88"/>
              </a:buClr>
              <a:buSzPts val="600"/>
              <a:buFont typeface="Arial"/>
              <a:buNone/>
            </a:pPr>
            <a:r>
              <a:rPr b="1" i="0" lang="pt-BR" sz="600" u="none" cap="none" strike="noStrike">
                <a:solidFill>
                  <a:srgbClr val="2E5A88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0" i="0" lang="pt-BR" sz="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Q1 a Q5: voltados ao acompanhamento do SMIF.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E5A88"/>
              </a:buClr>
              <a:buSzPts val="600"/>
              <a:buFont typeface="Arial"/>
              <a:buNone/>
            </a:pPr>
            <a:r>
              <a:rPr b="1" i="0" lang="pt-BR" sz="600" u="none" cap="none" strike="noStrike">
                <a:solidFill>
                  <a:srgbClr val="2E5A88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0" i="0" lang="pt-BR" sz="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Q6 a Q10: questionários sugeridos para aplicação nas missões itinerantes e cursos de pós-formação.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E5A88"/>
              </a:buClr>
              <a:buSzPts val="600"/>
              <a:buFont typeface="Arial"/>
              <a:buNone/>
            </a:pPr>
            <a:r>
              <a:rPr b="1" i="0" lang="pt-BR" sz="600" u="none" cap="none" strike="noStrike">
                <a:solidFill>
                  <a:srgbClr val="2E5A88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0" i="0" lang="pt-BR" sz="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OB1 a OB5: instrumentos de observação direta preenchidos pela equipe CIPAVD, sem resposta dos observados. Aplicáveis exclusivamente no contexto do SMIF.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E5A88"/>
              </a:buClr>
              <a:buSzPts val="600"/>
              <a:buFont typeface="Arial"/>
              <a:buNone/>
            </a:pPr>
            <a:r>
              <a:rPr b="1" i="0" lang="pt-BR" sz="600" u="none" cap="none" strike="noStrike">
                <a:solidFill>
                  <a:srgbClr val="2E5A88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0" i="0" lang="pt-BR" sz="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Q6 (Segurança Psicológica Alunas): aplicável exclusivamente no contexto do SMIF.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E5A88"/>
              </a:buClr>
              <a:buSzPts val="600"/>
              <a:buFont typeface="Arial"/>
              <a:buNone/>
            </a:pPr>
            <a:r>
              <a:rPr b="1" i="0" lang="pt-BR" sz="600" u="none" cap="none" strike="noStrike">
                <a:solidFill>
                  <a:srgbClr val="2E5A88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0" i="0" lang="pt-BR" sz="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OB1, OB3 e OB4: aplicáveis em todas as missões itinerantes.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3de209419_0_3"/>
          <p:cNvSpPr/>
          <p:nvPr/>
        </p:nvSpPr>
        <p:spPr>
          <a:xfrm>
            <a:off x="457200" y="274320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pt-BR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CONTROLE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93de209419_0_3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 CIDADE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93de209419_0_3"/>
          <p:cNvSpPr/>
          <p:nvPr/>
        </p:nvSpPr>
        <p:spPr>
          <a:xfrm>
            <a:off x="457200" y="461772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564689" y="0"/>
            <a:ext cx="6446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BRASÍLIA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1" name="Google Shape;211;p5"/>
          <p:cNvGraphicFramePr/>
          <p:nvPr/>
        </p:nvGraphicFramePr>
        <p:xfrm>
          <a:off x="27432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{9140184D-3330-4159-AFD2-B63B5308391A}</a:tableStyleId>
              </a:tblPr>
              <a:tblGrid>
                <a:gridCol w="1670100"/>
                <a:gridCol w="1397875"/>
                <a:gridCol w="1471450"/>
                <a:gridCol w="1587050"/>
                <a:gridCol w="24688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Atividade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Resp. Execução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 Comunicação Social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Aplicação de Questionário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Execução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pt-BR" sz="8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Visita às instalações do GSD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86a1f485d_4_0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c86a1f485d_4_0"/>
          <p:cNvSpPr/>
          <p:nvPr/>
        </p:nvSpPr>
        <p:spPr>
          <a:xfrm>
            <a:off x="564689" y="0"/>
            <a:ext cx="6446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BRASÍLIA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9" name="Google Shape;219;g3c86a1f485d_4_0"/>
          <p:cNvGraphicFramePr/>
          <p:nvPr/>
        </p:nvGraphicFramePr>
        <p:xfrm>
          <a:off x="771163" y="104527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{951902B1-6CFF-46C5-B2FA-1F2397591996}</a:tableStyleId>
              </a:tblPr>
              <a:tblGrid>
                <a:gridCol w="1131000"/>
                <a:gridCol w="926150"/>
                <a:gridCol w="1037725"/>
                <a:gridCol w="1513325"/>
                <a:gridCol w="1063575"/>
                <a:gridCol w="1929900"/>
              </a:tblGrid>
              <a:tr h="198700">
                <a:tc rowSpan="7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23/02/2026</a:t>
                      </a:r>
                      <a:br>
                        <a:rPr b="1" lang="pt-B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pt-B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(Terça-Feira)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1F2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PERÍODO DA MANHÃ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  <a:tc hMerge="1"/>
              </a:tr>
              <a:tr h="3873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ser definido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GSD-BR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Palestra de Conscientização e Prevenção ao Assédio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Todos os recrutas e instrutores disponíveis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 Tamires  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73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ser definido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Aplicação de Questionário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Todos os recrutas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1T Monique, 1S Raquel e 2S Flávia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88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ser definido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Ciclo de Boas Práticas com os Instrutores do SMIF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Todos os instrutores disponíveis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 Tamires, Cap Ester, 1T Nivea, 1T Camargo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73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ser definido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Conversa com os elos - jurídico assistente social e psicólogo.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Elos indicados pelo GSD-BR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 Ester, 1T Nivea, 1T Camargo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400">
                <a:tc vMerge="1"/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PERÍODO DA TARDE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6E6"/>
                    </a:solidFill>
                  </a:tcPr>
                </a:tc>
                <a:tc hMerge="1"/>
                <a:tc hMerge="1"/>
                <a:tc hMerge="1"/>
                <a:tc hMerge="1"/>
              </a:tr>
              <a:tr h="11684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ser definido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Visita às instalações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3048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Toda a Equipe CIPAVD presente no local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GSD-BR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3de209419_0_17"/>
          <p:cNvSpPr/>
          <p:nvPr/>
        </p:nvSpPr>
        <p:spPr>
          <a:xfrm>
            <a:off x="457200" y="274320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pt-BR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EQUIPE DE ELOS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93de209419_0_17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DADOS 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93de209419_0_17"/>
          <p:cNvSpPr/>
          <p:nvPr/>
        </p:nvSpPr>
        <p:spPr>
          <a:xfrm>
            <a:off x="457200" y="461772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5" name="Google Shape;2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"/>
          <p:cNvSpPr/>
          <p:nvPr/>
        </p:nvSpPr>
        <p:spPr>
          <a:xfrm>
            <a:off x="868680" y="4572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MATRIZ DE ELOS — CONTATOS POR LOCALIDADE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137160" y="960120"/>
            <a:ext cx="109728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"/>
          <p:cNvSpPr/>
          <p:nvPr/>
        </p:nvSpPr>
        <p:spPr>
          <a:xfrm>
            <a:off x="137160" y="9601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pt-BR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1252728" y="960120"/>
            <a:ext cx="192024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"/>
          <p:cNvSpPr/>
          <p:nvPr/>
        </p:nvSpPr>
        <p:spPr>
          <a:xfrm>
            <a:off x="1252728" y="960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pt-BR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ELO PSICOLOGIA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"/>
          <p:cNvSpPr/>
          <p:nvPr/>
        </p:nvSpPr>
        <p:spPr>
          <a:xfrm>
            <a:off x="3191256" y="960120"/>
            <a:ext cx="192024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3191256" y="960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pt-BR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ELO SERVIÇO SOCIAL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"/>
          <p:cNvSpPr/>
          <p:nvPr/>
        </p:nvSpPr>
        <p:spPr>
          <a:xfrm>
            <a:off x="5129784" y="960120"/>
            <a:ext cx="192024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"/>
          <p:cNvSpPr/>
          <p:nvPr/>
        </p:nvSpPr>
        <p:spPr>
          <a:xfrm>
            <a:off x="5129784" y="960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pt-BR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ELO JURÍDICO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"/>
          <p:cNvSpPr/>
          <p:nvPr/>
        </p:nvSpPr>
        <p:spPr>
          <a:xfrm>
            <a:off x="7068312" y="960120"/>
            <a:ext cx="164592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"/>
          <p:cNvSpPr/>
          <p:nvPr/>
        </p:nvSpPr>
        <p:spPr>
          <a:xfrm>
            <a:off x="7068312" y="9601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pt-BR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DOUTRINA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"/>
          <p:cNvSpPr/>
          <p:nvPr/>
        </p:nvSpPr>
        <p:spPr>
          <a:xfrm>
            <a:off x="137160" y="1371600"/>
            <a:ext cx="109728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"/>
          <p:cNvSpPr/>
          <p:nvPr/>
        </p:nvSpPr>
        <p:spPr>
          <a:xfrm>
            <a:off x="182880" y="1371600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pt-BR" sz="7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Brasília-DF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1252728" y="1371600"/>
            <a:ext cx="192024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"/>
          <p:cNvSpPr/>
          <p:nvPr/>
        </p:nvSpPr>
        <p:spPr>
          <a:xfrm>
            <a:off x="1298448" y="1371600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3191256" y="1371600"/>
            <a:ext cx="192024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"/>
          <p:cNvSpPr/>
          <p:nvPr/>
        </p:nvSpPr>
        <p:spPr>
          <a:xfrm>
            <a:off x="3236976" y="1371600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5129784" y="1371600"/>
            <a:ext cx="192024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5175504" y="1371600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"/>
          <p:cNvSpPr/>
          <p:nvPr/>
        </p:nvSpPr>
        <p:spPr>
          <a:xfrm>
            <a:off x="7068312" y="1371600"/>
            <a:ext cx="164592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4"/>
          <p:cNvSpPr/>
          <p:nvPr/>
        </p:nvSpPr>
        <p:spPr>
          <a:xfrm>
            <a:off x="7114032" y="1371600"/>
            <a:ext cx="15544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"/>
          <p:cNvSpPr/>
          <p:nvPr/>
        </p:nvSpPr>
        <p:spPr>
          <a:xfrm>
            <a:off x="137160" y="1801368"/>
            <a:ext cx="1097280" cy="393192"/>
          </a:xfrm>
          <a:prstGeom prst="rect">
            <a:avLst/>
          </a:prstGeom>
          <a:solidFill>
            <a:srgbClr val="E8ECF0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"/>
          <p:cNvSpPr/>
          <p:nvPr/>
        </p:nvSpPr>
        <p:spPr>
          <a:xfrm>
            <a:off x="182880" y="1801368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pt-BR" sz="7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Rio de Janeiro-RJ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1252728" y="1801368"/>
            <a:ext cx="1920240" cy="393192"/>
          </a:xfrm>
          <a:prstGeom prst="rect">
            <a:avLst/>
          </a:prstGeom>
          <a:solidFill>
            <a:srgbClr val="E8ECF0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"/>
          <p:cNvSpPr/>
          <p:nvPr/>
        </p:nvSpPr>
        <p:spPr>
          <a:xfrm>
            <a:off x="1298448" y="1801368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"/>
          <p:cNvSpPr/>
          <p:nvPr/>
        </p:nvSpPr>
        <p:spPr>
          <a:xfrm>
            <a:off x="3191256" y="1801368"/>
            <a:ext cx="1920240" cy="393192"/>
          </a:xfrm>
          <a:prstGeom prst="rect">
            <a:avLst/>
          </a:prstGeom>
          <a:solidFill>
            <a:srgbClr val="E8ECF0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"/>
          <p:cNvSpPr/>
          <p:nvPr/>
        </p:nvSpPr>
        <p:spPr>
          <a:xfrm>
            <a:off x="3236976" y="1801368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"/>
          <p:cNvSpPr/>
          <p:nvPr/>
        </p:nvSpPr>
        <p:spPr>
          <a:xfrm>
            <a:off x="5129784" y="1801368"/>
            <a:ext cx="1920240" cy="393192"/>
          </a:xfrm>
          <a:prstGeom prst="rect">
            <a:avLst/>
          </a:prstGeom>
          <a:solidFill>
            <a:srgbClr val="E8ECF0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"/>
          <p:cNvSpPr/>
          <p:nvPr/>
        </p:nvSpPr>
        <p:spPr>
          <a:xfrm>
            <a:off x="5175504" y="1801368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"/>
          <p:cNvSpPr/>
          <p:nvPr/>
        </p:nvSpPr>
        <p:spPr>
          <a:xfrm>
            <a:off x="7068312" y="1801368"/>
            <a:ext cx="1645920" cy="393192"/>
          </a:xfrm>
          <a:prstGeom prst="rect">
            <a:avLst/>
          </a:prstGeom>
          <a:solidFill>
            <a:srgbClr val="E8ECF0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"/>
          <p:cNvSpPr/>
          <p:nvPr/>
        </p:nvSpPr>
        <p:spPr>
          <a:xfrm>
            <a:off x="7114032" y="1801368"/>
            <a:ext cx="15544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"/>
          <p:cNvSpPr/>
          <p:nvPr/>
        </p:nvSpPr>
        <p:spPr>
          <a:xfrm>
            <a:off x="137160" y="2231136"/>
            <a:ext cx="109728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"/>
          <p:cNvSpPr/>
          <p:nvPr/>
        </p:nvSpPr>
        <p:spPr>
          <a:xfrm>
            <a:off x="182880" y="2231136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pt-BR" sz="7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Lagoa Santa-MG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"/>
          <p:cNvSpPr/>
          <p:nvPr/>
        </p:nvSpPr>
        <p:spPr>
          <a:xfrm>
            <a:off x="1252728" y="2231136"/>
            <a:ext cx="192024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1298448" y="2231136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"/>
          <p:cNvSpPr/>
          <p:nvPr/>
        </p:nvSpPr>
        <p:spPr>
          <a:xfrm>
            <a:off x="3191256" y="2231136"/>
            <a:ext cx="192024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"/>
          <p:cNvSpPr/>
          <p:nvPr/>
        </p:nvSpPr>
        <p:spPr>
          <a:xfrm>
            <a:off x="3236976" y="2231136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5129784" y="2231136"/>
            <a:ext cx="192024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"/>
          <p:cNvSpPr/>
          <p:nvPr/>
        </p:nvSpPr>
        <p:spPr>
          <a:xfrm>
            <a:off x="5175504" y="2231136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7068312" y="2231136"/>
            <a:ext cx="164592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"/>
          <p:cNvSpPr/>
          <p:nvPr/>
        </p:nvSpPr>
        <p:spPr>
          <a:xfrm>
            <a:off x="7114032" y="2231136"/>
            <a:ext cx="15544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"/>
          <p:cNvSpPr/>
          <p:nvPr/>
        </p:nvSpPr>
        <p:spPr>
          <a:xfrm>
            <a:off x="137160" y="2660904"/>
            <a:ext cx="1097280" cy="393192"/>
          </a:xfrm>
          <a:prstGeom prst="rect">
            <a:avLst/>
          </a:prstGeom>
          <a:solidFill>
            <a:srgbClr val="E8ECF0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"/>
          <p:cNvSpPr/>
          <p:nvPr/>
        </p:nvSpPr>
        <p:spPr>
          <a:xfrm>
            <a:off x="182880" y="2660904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pt-BR" sz="7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São Paulo-SP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"/>
          <p:cNvSpPr/>
          <p:nvPr/>
        </p:nvSpPr>
        <p:spPr>
          <a:xfrm>
            <a:off x="1252728" y="2660904"/>
            <a:ext cx="1920240" cy="393192"/>
          </a:xfrm>
          <a:prstGeom prst="rect">
            <a:avLst/>
          </a:prstGeom>
          <a:solidFill>
            <a:srgbClr val="E8ECF0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"/>
          <p:cNvSpPr/>
          <p:nvPr/>
        </p:nvSpPr>
        <p:spPr>
          <a:xfrm>
            <a:off x="1298448" y="2660904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"/>
          <p:cNvSpPr/>
          <p:nvPr/>
        </p:nvSpPr>
        <p:spPr>
          <a:xfrm>
            <a:off x="3191256" y="2660904"/>
            <a:ext cx="1920240" cy="393192"/>
          </a:xfrm>
          <a:prstGeom prst="rect">
            <a:avLst/>
          </a:prstGeom>
          <a:solidFill>
            <a:srgbClr val="E8ECF0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"/>
          <p:cNvSpPr/>
          <p:nvPr/>
        </p:nvSpPr>
        <p:spPr>
          <a:xfrm>
            <a:off x="3236976" y="2660904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"/>
          <p:cNvSpPr/>
          <p:nvPr/>
        </p:nvSpPr>
        <p:spPr>
          <a:xfrm>
            <a:off x="5129784" y="2660904"/>
            <a:ext cx="1920240" cy="393192"/>
          </a:xfrm>
          <a:prstGeom prst="rect">
            <a:avLst/>
          </a:prstGeom>
          <a:solidFill>
            <a:srgbClr val="E8ECF0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"/>
          <p:cNvSpPr/>
          <p:nvPr/>
        </p:nvSpPr>
        <p:spPr>
          <a:xfrm>
            <a:off x="5175504" y="2660904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"/>
          <p:cNvSpPr/>
          <p:nvPr/>
        </p:nvSpPr>
        <p:spPr>
          <a:xfrm>
            <a:off x="7068312" y="2660904"/>
            <a:ext cx="1645920" cy="393192"/>
          </a:xfrm>
          <a:prstGeom prst="rect">
            <a:avLst/>
          </a:prstGeom>
          <a:solidFill>
            <a:srgbClr val="E8ECF0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"/>
          <p:cNvSpPr/>
          <p:nvPr/>
        </p:nvSpPr>
        <p:spPr>
          <a:xfrm>
            <a:off x="7114032" y="2660904"/>
            <a:ext cx="15544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"/>
          <p:cNvSpPr/>
          <p:nvPr/>
        </p:nvSpPr>
        <p:spPr>
          <a:xfrm>
            <a:off x="137160" y="3090672"/>
            <a:ext cx="109728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"/>
          <p:cNvSpPr/>
          <p:nvPr/>
        </p:nvSpPr>
        <p:spPr>
          <a:xfrm>
            <a:off x="182880" y="3090672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pt-BR" sz="7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Guaratinguetá-SP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"/>
          <p:cNvSpPr/>
          <p:nvPr/>
        </p:nvSpPr>
        <p:spPr>
          <a:xfrm>
            <a:off x="1252728" y="3090672"/>
            <a:ext cx="192024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"/>
          <p:cNvSpPr/>
          <p:nvPr/>
        </p:nvSpPr>
        <p:spPr>
          <a:xfrm>
            <a:off x="1298448" y="3090672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"/>
          <p:cNvSpPr/>
          <p:nvPr/>
        </p:nvSpPr>
        <p:spPr>
          <a:xfrm>
            <a:off x="3191256" y="3090672"/>
            <a:ext cx="192024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"/>
          <p:cNvSpPr/>
          <p:nvPr/>
        </p:nvSpPr>
        <p:spPr>
          <a:xfrm>
            <a:off x="3236976" y="3090672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"/>
          <p:cNvSpPr/>
          <p:nvPr/>
        </p:nvSpPr>
        <p:spPr>
          <a:xfrm>
            <a:off x="5129784" y="3090672"/>
            <a:ext cx="192024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"/>
          <p:cNvSpPr/>
          <p:nvPr/>
        </p:nvSpPr>
        <p:spPr>
          <a:xfrm>
            <a:off x="5175504" y="3090672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"/>
          <p:cNvSpPr/>
          <p:nvPr/>
        </p:nvSpPr>
        <p:spPr>
          <a:xfrm>
            <a:off x="7068312" y="3090672"/>
            <a:ext cx="164592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"/>
          <p:cNvSpPr/>
          <p:nvPr/>
        </p:nvSpPr>
        <p:spPr>
          <a:xfrm>
            <a:off x="7114032" y="3090672"/>
            <a:ext cx="15544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"/>
          <p:cNvSpPr/>
          <p:nvPr/>
        </p:nvSpPr>
        <p:spPr>
          <a:xfrm>
            <a:off x="137160" y="3520440"/>
            <a:ext cx="1097280" cy="393192"/>
          </a:xfrm>
          <a:prstGeom prst="rect">
            <a:avLst/>
          </a:prstGeom>
          <a:solidFill>
            <a:srgbClr val="E8ECF0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"/>
          <p:cNvSpPr/>
          <p:nvPr/>
        </p:nvSpPr>
        <p:spPr>
          <a:xfrm>
            <a:off x="182880" y="3520440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pt-BR" sz="7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Canoas-RS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"/>
          <p:cNvSpPr/>
          <p:nvPr/>
        </p:nvSpPr>
        <p:spPr>
          <a:xfrm>
            <a:off x="1252728" y="3520440"/>
            <a:ext cx="1920240" cy="393192"/>
          </a:xfrm>
          <a:prstGeom prst="rect">
            <a:avLst/>
          </a:prstGeom>
          <a:solidFill>
            <a:srgbClr val="E8ECF0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"/>
          <p:cNvSpPr/>
          <p:nvPr/>
        </p:nvSpPr>
        <p:spPr>
          <a:xfrm>
            <a:off x="1298448" y="3520440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"/>
          <p:cNvSpPr/>
          <p:nvPr/>
        </p:nvSpPr>
        <p:spPr>
          <a:xfrm>
            <a:off x="3191256" y="3520440"/>
            <a:ext cx="1920240" cy="393192"/>
          </a:xfrm>
          <a:prstGeom prst="rect">
            <a:avLst/>
          </a:prstGeom>
          <a:solidFill>
            <a:srgbClr val="E8ECF0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"/>
          <p:cNvSpPr/>
          <p:nvPr/>
        </p:nvSpPr>
        <p:spPr>
          <a:xfrm>
            <a:off x="3236976" y="3520440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"/>
          <p:cNvSpPr/>
          <p:nvPr/>
        </p:nvSpPr>
        <p:spPr>
          <a:xfrm>
            <a:off x="5129784" y="3520440"/>
            <a:ext cx="1920240" cy="393192"/>
          </a:xfrm>
          <a:prstGeom prst="rect">
            <a:avLst/>
          </a:prstGeom>
          <a:solidFill>
            <a:srgbClr val="E8ECF0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"/>
          <p:cNvSpPr/>
          <p:nvPr/>
        </p:nvSpPr>
        <p:spPr>
          <a:xfrm>
            <a:off x="5175504" y="3520440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"/>
          <p:cNvSpPr/>
          <p:nvPr/>
        </p:nvSpPr>
        <p:spPr>
          <a:xfrm>
            <a:off x="7068312" y="3520440"/>
            <a:ext cx="1645920" cy="393192"/>
          </a:xfrm>
          <a:prstGeom prst="rect">
            <a:avLst/>
          </a:prstGeom>
          <a:solidFill>
            <a:srgbClr val="E8ECF0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"/>
          <p:cNvSpPr/>
          <p:nvPr/>
        </p:nvSpPr>
        <p:spPr>
          <a:xfrm>
            <a:off x="7114032" y="3520440"/>
            <a:ext cx="15544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"/>
          <p:cNvSpPr/>
          <p:nvPr/>
        </p:nvSpPr>
        <p:spPr>
          <a:xfrm>
            <a:off x="137160" y="3950208"/>
            <a:ext cx="109728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"/>
          <p:cNvSpPr/>
          <p:nvPr/>
        </p:nvSpPr>
        <p:spPr>
          <a:xfrm>
            <a:off x="182880" y="3950208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pt-BR" sz="7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Manaus-AM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"/>
          <p:cNvSpPr/>
          <p:nvPr/>
        </p:nvSpPr>
        <p:spPr>
          <a:xfrm>
            <a:off x="1252728" y="3950208"/>
            <a:ext cx="192024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"/>
          <p:cNvSpPr/>
          <p:nvPr/>
        </p:nvSpPr>
        <p:spPr>
          <a:xfrm>
            <a:off x="1298448" y="3950208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"/>
          <p:cNvSpPr/>
          <p:nvPr/>
        </p:nvSpPr>
        <p:spPr>
          <a:xfrm>
            <a:off x="3191256" y="3950208"/>
            <a:ext cx="192024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"/>
          <p:cNvSpPr/>
          <p:nvPr/>
        </p:nvSpPr>
        <p:spPr>
          <a:xfrm>
            <a:off x="3236976" y="3950208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"/>
          <p:cNvSpPr/>
          <p:nvPr/>
        </p:nvSpPr>
        <p:spPr>
          <a:xfrm>
            <a:off x="5129784" y="3950208"/>
            <a:ext cx="192024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"/>
          <p:cNvSpPr/>
          <p:nvPr/>
        </p:nvSpPr>
        <p:spPr>
          <a:xfrm>
            <a:off x="5175504" y="3950208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"/>
          <p:cNvSpPr/>
          <p:nvPr/>
        </p:nvSpPr>
        <p:spPr>
          <a:xfrm>
            <a:off x="7068312" y="3950208"/>
            <a:ext cx="164592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"/>
          <p:cNvSpPr/>
          <p:nvPr/>
        </p:nvSpPr>
        <p:spPr>
          <a:xfrm>
            <a:off x="7114032" y="3950208"/>
            <a:ext cx="15544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"/>
          <p:cNvSpPr/>
          <p:nvPr/>
        </p:nvSpPr>
        <p:spPr>
          <a:xfrm>
            <a:off x="137160" y="4379976"/>
            <a:ext cx="1097280" cy="393192"/>
          </a:xfrm>
          <a:prstGeom prst="rect">
            <a:avLst/>
          </a:prstGeom>
          <a:solidFill>
            <a:srgbClr val="E8ECF0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"/>
          <p:cNvSpPr/>
          <p:nvPr/>
        </p:nvSpPr>
        <p:spPr>
          <a:xfrm>
            <a:off x="182880" y="4379976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pt-BR" sz="7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Pirassununga-SP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"/>
          <p:cNvSpPr/>
          <p:nvPr/>
        </p:nvSpPr>
        <p:spPr>
          <a:xfrm>
            <a:off x="1252728" y="4379976"/>
            <a:ext cx="1920240" cy="393192"/>
          </a:xfrm>
          <a:prstGeom prst="rect">
            <a:avLst/>
          </a:prstGeom>
          <a:solidFill>
            <a:srgbClr val="E8ECF0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"/>
          <p:cNvSpPr/>
          <p:nvPr/>
        </p:nvSpPr>
        <p:spPr>
          <a:xfrm>
            <a:off x="1298448" y="4379976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"/>
          <p:cNvSpPr/>
          <p:nvPr/>
        </p:nvSpPr>
        <p:spPr>
          <a:xfrm>
            <a:off x="3191256" y="4379976"/>
            <a:ext cx="1920240" cy="393192"/>
          </a:xfrm>
          <a:prstGeom prst="rect">
            <a:avLst/>
          </a:prstGeom>
          <a:solidFill>
            <a:srgbClr val="E8ECF0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"/>
          <p:cNvSpPr/>
          <p:nvPr/>
        </p:nvSpPr>
        <p:spPr>
          <a:xfrm>
            <a:off x="3236976" y="4379976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"/>
          <p:cNvSpPr/>
          <p:nvPr/>
        </p:nvSpPr>
        <p:spPr>
          <a:xfrm>
            <a:off x="5129784" y="4379976"/>
            <a:ext cx="1920240" cy="393192"/>
          </a:xfrm>
          <a:prstGeom prst="rect">
            <a:avLst/>
          </a:prstGeom>
          <a:solidFill>
            <a:srgbClr val="E8ECF0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"/>
          <p:cNvSpPr/>
          <p:nvPr/>
        </p:nvSpPr>
        <p:spPr>
          <a:xfrm>
            <a:off x="5175504" y="4379976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"/>
          <p:cNvSpPr/>
          <p:nvPr/>
        </p:nvSpPr>
        <p:spPr>
          <a:xfrm>
            <a:off x="7068312" y="4379976"/>
            <a:ext cx="1645920" cy="393192"/>
          </a:xfrm>
          <a:prstGeom prst="rect">
            <a:avLst/>
          </a:prstGeom>
          <a:solidFill>
            <a:srgbClr val="E8ECF0"/>
          </a:solidFill>
          <a:ln cap="flat" cmpd="sng" w="9525">
            <a:solidFill>
              <a:srgbClr val="E8E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"/>
          <p:cNvSpPr/>
          <p:nvPr/>
        </p:nvSpPr>
        <p:spPr>
          <a:xfrm>
            <a:off x="7114032" y="4379976"/>
            <a:ext cx="15544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pt-BR" sz="700" u="none" cap="none" strike="noStrik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Nome / Posto / Contato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93de209419_0_10"/>
          <p:cNvSpPr/>
          <p:nvPr/>
        </p:nvSpPr>
        <p:spPr>
          <a:xfrm>
            <a:off x="457200" y="274320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pt-BR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EQUIPE SMIF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93de209419_0_10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DADOS 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93de209419_0_10"/>
          <p:cNvSpPr/>
          <p:nvPr/>
        </p:nvSpPr>
        <p:spPr>
          <a:xfrm>
            <a:off x="457200" y="461772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640080" y="1371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EQUIPE CIPAVD | ESTRUTURA &amp; CONTATOS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3200400" y="777240"/>
            <a:ext cx="2743200" cy="45720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3200400" y="84124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COORDENAÇÃO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4553712" y="1234440"/>
            <a:ext cx="36576" cy="27432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1810512" y="1499617"/>
            <a:ext cx="5111496" cy="45719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1810512" y="1508760"/>
            <a:ext cx="36576" cy="18288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1188720" y="1691640"/>
            <a:ext cx="1463040" cy="320040"/>
          </a:xfrm>
          <a:prstGeom prst="rect">
            <a:avLst/>
          </a:prstGeom>
          <a:solidFill>
            <a:srgbClr val="3E92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1188720" y="1755648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PSICOLOGIA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3502152" y="1508760"/>
            <a:ext cx="36576" cy="18288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2880360" y="1691640"/>
            <a:ext cx="1463040" cy="320040"/>
          </a:xfrm>
          <a:prstGeom prst="rect">
            <a:avLst/>
          </a:prstGeom>
          <a:solidFill>
            <a:srgbClr val="3E92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2880360" y="1755648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COMUNICAÇÃO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5193792" y="1508760"/>
            <a:ext cx="36576" cy="18288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4572000" y="1691640"/>
            <a:ext cx="1463040" cy="320040"/>
          </a:xfrm>
          <a:prstGeom prst="rect">
            <a:avLst/>
          </a:prstGeom>
          <a:solidFill>
            <a:srgbClr val="3E92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4572000" y="1755648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DOUTRINA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6885432" y="1508760"/>
            <a:ext cx="36576" cy="18288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6263640" y="1691640"/>
            <a:ext cx="1463040" cy="320040"/>
          </a:xfrm>
          <a:prstGeom prst="rect">
            <a:avLst/>
          </a:prstGeom>
          <a:solidFill>
            <a:srgbClr val="3E92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6263640" y="1755648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ADMINISTRAÇÃO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8" name="Google Shape;358;p17"/>
          <p:cNvGraphicFramePr/>
          <p:nvPr/>
        </p:nvGraphicFramePr>
        <p:xfrm>
          <a:off x="365745" y="22154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{9140184D-3330-4159-AFD2-B63B5308391A}</a:tableStyleId>
              </a:tblPr>
              <a:tblGrid>
                <a:gridCol w="1610900"/>
                <a:gridCol w="2237375"/>
                <a:gridCol w="1073925"/>
                <a:gridCol w="1252925"/>
                <a:gridCol w="2237375"/>
              </a:tblGrid>
              <a:tr h="2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rgbClr val="FFFFFF"/>
                          </a:solidFill>
                        </a:rPr>
                        <a:t>FUNÇÃO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rgbClr val="FFFFFF"/>
                          </a:solidFill>
                        </a:rPr>
                        <a:t>NOME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rgbClr val="FFFFFF"/>
                          </a:solidFill>
                        </a:rPr>
                        <a:t>ÁREA/OM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rgbClr val="FFFFFF"/>
                          </a:solidFill>
                        </a:rPr>
                        <a:t>TELEFONE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pt-BR" sz="900" u="none" cap="none" strike="noStrike">
                          <a:solidFill>
                            <a:srgbClr val="FFFFFF"/>
                          </a:solidFill>
                        </a:rPr>
                        <a:t>E-MAIL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2D42"/>
                    </a:solidFill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Presidente/Coordenadora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Cap QOAP SJU Tamires M. B. Andrade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Jurídico/ESG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(___) ____-____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______@fab.mil.br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Subcoordenadora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Cap QOAP SSO Ester A. O. Mostaro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Social/DIRAP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(___) ____-____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______@fab.mil.br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Psicologia Brasília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1T QOAP PSC Nívea M. M. Silva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HFAB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(___) ____-____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______@fab.mil.br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Psicologia Rio de Janeiro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1T QOCON PSO Jennifer S. Camargo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IPA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(___) ____-____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______@fab.mil.br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Comunicação Social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1T QOCON PUP Nathalia A. M. Pandini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DIRENS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(___) ____-____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______@fab.mil.br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Inteligência de Dados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1T QOCON EST Monique K. T. G. Barbosa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CTRB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(___) ____-____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______@fab.mil.br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Doutrina/Palestras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SO QSS BET Clayton C. Alves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EEAR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(___) ____-____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______@fab.mil.br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Secretária Administrativa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1S QSS SAD Raquel M. S. Avelar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DIRENS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(___) ____-____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______@fab.mil.br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Secretária Administrativa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2S QSS SIN Flavia K. dos Santos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COMGEP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(___) ____-____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D42"/>
                        </a:buClr>
                        <a:buSzPts val="800"/>
                        <a:buFont typeface="Calibri"/>
                        <a:buNone/>
                      </a:pPr>
                      <a:r>
                        <a:rPr lang="pt-BR" sz="800" u="none" cap="none" strike="noStrike">
                          <a:solidFill>
                            <a:srgbClr val="2B2D42"/>
                          </a:solidFill>
                        </a:rPr>
                        <a:t>______@fab.mil.br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9" name="Google Shape;359;p17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365760" y="470916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cipavd.comgep@fab.mil.br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2026-02-10T11:47:06Z</dcterms:created>
  <dc:creator>CIPAVD</dc:creator>
</cp:coreProperties>
</file>