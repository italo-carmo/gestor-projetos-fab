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10287000" cx="18288000"/>
  <p:notesSz cx="6858000" cy="9144000"/>
  <p:embeddedFontLst>
    <p:embeddedFont>
      <p:font typeface="Josefin Slab"/>
      <p:bold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816">
          <p15:clr>
            <a:srgbClr val="A4A3A4"/>
          </p15:clr>
        </p15:guide>
        <p15:guide id="2" pos="5808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9AtAchbKfV/aKJnouTUwW4UV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08A12-54A9-4D8C-8F4B-3CBD5F515CF1}">
  <a:tblStyle styleId="{A6D08A12-54A9-4D8C-8F4B-3CBD5F515CF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16" orient="horz"/>
        <p:guide pos="58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customschemas.google.com/relationships/presentationmetadata" Target="metadata"/><Relationship Id="rId9" Type="http://schemas.openxmlformats.org/officeDocument/2006/relationships/font" Target="fonts/JosefinSlab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JosefinSlab-bold.fntdata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image" Target="../media/image1.png"/><Relationship Id="rId4" Type="http://schemas.openxmlformats.org/officeDocument/2006/relationships/oleObject" Target="Pasta2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Pasta2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805555555555555"/>
          <c:y val="8.564814814814814E-2"/>
          <c:w val="0.46388888888888891"/>
          <c:h val="0.77314814814814814"/>
        </c:manualLayout>
      </c:layout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A3C5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F7E-44D3-B61B-3D13ECC7FE7B}"/>
              </c:ext>
            </c:extLst>
          </c:dPt>
          <c:dPt>
            <c:idx val="1"/>
            <c:bubble3D val="0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F7E-44D3-B61B-3D13ECC7FE7B}"/>
              </c:ext>
            </c:extLst>
          </c:dPt>
          <c:dPt>
            <c:idx val="2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2F7E-44D3-B61B-3D13ECC7FE7B}"/>
              </c:ext>
            </c:extLst>
          </c:dPt>
          <c:dPt>
            <c:idx val="3"/>
            <c:bubble3D val="0"/>
            <c:spPr>
              <a:solidFill>
                <a:srgbClr val="215BA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2F7E-44D3-B61B-3D13ECC7FE7B}"/>
              </c:ext>
            </c:extLst>
          </c:dPt>
          <c:dLbls>
            <c:dLbl>
              <c:idx val="0"/>
              <c:layout>
                <c:manualLayout>
                  <c:x val="7.4999999999999997E-2"/>
                  <c:y val="-9.7222222222222265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rgbClr val="F24141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49999537-610C-42EB-B1E4-40F235CA1881}" type="CATEGORYNAME">
                      <a:rPr lang="en-US">
                        <a:solidFill>
                          <a:srgbClr val="F24141"/>
                        </a:solidFill>
                      </a:rPr>
                      <a:pPr>
                        <a:defRPr sz="1100">
                          <a:solidFill>
                            <a:srgbClr val="F24141"/>
                          </a:solidFill>
                        </a:defRPr>
                      </a:pPr>
                      <a:t>[NOME DA CATEGORIA]</a:t>
                    </a:fld>
                    <a:r>
                      <a:rPr lang="en-US" baseline="0" dirty="0">
                        <a:solidFill>
                          <a:srgbClr val="F24141"/>
                        </a:solidFill>
                      </a:rPr>
                      <a:t> </a:t>
                    </a:r>
                  </a:p>
                  <a:p>
                    <a:pPr>
                      <a:defRPr sz="1100">
                        <a:solidFill>
                          <a:srgbClr val="F24141"/>
                        </a:solidFill>
                      </a:defRPr>
                    </a:pPr>
                    <a:fld id="{BFD90123-73C8-40B3-8DB9-F2F0C33C8B96}" type="VALUE">
                      <a:rPr lang="en-US" baseline="0" smtClean="0">
                        <a:solidFill>
                          <a:srgbClr val="F24141"/>
                        </a:solidFill>
                      </a:rPr>
                      <a:pPr>
                        <a:defRPr sz="1100">
                          <a:solidFill>
                            <a:srgbClr val="F24141"/>
                          </a:solidFill>
                        </a:defRPr>
                      </a:pPr>
                      <a:t>[VALOR]</a:t>
                    </a:fld>
                    <a:r>
                      <a:rPr lang="en-US" baseline="0" dirty="0">
                        <a:solidFill>
                          <a:srgbClr val="F24141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rgbClr val="F24141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F7E-44D3-B61B-3D13ECC7FE7B}"/>
                </c:ext>
              </c:extLst>
            </c:dLbl>
            <c:dLbl>
              <c:idx val="1"/>
              <c:layout>
                <c:manualLayout>
                  <c:x val="8.3333333333333332E-3"/>
                  <c:y val="0.10648148148148148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rgbClr val="FF8B90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B455BCD4-639B-44E4-9851-96C86860CD06}" type="CATEGORYNAME">
                      <a:rPr lang="en-US">
                        <a:solidFill>
                          <a:srgbClr val="FF8B90"/>
                        </a:solidFill>
                      </a:rPr>
                      <a:pPr>
                        <a:defRPr sz="1100">
                          <a:solidFill>
                            <a:srgbClr val="FF8B90"/>
                          </a:solidFill>
                        </a:defRPr>
                      </a:pPr>
                      <a:t>[NOME DA CATEGORIA]</a:t>
                    </a:fld>
                    <a:r>
                      <a:rPr lang="en-US" baseline="0" dirty="0">
                        <a:solidFill>
                          <a:srgbClr val="FF8B90"/>
                        </a:solidFill>
                      </a:rPr>
                      <a:t> </a:t>
                    </a:r>
                    <a:fld id="{85ED458F-5EAA-4FF3-93D4-C87575E8FFC8}" type="VALUE">
                      <a:rPr lang="en-US" baseline="0" smtClean="0">
                        <a:solidFill>
                          <a:srgbClr val="FF8B90"/>
                        </a:solidFill>
                      </a:rPr>
                      <a:pPr>
                        <a:defRPr sz="1100">
                          <a:solidFill>
                            <a:srgbClr val="FF8B90"/>
                          </a:solidFill>
                        </a:defRPr>
                      </a:pPr>
                      <a:t>[VALOR]</a:t>
                    </a:fld>
                    <a:r>
                      <a:rPr lang="en-US" baseline="0" dirty="0">
                        <a:solidFill>
                          <a:srgbClr val="FF8B90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rgbClr val="FF8B90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layout>
                    <c:manualLayout>
                      <c:w val="0.23855555555555555"/>
                      <c:h val="0.1666666666666666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F7E-44D3-B61B-3D13ECC7FE7B}"/>
                </c:ext>
              </c:extLst>
            </c:dLbl>
            <c:dLbl>
              <c:idx val="2"/>
              <c:layout>
                <c:manualLayout>
                  <c:x val="-0.11388888888888889"/>
                  <c:y val="0.15740740740740741"/>
                </c:manualLayout>
              </c:layout>
              <c:tx>
                <c:rich>
                  <a:bodyPr/>
                  <a:lstStyle/>
                  <a:p>
                    <a:fld id="{DFB4A88B-D132-447E-8284-A7E992387012}" type="CATEGORYNAME">
                      <a:rPr lang="en-US"/>
                      <a:pPr/>
                      <a:t>[NOME DA CATEGORIA]</a:t>
                    </a:fld>
                    <a:r>
                      <a:rPr lang="en-US" baseline="0" dirty="0"/>
                      <a:t> </a:t>
                    </a:r>
                    <a:fld id="{F75FA2BE-4413-4F1C-9743-38F4C6FA45C9}" type="VALUE">
                      <a:rPr lang="en-US" baseline="0" smtClean="0"/>
                      <a:pPr/>
                      <a:t>[VALOR]</a:t>
                    </a:fld>
                    <a:r>
                      <a:rPr lang="en-US" baseline="0" dirty="0"/>
                      <a:t>%</a:t>
                    </a:r>
                  </a:p>
                </c:rich>
              </c:tx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2F7E-44D3-B61B-3D13ECC7FE7B}"/>
                </c:ext>
              </c:extLst>
            </c:dLbl>
            <c:dLbl>
              <c:idx val="3"/>
              <c:layout>
                <c:manualLayout>
                  <c:x val="-0.10555555555555558"/>
                  <c:y val="-9.7222222222222224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100" b="0" i="0" u="none" strike="noStrike" kern="1200" baseline="0">
                        <a:solidFill>
                          <a:srgbClr val="215BA6"/>
                        </a:solidFill>
                        <a:latin typeface="Josefin Slab Bold" panose="020B0604020202020204" charset="0"/>
                        <a:ea typeface="+mn-ea"/>
                        <a:cs typeface="+mn-cs"/>
                      </a:defRPr>
                    </a:pPr>
                    <a:fld id="{4CB0D1E3-80D8-433D-9E4E-CDE8B5D81DA3}" type="CATEGORYNAME">
                      <a:rPr lang="en-US">
                        <a:solidFill>
                          <a:srgbClr val="215BA6"/>
                        </a:solidFill>
                      </a:rPr>
                      <a:pPr>
                        <a:defRPr sz="1100">
                          <a:solidFill>
                            <a:srgbClr val="215BA6"/>
                          </a:solidFill>
                        </a:defRPr>
                      </a:pPr>
                      <a:t>[NOME DA CATEGORIA]</a:t>
                    </a:fld>
                    <a:r>
                      <a:rPr lang="en-US" baseline="0" dirty="0">
                        <a:solidFill>
                          <a:srgbClr val="215BA6"/>
                        </a:solidFill>
                      </a:rPr>
                      <a:t> </a:t>
                    </a:r>
                    <a:fld id="{16724C3C-2892-41B0-B7CA-9962D48D543D}" type="VALUE">
                      <a:rPr lang="en-US" baseline="0" smtClean="0">
                        <a:solidFill>
                          <a:srgbClr val="215BA6"/>
                        </a:solidFill>
                      </a:rPr>
                      <a:pPr>
                        <a:defRPr sz="1100">
                          <a:solidFill>
                            <a:srgbClr val="215BA6"/>
                          </a:solidFill>
                        </a:defRPr>
                      </a:pPr>
                      <a:t>[VALOR]</a:t>
                    </a:fld>
                    <a:r>
                      <a:rPr lang="en-US" baseline="0" dirty="0">
                        <a:solidFill>
                          <a:srgbClr val="215BA6"/>
                        </a:solidFill>
                      </a:rPr>
                      <a:t>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00" b="0" i="0" u="none" strike="noStrike" kern="1200" baseline="0">
                      <a:solidFill>
                        <a:srgbClr val="215BA6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showLegendKey val="0"/>
              <c:showVal val="1"/>
              <c:showCatName val="1"/>
              <c:showSerName val="0"/>
              <c:showPercent val="0"/>
              <c:showBubbleSize val="0"/>
              <c:separator> </c:separator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2F7E-44D3-B61B-3D13ECC7FE7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rgbClr val="736E6C"/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 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[cpca.xlsx]Planilha4!$B$13:$B$16</c:f>
              <c:strCache>
                <c:ptCount val="4"/>
                <c:pt idx="0">
                  <c:v>Não</c:v>
                </c:pt>
                <c:pt idx="1">
                  <c:v>Não consigo afirmar</c:v>
                </c:pt>
                <c:pt idx="2">
                  <c:v>Sim, parcialmente</c:v>
                </c:pt>
                <c:pt idx="3">
                  <c:v>Sim, plenamente</c:v>
                </c:pt>
              </c:strCache>
            </c:strRef>
          </c:cat>
          <c:val>
            <c:numRef>
              <c:f>[cpca.xlsx]Planilha4!$D$13:$D$16</c:f>
              <c:numCache>
                <c:formatCode>0.00</c:formatCode>
                <c:ptCount val="4"/>
                <c:pt idx="0">
                  <c:v>43.333333333333336</c:v>
                </c:pt>
                <c:pt idx="1">
                  <c:v>16.666666666666668</c:v>
                </c:pt>
                <c:pt idx="2">
                  <c:v>26.666666666666668</c:v>
                </c:pt>
                <c:pt idx="3">
                  <c:v>13.333333333333334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F7E-44D3-B61B-3D13ECC7FE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Josefin Slab Bold" panose="020B0604020202020204" charset="0"/>
        </a:defRPr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215BA6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[cpca.xlsx]Planilha4!$B$13:$B$16</c:f>
              <c:strCache>
                <c:ptCount val="4"/>
                <c:pt idx="0">
                  <c:v>Não</c:v>
                </c:pt>
                <c:pt idx="1">
                  <c:v>Não consigo afirmar</c:v>
                </c:pt>
                <c:pt idx="2">
                  <c:v>Sim, parcialmente</c:v>
                </c:pt>
                <c:pt idx="3">
                  <c:v>Sim, plenamente</c:v>
                </c:pt>
              </c:strCache>
            </c:strRef>
          </c:cat>
          <c:val>
            <c:numRef>
              <c:f>[cpca.xlsx]Planilha4!$D$13:$D$16</c:f>
              <c:numCache>
                <c:formatCode>0.00</c:formatCode>
                <c:ptCount val="4"/>
                <c:pt idx="0">
                  <c:v>43.333333333333336</c:v>
                </c:pt>
                <c:pt idx="1">
                  <c:v>16.666666666666668</c:v>
                </c:pt>
                <c:pt idx="2">
                  <c:v>26.666666666666668</c:v>
                </c:pt>
                <c:pt idx="3">
                  <c:v>13.333333333333334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AC-46EB-A02A-21ED692503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47725935"/>
        <c:axId val="1447712495"/>
      </c:barChart>
      <c:catAx>
        <c:axId val="14477259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Avaliação dos Recursos Logísticos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447712495"/>
        <c:crosses val="autoZero"/>
        <c:auto val="1"/>
        <c:lblAlgn val="ctr"/>
        <c:lblOffset val="100"/>
        <c:noMultiLvlLbl val="0"/>
      </c:catAx>
      <c:valAx>
        <c:axId val="144771249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Percentual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447725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Josefin Slab Bold" panose="020B060402020202020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Google Shape;88;p1"/>
          <p:cNvGraphicFramePr/>
          <p:nvPr/>
        </p:nvGraphicFramePr>
        <p:xfrm>
          <a:off x="6149340" y="628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{A6D08A12-54A9-4D8C-8F4B-3CBD5F515CF1}</a:tableStyleId>
              </a:tblPr>
              <a:tblGrid>
                <a:gridCol w="2415550"/>
                <a:gridCol w="4061450"/>
              </a:tblGrid>
              <a:tr h="439875"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Dimensão 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B4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Situação Identificada 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EB4E3"/>
                    </a:solidFill>
                  </a:tcPr>
                </a:tc>
              </a:tr>
              <a:tr h="575825"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Confiança do Efetivo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53,3% avaliam que o efetivo confia apenas parcialmente no trabalho da comissão; apenas 13,3% identificam confiança plena.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75825"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Compreensão Jurídica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66,7% concordam (parcial ou totalmente) que compreendem os aspectos jurídicos da ICA 30-13/2024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575825"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Habilidades de Acolhimento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80% sentem-se preparados para escuta ativa e empática; 66,7% demonstram confiança para manejo de crises emocionais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75825"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Confiança Procedimental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7780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Josefin Slab"/>
                        <a:buNone/>
                      </a:pPr>
                      <a:r>
                        <a:rPr b="1" i="0" lang="pt-BR" sz="1100" u="none" cap="none" strike="noStrike">
                          <a:solidFill>
                            <a:schemeClr val="dk1"/>
                          </a:solidFill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60% manifestam confiança (parcial ou total) para aplicar os procedimentos administrativos da ICA 30-13 </a:t>
                      </a:r>
                      <a:endParaRPr/>
                    </a:p>
                  </a:txBody>
                  <a:tcPr marT="7625" marB="0" marR="7625" marL="7625" anchor="ctr">
                    <a:lnL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2F2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</a:tbl>
          </a:graphicData>
        </a:graphic>
      </p:graphicFrame>
      <p:grpSp>
        <p:nvGrpSpPr>
          <p:cNvPr id="89" name="Google Shape;89;p1"/>
          <p:cNvGrpSpPr/>
          <p:nvPr/>
        </p:nvGrpSpPr>
        <p:grpSpPr>
          <a:xfrm>
            <a:off x="4724400" y="1638300"/>
            <a:ext cx="9372600" cy="8039100"/>
            <a:chOff x="8427720" y="-1554"/>
            <a:chExt cx="9372600" cy="8039100"/>
          </a:xfrm>
        </p:grpSpPr>
        <p:sp>
          <p:nvSpPr>
            <p:cNvPr id="90" name="Google Shape;90;p1"/>
            <p:cNvSpPr/>
            <p:nvPr/>
          </p:nvSpPr>
          <p:spPr>
            <a:xfrm>
              <a:off x="8427720" y="4017996"/>
              <a:ext cx="2849880" cy="4019550"/>
            </a:xfrm>
            <a:prstGeom prst="corner">
              <a:avLst>
                <a:gd fmla="val 12712" name="adj1"/>
                <a:gd fmla="val 13390" name="adj2"/>
              </a:avLst>
            </a:prstGeom>
            <a:gradFill>
              <a:gsLst>
                <a:gs pos="0">
                  <a:srgbClr val="215BA6"/>
                </a:gs>
                <a:gs pos="50000">
                  <a:srgbClr val="BFCFEC"/>
                </a:gs>
                <a:gs pos="100000">
                  <a:srgbClr val="E0E8F4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 rot="10800000">
              <a:off x="14950440" y="-1554"/>
              <a:ext cx="2849880" cy="4019550"/>
            </a:xfrm>
            <a:prstGeom prst="corner">
              <a:avLst>
                <a:gd fmla="val 12712" name="adj1"/>
                <a:gd fmla="val 13390" name="adj2"/>
              </a:avLst>
            </a:prstGeom>
            <a:gradFill>
              <a:gsLst>
                <a:gs pos="0">
                  <a:srgbClr val="215BA6"/>
                </a:gs>
                <a:gs pos="50000">
                  <a:srgbClr val="BFCFEC"/>
                </a:gs>
                <a:gs pos="100000">
                  <a:srgbClr val="E0E8F4"/>
                </a:gs>
              </a:gsLst>
              <a:path path="circle">
                <a:fillToRect b="0%" l="100%" r="0%" t="100%"/>
              </a:path>
              <a:tileRect b="-100%" l="0%" r="-100%" t="0%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2" name="Google Shape;92;p1"/>
            <p:cNvGrpSpPr/>
            <p:nvPr/>
          </p:nvGrpSpPr>
          <p:grpSpPr>
            <a:xfrm>
              <a:off x="8595360" y="827795"/>
              <a:ext cx="8874760" cy="3485137"/>
              <a:chOff x="8595360" y="827795"/>
              <a:chExt cx="8874760" cy="3485137"/>
            </a:xfrm>
          </p:grpSpPr>
          <p:graphicFrame>
            <p:nvGraphicFramePr>
              <p:cNvPr id="93" name="Google Shape;93;p1"/>
              <p:cNvGraphicFramePr/>
              <p:nvPr/>
            </p:nvGraphicFramePr>
            <p:xfrm>
              <a:off x="8595360" y="1569732"/>
              <a:ext cx="4572000" cy="2743200"/>
            </p:xfrm>
            <a:graphic>
              <a:graphicData uri="http://schemas.openxmlformats.org/drawingml/2006/chart">
                <c:chart r:id="rId3"/>
              </a:graphicData>
            </a:graphic>
          </p:graphicFrame>
          <p:graphicFrame>
            <p:nvGraphicFramePr>
              <p:cNvPr id="94" name="Google Shape;94;p1"/>
              <p:cNvGraphicFramePr/>
              <p:nvPr/>
            </p:nvGraphicFramePr>
            <p:xfrm>
              <a:off x="12710160" y="1533186"/>
              <a:ext cx="4404360" cy="2743200"/>
            </p:xfrm>
            <a:graphic>
              <a:graphicData uri="http://schemas.openxmlformats.org/drawingml/2006/chart">
                <c:chart r:id="rId4"/>
              </a:graphicData>
            </a:graphic>
          </p:graphicFrame>
          <p:sp>
            <p:nvSpPr>
              <p:cNvPr id="95" name="Google Shape;95;p1"/>
              <p:cNvSpPr txBox="1"/>
              <p:nvPr/>
            </p:nvSpPr>
            <p:spPr>
              <a:xfrm>
                <a:off x="9206231" y="827795"/>
                <a:ext cx="353059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pt-BR" sz="1200" u="none" cap="none" strike="noStrike">
                    <a:solidFill>
                      <a:schemeClr val="dk1"/>
                    </a:solidFill>
                    <a:latin typeface="Josefin Slab"/>
                    <a:ea typeface="Josefin Slab"/>
                    <a:cs typeface="Josefin Slab"/>
                    <a:sym typeface="Josefin Slab"/>
                  </a:rPr>
                  <a:t>RECURSOS LOGÍSTICOS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pt-BR" sz="12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CPCA dispõe de recursos logísticos adequados (sala reservada, material de escritório, tempo dedicado)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00">
                  <a:solidFill>
                    <a:schemeClr val="dk1"/>
                  </a:solidFill>
                  <a:latin typeface="Josefin Slab"/>
                  <a:ea typeface="Josefin Slab"/>
                  <a:cs typeface="Josefin Slab"/>
                  <a:sym typeface="Josefin Slab"/>
                </a:endParaRPr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13065760" y="882036"/>
                <a:ext cx="4404360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200">
                    <a:solidFill>
                      <a:schemeClr val="dk1"/>
                    </a:solidFill>
                    <a:latin typeface="Josefin Slab"/>
                    <a:ea typeface="Josefin Slab"/>
                    <a:cs typeface="Josefin Slab"/>
                    <a:sym typeface="Josefin Slab"/>
                  </a:rPr>
                  <a:t>CONHECIMENTO DA REDE DE PROTEÇÃO</a:t>
                </a:r>
                <a:endParaRPr/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1" lang="pt-BR" sz="1200">
                    <a:solidFill>
                      <a:schemeClr val="dk1"/>
                    </a:solidFill>
                    <a:latin typeface="Josefin Slab"/>
                    <a:ea typeface="Josefin Slab"/>
                    <a:cs typeface="Josefin Slab"/>
                    <a:sym typeface="Josefin Slab"/>
                  </a:rPr>
                  <a:t>A CPCA possui conhecimento detalhado da rede de proteção local para encaminhamento de vítimas</a:t>
                </a:r>
                <a:endParaRPr/>
              </a:p>
            </p:txBody>
          </p:sp>
        </p:grpSp>
        <p:sp>
          <p:nvSpPr>
            <p:cNvPr id="97" name="Google Shape;97;p1"/>
            <p:cNvSpPr txBox="1"/>
            <p:nvPr/>
          </p:nvSpPr>
          <p:spPr>
            <a:xfrm>
              <a:off x="11842931" y="4219705"/>
              <a:ext cx="2008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chemeClr val="dk1"/>
                  </a:solidFill>
                  <a:latin typeface="Josefin Slab"/>
                  <a:ea typeface="Josefin Slab"/>
                  <a:cs typeface="Josefin Slab"/>
                  <a:sym typeface="Josefin Slab"/>
                </a:rPr>
                <a:t>DIMENSÕES DE ANÁLISE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Fabio</dc:creator>
</cp:coreProperties>
</file>